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sldIdLst>
    <p:sldId id="257" r:id="rId2"/>
    <p:sldId id="258" r:id="rId3"/>
    <p:sldId id="259" r:id="rId4"/>
    <p:sldId id="297" r:id="rId5"/>
    <p:sldId id="274" r:id="rId6"/>
    <p:sldId id="273" r:id="rId7"/>
    <p:sldId id="275" r:id="rId8"/>
    <p:sldId id="276" r:id="rId9"/>
    <p:sldId id="313" r:id="rId10"/>
    <p:sldId id="314" r:id="rId11"/>
    <p:sldId id="315" r:id="rId12"/>
    <p:sldId id="281" r:id="rId13"/>
    <p:sldId id="282" r:id="rId14"/>
    <p:sldId id="301" r:id="rId15"/>
    <p:sldId id="302" r:id="rId16"/>
    <p:sldId id="303" r:id="rId17"/>
    <p:sldId id="304" r:id="rId18"/>
    <p:sldId id="308" r:id="rId19"/>
    <p:sldId id="309" r:id="rId20"/>
    <p:sldId id="310" r:id="rId21"/>
    <p:sldId id="305" r:id="rId22"/>
    <p:sldId id="306" r:id="rId23"/>
    <p:sldId id="307" r:id="rId24"/>
    <p:sldId id="311" r:id="rId25"/>
    <p:sldId id="312" r:id="rId26"/>
    <p:sldId id="296" r:id="rId27"/>
    <p:sldId id="27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vesh raja" initials="sr" lastIdx="1" clrIdx="0">
    <p:extLst>
      <p:ext uri="{19B8F6BF-5375-455C-9EA6-DF929625EA0E}">
        <p15:presenceInfo xmlns:p15="http://schemas.microsoft.com/office/powerpoint/2012/main" userId="de9bdd9b8037b0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5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697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0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00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664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127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09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646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39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2531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714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4167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881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175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30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456D5-ED2D-472E-A987-524181B91B18}" type="datetimeFigureOut">
              <a:rPr lang="en-IN" smtClean="0"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75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53C97A-1B94-4C08-9B61-2059B9CB4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01" y="574929"/>
            <a:ext cx="7319865" cy="2588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294FED-FFC9-4375-9782-191DCE2D44A6}"/>
              </a:ext>
            </a:extLst>
          </p:cNvPr>
          <p:cNvSpPr txBox="1"/>
          <p:nvPr/>
        </p:nvSpPr>
        <p:spPr>
          <a:xfrm>
            <a:off x="515688" y="3610473"/>
            <a:ext cx="404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SUBJECT CODE:18MAB102T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698C5-6D1A-4D12-A57C-4321A2CDAFB8}"/>
              </a:ext>
            </a:extLst>
          </p:cNvPr>
          <p:cNvSpPr txBox="1"/>
          <p:nvPr/>
        </p:nvSpPr>
        <p:spPr>
          <a:xfrm>
            <a:off x="2285999" y="4519535"/>
            <a:ext cx="58236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ADVANCED CALCULUS</a:t>
            </a:r>
          </a:p>
          <a:p>
            <a:r>
              <a:rPr lang="en-US" sz="4000" dirty="0"/>
              <a:t>             AND</a:t>
            </a:r>
          </a:p>
          <a:p>
            <a:r>
              <a:rPr lang="en-US" sz="4000" dirty="0"/>
              <a:t> COMPLEX ANALYSIS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22634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E38C1E-63EC-4CB4-AE8E-4792B792F74C}"/>
              </a:ext>
            </a:extLst>
          </p:cNvPr>
          <p:cNvSpPr/>
          <p:nvPr/>
        </p:nvSpPr>
        <p:spPr>
          <a:xfrm>
            <a:off x="197863" y="390239"/>
            <a:ext cx="9608610" cy="504264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Applications of  complex analysis</a:t>
            </a:r>
            <a:endParaRPr lang="en-IN" sz="6000" b="1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49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2F0E64-E794-48C1-9887-C962211B0211}"/>
              </a:ext>
            </a:extLst>
          </p:cNvPr>
          <p:cNvSpPr txBox="1"/>
          <p:nvPr/>
        </p:nvSpPr>
        <p:spPr>
          <a:xfrm>
            <a:off x="3599598" y="362565"/>
            <a:ext cx="6107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TEAM MEMBERS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D6BAB5-1DD7-4C15-AEEE-9C13ADAE7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89" y="1159314"/>
            <a:ext cx="6718374" cy="41151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B24054-6EE4-4473-8E9F-CDAD44425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581" y="5412282"/>
            <a:ext cx="5340559" cy="165215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79924" y="2603392"/>
            <a:ext cx="5413774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 flipV="1">
            <a:off x="2487588" y="2713989"/>
            <a:ext cx="6034887" cy="5518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468575" y="2586201"/>
            <a:ext cx="2043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Bahnschrift SemiCondensed" panose="020B0502040204020203" pitchFamily="34" charset="0"/>
              </a:rPr>
              <a:t>SUBASH S</a:t>
            </a:r>
            <a:endParaRPr lang="en-IN" sz="3600" b="1" dirty="0">
              <a:latin typeface="Bahnschrift SemiCondensed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02218" y="1430554"/>
            <a:ext cx="2137063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latin typeface="Bahnschrift SemiBold SemiConden" panose="020B0502040204020203" pitchFamily="34" charset="0"/>
              </a:rPr>
              <a:t>(21BEC193)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99585" y="2022709"/>
            <a:ext cx="1735493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  <a:r>
              <a:rPr lang="en-US" sz="2800" dirty="0">
                <a:latin typeface="Bahnschrift SemiBold SemiConden" panose="020B0502040204020203" pitchFamily="34" charset="0"/>
              </a:rPr>
              <a:t>21BEC213</a:t>
            </a:r>
            <a:r>
              <a:rPr lang="en-US" sz="2800" dirty="0"/>
              <a:t>)</a:t>
            </a:r>
            <a:endParaRPr lang="en-IN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6102219" y="2603392"/>
            <a:ext cx="203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  <a:r>
              <a:rPr lang="en-US" sz="2800" dirty="0">
                <a:latin typeface="Bahnschrift SemiBold SemiConden" panose="020B0502040204020203" pitchFamily="34" charset="0"/>
              </a:rPr>
              <a:t>21BEC214)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30211" y="3265840"/>
            <a:ext cx="2212058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latin typeface="Bahnschrift SemiBold SemiConden" panose="020B0502040204020203" pitchFamily="34" charset="0"/>
              </a:rPr>
              <a:t>(21BEC221)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0212" y="3865002"/>
            <a:ext cx="2006082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Bahnschrift SemiBold" panose="020B0502040204020203" pitchFamily="34" charset="0"/>
              </a:rPr>
              <a:t>(21BEC238)</a:t>
            </a:r>
            <a:endParaRPr lang="en-IN" sz="2400" dirty="0">
              <a:latin typeface="Bahnschrift SemiBold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02218" y="4480459"/>
            <a:ext cx="2025093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Bahnschrift SemiBold" panose="020B0502040204020203" pitchFamily="34" charset="0"/>
              </a:rPr>
              <a:t>(21BEC248)</a:t>
            </a:r>
            <a:endParaRPr lang="en-IN" sz="24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94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12A436-61EA-4CCB-BB35-A6458C6BE0A2}"/>
              </a:ext>
            </a:extLst>
          </p:cNvPr>
          <p:cNvSpPr txBox="1"/>
          <p:nvPr/>
        </p:nvSpPr>
        <p:spPr>
          <a:xfrm>
            <a:off x="1380565" y="761999"/>
            <a:ext cx="689385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SYNOPSIS:</a:t>
            </a:r>
          </a:p>
          <a:p>
            <a:endParaRPr lang="en-US" dirty="0"/>
          </a:p>
          <a:p>
            <a:r>
              <a:rPr lang="en-US" sz="2000" dirty="0"/>
              <a:t>              1.Introduction</a:t>
            </a:r>
          </a:p>
          <a:p>
            <a:r>
              <a:rPr lang="en-US" sz="2000" dirty="0"/>
              <a:t>              2.What is complex number</a:t>
            </a:r>
          </a:p>
          <a:p>
            <a:r>
              <a:rPr lang="en-US" sz="2000" dirty="0"/>
              <a:t>              3.Operations on complex number</a:t>
            </a:r>
          </a:p>
          <a:p>
            <a:r>
              <a:rPr lang="en-US" sz="2000" dirty="0"/>
              <a:t>              4.Graphical representation of complex number</a:t>
            </a:r>
          </a:p>
          <a:p>
            <a:r>
              <a:rPr lang="en-US" sz="2000" dirty="0"/>
              <a:t>              5.Importation of complex number</a:t>
            </a:r>
          </a:p>
          <a:p>
            <a:r>
              <a:rPr lang="en-US" sz="2000" dirty="0"/>
              <a:t>              6.Applications of complex number</a:t>
            </a:r>
          </a:p>
          <a:p>
            <a:endParaRPr lang="en-US" sz="20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010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74" y="149290"/>
            <a:ext cx="8750559" cy="620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5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7" y="-195943"/>
            <a:ext cx="8957386" cy="674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7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" y="278751"/>
            <a:ext cx="8005666" cy="605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69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51" y="637221"/>
            <a:ext cx="9002486" cy="57954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34A2E2-1950-4563-9A4A-2D0D665F8C2E}"/>
              </a:ext>
            </a:extLst>
          </p:cNvPr>
          <p:cNvSpPr/>
          <p:nvPr/>
        </p:nvSpPr>
        <p:spPr>
          <a:xfrm>
            <a:off x="2143593" y="989351"/>
            <a:ext cx="5988571" cy="12441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EDEA5-CEA1-460E-BE90-76E33AAA3A4E}"/>
              </a:ext>
            </a:extLst>
          </p:cNvPr>
          <p:cNvSpPr txBox="1"/>
          <p:nvPr/>
        </p:nvSpPr>
        <p:spPr>
          <a:xfrm>
            <a:off x="2143593" y="1229193"/>
            <a:ext cx="5906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Operations of complex number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92356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8" y="567016"/>
            <a:ext cx="8966385" cy="514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86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89" y="256278"/>
            <a:ext cx="9120406" cy="57856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4563" y="4161453"/>
            <a:ext cx="6699380" cy="170750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55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414156"/>
            <a:ext cx="8744060" cy="57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35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88" y="446703"/>
            <a:ext cx="9310396" cy="551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64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D92C33-1F8E-4072-9867-43C6A00AA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71" y="300133"/>
            <a:ext cx="8965163" cy="587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03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2425" y="817296"/>
            <a:ext cx="66192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Complex analysis applied math? </a:t>
            </a:r>
          </a:p>
          <a:p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2063469" y="2435703"/>
            <a:ext cx="59719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1.Complex analysis is important in applied mathematics.</a:t>
            </a:r>
          </a:p>
          <a:p>
            <a:endParaRPr lang="en-US" dirty="0"/>
          </a:p>
          <a:p>
            <a:r>
              <a:rPr lang="en-US" dirty="0" smtClean="0"/>
              <a:t>2.Main reasons: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 Two dimensional potential problems.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smtClean="0"/>
              <a:t>By methods of analytic functions.</a:t>
            </a:r>
          </a:p>
          <a:p>
            <a:endParaRPr lang="en-US" dirty="0"/>
          </a:p>
          <a:p>
            <a:r>
              <a:rPr lang="en-US" dirty="0" smtClean="0"/>
              <a:t>3.This is the real and imaginary parts of analytic functions.</a:t>
            </a:r>
          </a:p>
          <a:p>
            <a:endParaRPr lang="en-US" dirty="0" smtClean="0"/>
          </a:p>
          <a:p>
            <a:r>
              <a:rPr lang="en-US" dirty="0" smtClean="0"/>
              <a:t>4.It satisfy </a:t>
            </a:r>
            <a:r>
              <a:rPr lang="en-US" dirty="0" err="1" smtClean="0"/>
              <a:t>laplace’s</a:t>
            </a:r>
            <a:r>
              <a:rPr lang="en-US" dirty="0" smtClean="0"/>
              <a:t> equation in two real variables.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3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1505" y="582627"/>
            <a:ext cx="59476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What are the applications of complex analysis?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2144389" y="2241493"/>
            <a:ext cx="56320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1.The applications of these methods to real world problems.</a:t>
            </a:r>
          </a:p>
          <a:p>
            <a:endParaRPr lang="en-US" dirty="0"/>
          </a:p>
          <a:p>
            <a:r>
              <a:rPr lang="en-US" dirty="0" smtClean="0"/>
              <a:t>2.It includes propagation of acoustic waves.</a:t>
            </a:r>
          </a:p>
          <a:p>
            <a:endParaRPr lang="en-US" dirty="0"/>
          </a:p>
          <a:p>
            <a:r>
              <a:rPr lang="en-US" dirty="0" smtClean="0"/>
              <a:t>3.It </a:t>
            </a:r>
            <a:r>
              <a:rPr lang="en-US" dirty="0" err="1" smtClean="0"/>
              <a:t>relevants</a:t>
            </a:r>
            <a:r>
              <a:rPr lang="en-US" dirty="0" smtClean="0"/>
              <a:t> for the design of jet  </a:t>
            </a:r>
            <a:r>
              <a:rPr lang="en-US" dirty="0" err="1" smtClean="0"/>
              <a:t>engines,development</a:t>
            </a:r>
            <a:r>
              <a:rPr lang="en-US" dirty="0" smtClean="0"/>
              <a:t> of boundary. </a:t>
            </a:r>
          </a:p>
          <a:p>
            <a:endParaRPr lang="en-US" dirty="0"/>
          </a:p>
          <a:p>
            <a:r>
              <a:rPr lang="en-US" dirty="0" smtClean="0"/>
              <a:t>4.Integral techniques useful for solution of many problems.</a:t>
            </a:r>
          </a:p>
          <a:p>
            <a:endParaRPr lang="en-US" dirty="0"/>
          </a:p>
          <a:p>
            <a:r>
              <a:rPr lang="en-US" dirty="0" smtClean="0"/>
              <a:t>5.Problems arising in solid an fluid mechanics as well as conformal geometry in </a:t>
            </a:r>
            <a:r>
              <a:rPr lang="en-US" dirty="0" err="1" smtClean="0"/>
              <a:t>imaging,shape</a:t>
            </a:r>
            <a:r>
              <a:rPr lang="en-US" dirty="0" smtClean="0"/>
              <a:t>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845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3547" y="550258"/>
            <a:ext cx="6708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Some applications of complex </a:t>
            </a:r>
            <a:r>
              <a:rPr lang="en-US" sz="3600" dirty="0" smtClean="0"/>
              <a:t>number 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2621819" y="2411427"/>
            <a:ext cx="54783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 smtClean="0"/>
              <a:t>Phasor</a:t>
            </a:r>
            <a:r>
              <a:rPr lang="en-US" dirty="0" smtClean="0"/>
              <a:t>-domain analysis in engineering.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Laplace and </a:t>
            </a:r>
            <a:r>
              <a:rPr lang="en-US" dirty="0" err="1" smtClean="0"/>
              <a:t>fourier</a:t>
            </a:r>
            <a:r>
              <a:rPr lang="en-US" dirty="0" smtClean="0"/>
              <a:t> transforms.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Evaluation of integrals.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Conformal mapping(solution of </a:t>
            </a:r>
            <a:r>
              <a:rPr lang="en-US" dirty="0" err="1" smtClean="0"/>
              <a:t>laplace’s</a:t>
            </a:r>
            <a:r>
              <a:rPr lang="en-US" dirty="0" smtClean="0"/>
              <a:t> equation)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Industrial applications of complex number.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Signal </a:t>
            </a:r>
            <a:r>
              <a:rPr lang="en-US" dirty="0" err="1" smtClean="0"/>
              <a:t>processiong</a:t>
            </a:r>
            <a:r>
              <a:rPr lang="en-US" dirty="0" smtClean="0"/>
              <a:t> of complex number.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260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75766" y="2226286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Phasor</a:t>
            </a:r>
            <a:r>
              <a:rPr lang="en-US" dirty="0"/>
              <a:t> is a complex number that represent magnitude and angle for a sine wave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Phasor</a:t>
            </a:r>
            <a:r>
              <a:rPr lang="en-US" dirty="0"/>
              <a:t> diagram is a vector line that represent magnitude and phase angle of a sine wave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magnitude of the </a:t>
            </a:r>
            <a:r>
              <a:rPr lang="en-US" dirty="0" err="1"/>
              <a:t>phasor</a:t>
            </a:r>
            <a:r>
              <a:rPr lang="en-US" dirty="0"/>
              <a:t> is equal to </a:t>
            </a:r>
            <a:r>
              <a:rPr lang="en-US" dirty="0" err="1"/>
              <a:t>rms</a:t>
            </a:r>
            <a:r>
              <a:rPr lang="en-US" dirty="0"/>
              <a:t> value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For example, if given a sine wave waveform</a:t>
            </a:r>
          </a:p>
          <a:p>
            <a:r>
              <a:rPr lang="en-US" dirty="0" smtClean="0"/>
              <a:t>              v(t</a:t>
            </a:r>
            <a:r>
              <a:rPr lang="en-US" dirty="0"/>
              <a:t>)=V, sin(ot+0) V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339866"/>
            <a:ext cx="5470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/>
              <a:t>Phasor</a:t>
            </a:r>
            <a:r>
              <a:rPr lang="en-US" sz="3600" dirty="0" smtClean="0"/>
              <a:t>-domain analysis in engineering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85830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6307" y="436970"/>
            <a:ext cx="562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Evaluation of Integration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2459979" y="1885444"/>
            <a:ext cx="54297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There are various methods for evaluating </a:t>
            </a:r>
            <a:r>
              <a:rPr lang="en-US" dirty="0" smtClean="0"/>
              <a:t>integrals.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/>
              <a:t>substitution</a:t>
            </a:r>
            <a:r>
              <a:rPr lang="en-US" b="1" dirty="0"/>
              <a:t>, integration by parts, partial fractions, using the residue theorem, or Cauchy's integral formula</a:t>
            </a:r>
            <a:r>
              <a:rPr lang="en-US" dirty="0"/>
              <a:t>, etc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A beautiful special technique is the </a:t>
            </a:r>
            <a:r>
              <a:rPr lang="en-US" dirty="0" smtClean="0"/>
              <a:t>differentiation.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With </a:t>
            </a:r>
            <a:r>
              <a:rPr lang="en-US" dirty="0"/>
              <a:t>respect to a parameter inside the integral.</a:t>
            </a:r>
          </a:p>
        </p:txBody>
      </p:sp>
    </p:spTree>
    <p:extLst>
      <p:ext uri="{BB962C8B-B14F-4D97-AF65-F5344CB8AC3E}">
        <p14:creationId xmlns:p14="http://schemas.microsoft.com/office/powerpoint/2010/main" val="3450875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10" y="181052"/>
            <a:ext cx="10058400" cy="640757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45579" y="979136"/>
            <a:ext cx="873940" cy="58262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418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3348717" y="234669"/>
            <a:ext cx="4573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Integration by parts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453154" y="1181437"/>
            <a:ext cx="6109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Using integration by parts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877351" y="2128205"/>
            <a:ext cx="5923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Integration by parts cannot be used for every product.</a:t>
            </a:r>
          </a:p>
          <a:p>
            <a:endParaRPr lang="en-US" dirty="0"/>
          </a:p>
          <a:p>
            <a:r>
              <a:rPr lang="en-US" dirty="0" smtClean="0"/>
              <a:t>It works if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21225" y="3350103"/>
            <a:ext cx="4612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We can integrate one factor of the product.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 integration on the </a:t>
            </a:r>
            <a:r>
              <a:rPr lang="en-US" dirty="0" err="1" smtClean="0"/>
              <a:t>r.h.s</a:t>
            </a:r>
            <a:r>
              <a:rPr lang="en-US" dirty="0" smtClean="0"/>
              <a:t> is easier.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877351" y="5259823"/>
            <a:ext cx="5551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There is an exception but you need to learn the general rule.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834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6308" y="509798"/>
            <a:ext cx="474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Conformal mapping 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2451887" y="2136297"/>
            <a:ext cx="59152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An analytic function is conformal at point where it has nonzero.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 smtClean="0"/>
              <a:t>Conversely,any</a:t>
            </a:r>
            <a:r>
              <a:rPr lang="en-US" dirty="0" smtClean="0"/>
              <a:t> conformal mapping of a complex variable.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It is very important in complex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As well as in many areas in engineering.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273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1" y="445062"/>
            <a:ext cx="7096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</a:t>
            </a:r>
            <a:r>
              <a:rPr lang="en-US" sz="3600" dirty="0" smtClean="0"/>
              <a:t>onformal mapping used for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2605635" y="2006825"/>
            <a:ext cx="52517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Conformal mapping can be used in </a:t>
            </a:r>
            <a:r>
              <a:rPr lang="en-US" b="1" dirty="0"/>
              <a:t>scattering and diffraction problems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For scattering and </a:t>
            </a:r>
            <a:r>
              <a:rPr lang="en-US" dirty="0" smtClean="0"/>
              <a:t>diffraction problem </a:t>
            </a:r>
            <a:r>
              <a:rPr lang="en-US" dirty="0"/>
              <a:t>of plane electromagnetic </a:t>
            </a:r>
            <a:r>
              <a:rPr lang="en-US" dirty="0" smtClean="0"/>
              <a:t>waves.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mathematical problem involves finding a solution to </a:t>
            </a:r>
            <a:r>
              <a:rPr lang="en-US" dirty="0" err="1"/>
              <a:t>scaler</a:t>
            </a:r>
            <a:r>
              <a:rPr lang="en-US" dirty="0"/>
              <a:t> wave </a:t>
            </a:r>
            <a:r>
              <a:rPr lang="en-US" dirty="0" smtClean="0"/>
              <a:t>function.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which satisfies both boundary condition and </a:t>
            </a:r>
            <a:r>
              <a:rPr lang="en-US" dirty="0" smtClean="0"/>
              <a:t>radiation </a:t>
            </a:r>
            <a:r>
              <a:rPr lang="en-US" dirty="0"/>
              <a:t>condition at infinity.</a:t>
            </a:r>
          </a:p>
        </p:txBody>
      </p:sp>
    </p:spTree>
    <p:extLst>
      <p:ext uri="{BB962C8B-B14F-4D97-AF65-F5344CB8AC3E}">
        <p14:creationId xmlns:p14="http://schemas.microsoft.com/office/powerpoint/2010/main" val="3047730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7823" y="339866"/>
            <a:ext cx="6384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</a:t>
            </a:r>
            <a:r>
              <a:rPr lang="en-US" sz="3600" dirty="0" smtClean="0"/>
              <a:t>ourier transform and </a:t>
            </a:r>
            <a:r>
              <a:rPr lang="en-US" sz="3600" dirty="0" err="1" smtClean="0"/>
              <a:t>laplace</a:t>
            </a:r>
            <a:r>
              <a:rPr lang="en-US" sz="3600" dirty="0" smtClean="0"/>
              <a:t> transform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2459979" y="2039194"/>
            <a:ext cx="50008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Laplace transform is applied for solving the differential </a:t>
            </a:r>
            <a:r>
              <a:rPr lang="en-US" dirty="0" smtClean="0"/>
              <a:t>equations.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</a:t>
            </a:r>
            <a:r>
              <a:rPr lang="en-US" dirty="0" smtClean="0"/>
              <a:t>hat </a:t>
            </a:r>
            <a:r>
              <a:rPr lang="en-US" dirty="0"/>
              <a:t>relate the input and output of a system.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Fourier transform is also applied for solving the differential </a:t>
            </a:r>
            <a:r>
              <a:rPr lang="en-US" dirty="0" smtClean="0"/>
              <a:t>equations.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</a:t>
            </a:r>
            <a:r>
              <a:rPr lang="en-US" dirty="0" smtClean="0"/>
              <a:t>hat </a:t>
            </a:r>
            <a:r>
              <a:rPr lang="en-US" dirty="0"/>
              <a:t>relate the input and output of a system.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Laplace transform can be used to </a:t>
            </a:r>
            <a:r>
              <a:rPr lang="en-US" dirty="0" err="1"/>
              <a:t>analyse</a:t>
            </a:r>
            <a:r>
              <a:rPr lang="en-US" dirty="0"/>
              <a:t> unstable systems.</a:t>
            </a:r>
          </a:p>
        </p:txBody>
      </p:sp>
    </p:spTree>
    <p:extLst>
      <p:ext uri="{BB962C8B-B14F-4D97-AF65-F5344CB8AC3E}">
        <p14:creationId xmlns:p14="http://schemas.microsoft.com/office/powerpoint/2010/main" val="1064513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9271" y="566443"/>
            <a:ext cx="729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Industrial applications of complex analysis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2176758" y="2654188"/>
            <a:ext cx="66192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There has been surge of activity advancement in recent years complex in industry.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The applications of complex number is used for real word problems.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339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4927" y="639271"/>
            <a:ext cx="5907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Signal processing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2346689" y="2686556"/>
            <a:ext cx="7040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Signal processing is also used in complex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Signal processing is use to </a:t>
            </a:r>
            <a:r>
              <a:rPr lang="en-US" dirty="0" err="1" smtClean="0"/>
              <a:t>accuratrly</a:t>
            </a:r>
            <a:r>
              <a:rPr lang="en-US" dirty="0" smtClean="0"/>
              <a:t> determine the scientific measurement and synthesizing signals.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529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404" y="844225"/>
            <a:ext cx="5631316" cy="546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50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1038225"/>
            <a:ext cx="8829675" cy="5010149"/>
          </a:xfrm>
        </p:spPr>
      </p:pic>
      <p:sp>
        <p:nvSpPr>
          <p:cNvPr id="5" name="Rectangle 4"/>
          <p:cNvSpPr/>
          <p:nvPr/>
        </p:nvSpPr>
        <p:spPr>
          <a:xfrm>
            <a:off x="3181350" y="5772150"/>
            <a:ext cx="2905125" cy="27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3106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2092</TotalTime>
  <Words>586</Words>
  <Application>Microsoft Office PowerPoint</Application>
  <PresentationFormat>Widescreen</PresentationFormat>
  <Paragraphs>115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Bahnschrift Condensed</vt:lpstr>
      <vt:lpstr>Bahnschrift SemiBold</vt:lpstr>
      <vt:lpstr>Bahnschrift SemiBold SemiConden</vt:lpstr>
      <vt:lpstr>Bahnschrift SemiCondensed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 SIBI</dc:creator>
  <cp:lastModifiedBy>sukesh</cp:lastModifiedBy>
  <cp:revision>60</cp:revision>
  <dcterms:created xsi:type="dcterms:W3CDTF">2022-01-24T04:30:38Z</dcterms:created>
  <dcterms:modified xsi:type="dcterms:W3CDTF">2022-04-29T23:56:48Z</dcterms:modified>
</cp:coreProperties>
</file>
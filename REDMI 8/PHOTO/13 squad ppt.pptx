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58" r:id="rId3"/>
    <p:sldId id="261" r:id="rId4"/>
    <p:sldId id="262" r:id="rId5"/>
    <p:sldId id="271" r:id="rId6"/>
    <p:sldId id="287" r:id="rId7"/>
    <p:sldId id="289" r:id="rId8"/>
    <p:sldId id="294" r:id="rId9"/>
    <p:sldId id="295" r:id="rId10"/>
    <p:sldId id="296" r:id="rId11"/>
    <p:sldId id="277" r:id="rId12"/>
    <p:sldId id="278" r:id="rId13"/>
    <p:sldId id="291" r:id="rId14"/>
    <p:sldId id="292" r:id="rId15"/>
    <p:sldId id="293" r:id="rId16"/>
    <p:sldId id="283" r:id="rId17"/>
    <p:sldId id="290" r:id="rId18"/>
    <p:sldId id="297" r:id="rId19"/>
    <p:sldId id="29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1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8D7C9-6F3B-49B5-970B-A0F2190D7FE4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9D30-FA4A-4888-A5EB-19217E193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143000"/>
            <a:ext cx="8991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1918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18MES102J – BASIC CIVIL AND MECHANICAL ENGINEERING</a:t>
            </a:r>
          </a:p>
          <a:p>
            <a:pPr algn="ctr"/>
            <a:r>
              <a:rPr lang="en-US" sz="1200" dirty="0" smtClean="0">
                <a:latin typeface="Bookman Old Style" pitchFamily="18" charset="0"/>
                <a:cs typeface="Times New Roman" pitchFamily="18" charset="0"/>
              </a:rPr>
              <a:t>(Regulation – 2018)</a:t>
            </a:r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1000" y="228600"/>
            <a:ext cx="4932761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Unit – 1</a:t>
            </a:r>
          </a:p>
          <a:p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  <a:cs typeface="Times New Roman" pitchFamily="18" charset="0"/>
              </a:rPr>
              <a:t>	Building Materials</a:t>
            </a:r>
          </a:p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Unit – 2</a:t>
            </a:r>
          </a:p>
          <a:p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>	Transportation and Water System</a:t>
            </a:r>
          </a:p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Unit – 3</a:t>
            </a:r>
          </a:p>
          <a:p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>	Power Plants </a:t>
            </a:r>
            <a:endParaRPr lang="en-US" sz="1100" dirty="0" smtClean="0">
              <a:latin typeface="Bookman Old Style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Unit – 4</a:t>
            </a:r>
          </a:p>
          <a:p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>	Internal Combustion Engine </a:t>
            </a:r>
          </a:p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Unit – 5</a:t>
            </a:r>
          </a:p>
          <a:p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>	Casting and Forming Process 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352800"/>
            <a:ext cx="9144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 smtClean="0">
                <a:solidFill>
                  <a:srgbClr val="FF0000"/>
                </a:solidFill>
                <a:latin typeface="Bookman Old Style" pitchFamily="18" charset="0"/>
                <a:cs typeface="Times New Roman" pitchFamily="18" charset="0"/>
              </a:rPr>
              <a:t>Building Materials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</a:t>
            </a:r>
            <a:r>
              <a:rPr lang="en-US" b="1" dirty="0" smtClean="0">
                <a:latin typeface="Bookman Old Style" pitchFamily="18" charset="0"/>
              </a:rPr>
              <a:t>Introduction to Civil Engineering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</a:t>
            </a:r>
            <a:r>
              <a:rPr lang="en-US" dirty="0" smtClean="0">
                <a:latin typeface="Bookman Old Style" pitchFamily="18" charset="0"/>
              </a:rPr>
              <a:t>sand</a:t>
            </a:r>
            <a:endParaRPr lang="en-US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</a:t>
            </a:r>
            <a:r>
              <a:rPr lang="en-US" dirty="0" smtClean="0">
                <a:latin typeface="Bookman Old Style" pitchFamily="18" charset="0"/>
              </a:rPr>
              <a:t>timber</a:t>
            </a:r>
            <a:endParaRPr lang="en-US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</a:t>
            </a:r>
            <a:r>
              <a:rPr lang="en-US" dirty="0" smtClean="0">
                <a:latin typeface="Bookman Old Style" pitchFamily="18" charset="0"/>
              </a:rPr>
              <a:t>ancient monuments</a:t>
            </a:r>
            <a:endParaRPr lang="en-US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Bricks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Stones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Cement 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Recycling – Constructional Waste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 	Classification of Buildings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Soils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	Foundations</a:t>
            </a:r>
            <a:endParaRPr lang="en-US" b="1" dirty="0" smtClean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dirty="0" smtClean="0">
                <a:latin typeface="Bookman Old Style" pitchFamily="18" charset="0"/>
              </a:rPr>
              <a:t>	</a:t>
            </a:r>
            <a:r>
              <a:rPr lang="en-US" b="1" dirty="0" smtClean="0">
                <a:latin typeface="Bookman Old Style" pitchFamily="18" charset="0"/>
              </a:rPr>
              <a:t>Introduction to Civil Engineering</a:t>
            </a:r>
          </a:p>
          <a:p>
            <a:pPr lvl="1">
              <a:lnSpc>
                <a:spcPct val="200000"/>
              </a:lnSpc>
            </a:pPr>
            <a:r>
              <a:rPr lang="en-US" dirty="0" smtClean="0">
                <a:latin typeface="Bookman Old Style" pitchFamily="18" charset="0"/>
              </a:rPr>
              <a:t>The 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buildings</a:t>
            </a:r>
            <a:r>
              <a:rPr lang="en-US" dirty="0" smtClean="0">
                <a:latin typeface="Bookman Old Style" pitchFamily="18" charset="0"/>
              </a:rPr>
              <a:t> we live in and work in, the 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transportation facilit</a:t>
            </a:r>
            <a:r>
              <a:rPr lang="en-US" dirty="0" smtClean="0">
                <a:latin typeface="Bookman Old Style" pitchFamily="18" charset="0"/>
              </a:rPr>
              <a:t>ies we use, the 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water we drink</a:t>
            </a:r>
            <a:r>
              <a:rPr lang="en-US" dirty="0" smtClean="0">
                <a:latin typeface="Bookman Old Style" pitchFamily="18" charset="0"/>
              </a:rPr>
              <a:t>, and the 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drainage</a:t>
            </a:r>
            <a:r>
              <a:rPr lang="en-US" dirty="0" smtClean="0">
                <a:latin typeface="Bookman Old Style" pitchFamily="18" charset="0"/>
              </a:rPr>
              <a:t> and 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sewage systems</a:t>
            </a:r>
            <a:r>
              <a:rPr lang="en-US" dirty="0" smtClean="0">
                <a:latin typeface="Bookman Old Style" pitchFamily="18" charset="0"/>
              </a:rPr>
              <a:t>. </a:t>
            </a:r>
          </a:p>
          <a:p>
            <a:pPr lvl="1">
              <a:lnSpc>
                <a:spcPct val="200000"/>
              </a:lnSpc>
            </a:pP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Civil Engineers:</a:t>
            </a:r>
          </a:p>
          <a:p>
            <a:pPr marL="6350" lvl="1">
              <a:lnSpc>
                <a:spcPct val="20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Measure and map the earth’s surface.</a:t>
            </a:r>
          </a:p>
          <a:p>
            <a:pPr marL="6350" lvl="1">
              <a:lnSpc>
                <a:spcPct val="15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Design and supervise the construction of bridges, tunnels, large  	buildings, dams, and coastal structures.</a:t>
            </a:r>
          </a:p>
          <a:p>
            <a:pPr marL="6350" lvl="1">
              <a:lnSpc>
                <a:spcPct val="20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Plan, layout, construct, and maintain railroads, highways, and airports.</a:t>
            </a:r>
          </a:p>
          <a:p>
            <a:pPr marL="6350" lvl="1">
              <a:lnSpc>
                <a:spcPct val="20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Devise systems for the control and efficient flow of traffic.</a:t>
            </a:r>
          </a:p>
          <a:p>
            <a:pPr marL="6350" lvl="1">
              <a:lnSpc>
                <a:spcPct val="20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Plan and build river navigation and flood control projects.</a:t>
            </a:r>
          </a:p>
          <a:p>
            <a:pPr marL="6350" lvl="1">
              <a:lnSpc>
                <a:spcPct val="150000"/>
              </a:lnSpc>
              <a:buFont typeface="Arial" pitchFamily="34" charset="0"/>
              <a:buChar char="•"/>
              <a:tabLst>
                <a:tab pos="508000" algn="l"/>
              </a:tabLst>
            </a:pPr>
            <a:r>
              <a:rPr lang="en-US" dirty="0" smtClean="0">
                <a:latin typeface="Bookman Old Style" pitchFamily="18" charset="0"/>
              </a:rPr>
              <a:t> 	Provide plants and systems for water supply and sewage and refuse  	disposal.</a:t>
            </a:r>
            <a:endParaRPr lang="en-US" b="1" dirty="0" smtClean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0"/>
            <a:ext cx="8763000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 smtClean="0">
                <a:solidFill>
                  <a:srgbClr val="FF0000"/>
                </a:solidFill>
                <a:latin typeface="Bookman Old Style" pitchFamily="18" charset="0"/>
                <a:cs typeface="Times New Roman" pitchFamily="18" charset="0"/>
              </a:rPr>
              <a:t>Ancient Monuments</a:t>
            </a:r>
          </a:p>
          <a:p>
            <a:pPr lvl="1">
              <a:lnSpc>
                <a:spcPct val="200000"/>
              </a:lnSpc>
            </a:pPr>
            <a:r>
              <a:rPr lang="en-US" b="1" dirty="0" err="1" smtClean="0">
                <a:latin typeface="Bookman Old Style" pitchFamily="18" charset="0"/>
              </a:rPr>
              <a:t>Brihadeeswarar</a:t>
            </a:r>
            <a:r>
              <a:rPr lang="en-US" b="1" dirty="0" smtClean="0">
                <a:latin typeface="Bookman Old Style" pitchFamily="18" charset="0"/>
              </a:rPr>
              <a:t> Temple </a:t>
            </a:r>
            <a:r>
              <a:rPr lang="en-US" sz="1600" dirty="0" smtClean="0">
                <a:latin typeface="Bookman Old Style" pitchFamily="18" charset="0"/>
              </a:rPr>
              <a:t>(</a:t>
            </a:r>
            <a:r>
              <a:rPr lang="en-US" sz="1600" dirty="0" err="1" smtClean="0">
                <a:latin typeface="Bookman Old Style" pitchFamily="18" charset="0"/>
              </a:rPr>
              <a:t>PeruvudaiyarKovil</a:t>
            </a:r>
            <a:r>
              <a:rPr lang="en-US" sz="1600" dirty="0" smtClean="0">
                <a:latin typeface="Bookman Old Style" pitchFamily="18" charset="0"/>
              </a:rPr>
              <a:t>)</a:t>
            </a:r>
          </a:p>
          <a:p>
            <a:pPr marL="6350" lvl="1">
              <a:lnSpc>
                <a:spcPct val="200000"/>
              </a:lnSpc>
              <a:buFont typeface="Wingdings" pitchFamily="2" charset="2"/>
              <a:buChar char="ü"/>
              <a:tabLst>
                <a:tab pos="465138" algn="l"/>
              </a:tabLst>
            </a:pPr>
            <a:r>
              <a:rPr lang="en-US" sz="1600" dirty="0" smtClean="0">
                <a:latin typeface="Bookman Old Style" pitchFamily="18" charset="0"/>
              </a:rPr>
              <a:t> 	Raja </a:t>
            </a:r>
            <a:r>
              <a:rPr lang="en-US" sz="1600" dirty="0" err="1" smtClean="0">
                <a:latin typeface="Bookman Old Style" pitchFamily="18" charset="0"/>
              </a:rPr>
              <a:t>RajaChola</a:t>
            </a:r>
            <a:r>
              <a:rPr lang="en-US" sz="1600" dirty="0" smtClean="0">
                <a:latin typeface="Bookman Old Style" pitchFamily="18" charset="0"/>
              </a:rPr>
              <a:t> I in the year 1010 AD, This ancient shrine is situated at </a:t>
            </a:r>
            <a:r>
              <a:rPr lang="en-US" sz="1600" dirty="0" err="1" smtClean="0">
                <a:latin typeface="Bookman Old Style" pitchFamily="18" charset="0"/>
              </a:rPr>
              <a:t>Thanjavur</a:t>
            </a:r>
            <a:r>
              <a:rPr lang="en-US" sz="1600" dirty="0" smtClean="0">
                <a:latin typeface="Bookman Old Style" pitchFamily="18" charset="0"/>
              </a:rPr>
              <a:t> district in Tamil Nadu.</a:t>
            </a:r>
          </a:p>
          <a:p>
            <a:pPr marL="6350" lvl="1">
              <a:lnSpc>
                <a:spcPct val="200000"/>
              </a:lnSpc>
              <a:buFont typeface="Wingdings" pitchFamily="2" charset="2"/>
              <a:buChar char="ü"/>
              <a:tabLst>
                <a:tab pos="465138" algn="l"/>
                <a:tab pos="798513" algn="l"/>
              </a:tabLst>
            </a:pPr>
            <a:r>
              <a:rPr lang="en-US" sz="1600" dirty="0" smtClean="0">
                <a:latin typeface="Bookman Old Style" pitchFamily="18" charset="0"/>
              </a:rPr>
              <a:t> 	Temple tower has an elevation of 66 meters.</a:t>
            </a:r>
          </a:p>
          <a:p>
            <a:pPr marL="6350" lvl="1">
              <a:lnSpc>
                <a:spcPct val="200000"/>
              </a:lnSpc>
              <a:buFont typeface="Wingdings" pitchFamily="2" charset="2"/>
              <a:buChar char="ü"/>
              <a:tabLst>
                <a:tab pos="465138" algn="l"/>
                <a:tab pos="798513" algn="l"/>
              </a:tabLst>
            </a:pPr>
            <a:r>
              <a:rPr lang="en-US" sz="1600" dirty="0" smtClean="0">
                <a:latin typeface="Bookman Old Style" pitchFamily="18" charset="0"/>
              </a:rPr>
              <a:t> 	Nandi at the entry of this </a:t>
            </a:r>
            <a:r>
              <a:rPr lang="en-US" sz="1600" dirty="0" err="1" smtClean="0">
                <a:latin typeface="Bookman Old Style" pitchFamily="18" charset="0"/>
              </a:rPr>
              <a:t>Brihadeeshwar</a:t>
            </a:r>
            <a:endParaRPr lang="en-US" sz="1600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</a:pPr>
            <a:r>
              <a:rPr lang="en-US" sz="1600" dirty="0" smtClean="0">
                <a:latin typeface="Bookman Old Style" pitchFamily="18" charset="0"/>
              </a:rPr>
              <a:t>13 feet in elevation and 16 feet in length</a:t>
            </a:r>
            <a:endParaRPr lang="en-US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</a:pPr>
            <a:r>
              <a:rPr lang="en-US" b="1" dirty="0" err="1" smtClean="0">
                <a:latin typeface="Bookman Old Style" pitchFamily="18" charset="0"/>
              </a:rPr>
              <a:t>Kallanai</a:t>
            </a:r>
            <a:r>
              <a:rPr lang="en-US" b="1" dirty="0" smtClean="0">
                <a:latin typeface="Bookman Old Style" pitchFamily="18" charset="0"/>
              </a:rPr>
              <a:t> dam - Grand </a:t>
            </a:r>
            <a:r>
              <a:rPr lang="en-US" b="1" dirty="0" err="1" smtClean="0">
                <a:latin typeface="Bookman Old Style" pitchFamily="18" charset="0"/>
              </a:rPr>
              <a:t>Anicut</a:t>
            </a:r>
            <a:endParaRPr lang="en-US" b="1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</a:pPr>
            <a:r>
              <a:rPr lang="en-US" dirty="0" smtClean="0">
                <a:latin typeface="Bookman Old Style" pitchFamily="18" charset="0"/>
              </a:rPr>
              <a:t>The </a:t>
            </a:r>
            <a:r>
              <a:rPr lang="en-US" dirty="0" err="1" smtClean="0">
                <a:latin typeface="Bookman Old Style" pitchFamily="18" charset="0"/>
              </a:rPr>
              <a:t>Kallanai</a:t>
            </a:r>
            <a:r>
              <a:rPr lang="en-US" dirty="0" smtClean="0">
                <a:latin typeface="Bookman Old Style" pitchFamily="18" charset="0"/>
              </a:rPr>
              <a:t> Dam was built during the second century AD by </a:t>
            </a:r>
            <a:r>
              <a:rPr lang="en-US" dirty="0" err="1" smtClean="0">
                <a:latin typeface="Bookman Old Style" pitchFamily="18" charset="0"/>
              </a:rPr>
              <a:t>Karikalan</a:t>
            </a:r>
            <a:endParaRPr lang="en-US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simple check dam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 300 meters long, 20 meters wide, </a:t>
            </a:r>
          </a:p>
          <a:p>
            <a:pPr lvl="1"/>
            <a:r>
              <a:rPr lang="en-US" dirty="0" smtClean="0">
                <a:latin typeface="Bookman Old Style" pitchFamily="18" charset="0"/>
              </a:rPr>
              <a:t>and 4.5 meters high.</a:t>
            </a:r>
          </a:p>
          <a:p>
            <a:pPr lvl="1"/>
            <a:endParaRPr lang="en-US" dirty="0" smtClean="0">
              <a:latin typeface="Bookman Old Style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Bookman Old Style" pitchFamily="18" charset="0"/>
              </a:rPr>
              <a:t>1 million acres </a:t>
            </a:r>
          </a:p>
          <a:p>
            <a:pPr lvl="1"/>
            <a:r>
              <a:rPr lang="en-US" dirty="0" err="1" smtClean="0">
                <a:latin typeface="Bookman Old Style" pitchFamily="18" charset="0"/>
              </a:rPr>
              <a:t>Kallanai</a:t>
            </a:r>
            <a:r>
              <a:rPr lang="en-US" dirty="0" smtClean="0">
                <a:latin typeface="Bookman Old Style" pitchFamily="18" charset="0"/>
              </a:rPr>
              <a:t> has been altered after the 1800s</a:t>
            </a:r>
          </a:p>
        </p:txBody>
      </p:sp>
      <p:pic>
        <p:nvPicPr>
          <p:cNvPr id="3" name="Picture 2" descr="C:\Users\MJ SEVEN\Desktop\brihadeshwara-temple-thanjavur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2"/>
          <a:stretch/>
        </p:blipFill>
        <p:spPr bwMode="auto">
          <a:xfrm>
            <a:off x="5334000" y="1752600"/>
            <a:ext cx="3810000" cy="2286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C:\Users\MJ SEVEN\Desktop\kallanai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876800"/>
            <a:ext cx="34290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762000"/>
            <a:ext cx="5638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 smtClean="0"/>
              <a:t>Requirement of timber</a:t>
            </a:r>
            <a:endParaRPr lang="en-IN" sz="4400" b="1" i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1905000"/>
            <a:ext cx="6324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Dark uniform </a:t>
            </a:r>
            <a:r>
              <a:rPr lang="en-US" sz="2800" dirty="0" err="1" smtClean="0"/>
              <a:t>colur</a:t>
            </a:r>
            <a:endParaRPr lang="en-US" sz="2800" dirty="0" smtClean="0"/>
          </a:p>
          <a:p>
            <a:r>
              <a:rPr lang="en-US" sz="2800" dirty="0" smtClean="0"/>
              <a:t>Dense</a:t>
            </a:r>
          </a:p>
          <a:p>
            <a:r>
              <a:rPr lang="en-US" sz="2800" dirty="0" err="1" smtClean="0"/>
              <a:t>Workable,good</a:t>
            </a:r>
            <a:r>
              <a:rPr lang="en-US" sz="2800" dirty="0" smtClean="0"/>
              <a:t> machinability.</a:t>
            </a:r>
          </a:p>
          <a:p>
            <a:r>
              <a:rPr lang="en-US" sz="2800" dirty="0" smtClean="0"/>
              <a:t>Uniform texture</a:t>
            </a:r>
          </a:p>
          <a:p>
            <a:r>
              <a:rPr lang="en-US" sz="2800" dirty="0" smtClean="0"/>
              <a:t>Freshly cut log surface should emit sweet smell</a:t>
            </a:r>
            <a:r>
              <a:rPr lang="en-IN" sz="2800" dirty="0" smtClean="0"/>
              <a:t>.</a:t>
            </a:r>
          </a:p>
          <a:p>
            <a:r>
              <a:rPr lang="en-US" sz="2800" dirty="0" smtClean="0"/>
              <a:t>Free from </a:t>
            </a:r>
            <a:r>
              <a:rPr lang="en-US" sz="2800" dirty="0" err="1" smtClean="0"/>
              <a:t>crakes,splits,warp,etc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When it is </a:t>
            </a:r>
            <a:r>
              <a:rPr lang="en-US" sz="2800" dirty="0" err="1" smtClean="0"/>
              <a:t>struck,it</a:t>
            </a:r>
            <a:r>
              <a:rPr lang="en-US" sz="2800" dirty="0" smtClean="0"/>
              <a:t> should produce a sonorous sound.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9144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14400" y="3429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914400" y="3771900"/>
            <a:ext cx="76200" cy="190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914400" y="4648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914400" y="5105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73228"/>
            <a:ext cx="2828925" cy="208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1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 Classification of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Residential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Educational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Institutional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Assembly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Business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Mercantile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Industrial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Storage Buildings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Bookman Old Style" pitchFamily="18" charset="0"/>
              </a:rPr>
              <a:t>Hazardous Buildings</a:t>
            </a:r>
          </a:p>
        </p:txBody>
      </p:sp>
    </p:spTree>
    <p:extLst>
      <p:ext uri="{BB962C8B-B14F-4D97-AF65-F5344CB8AC3E}">
        <p14:creationId xmlns:p14="http://schemas.microsoft.com/office/powerpoint/2010/main" val="297355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381000"/>
            <a:ext cx="350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u="sng" dirty="0"/>
              <a:t>S</a:t>
            </a:r>
            <a:r>
              <a:rPr lang="en-US" sz="4800" b="1" i="1" u="sng" dirty="0" smtClean="0"/>
              <a:t>and</a:t>
            </a:r>
            <a:endParaRPr lang="en-IN" sz="48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295400" y="1211997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Requirement of sand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209800"/>
            <a:ext cx="670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It should be clean.</a:t>
            </a:r>
          </a:p>
          <a:p>
            <a:r>
              <a:rPr lang="en-US" sz="3200" dirty="0" smtClean="0"/>
              <a:t>It should be well graded.</a:t>
            </a:r>
          </a:p>
          <a:p>
            <a:r>
              <a:rPr lang="en-US" sz="3200" dirty="0" smtClean="0"/>
              <a:t>Maximum permissible clay content is 3 to 4% in sand</a:t>
            </a:r>
          </a:p>
          <a:p>
            <a:r>
              <a:rPr lang="en-US" sz="3200" dirty="0" smtClean="0"/>
              <a:t>It should not contain salts which attract</a:t>
            </a:r>
          </a:p>
          <a:p>
            <a:r>
              <a:rPr lang="en-US" sz="3200" dirty="0" smtClean="0"/>
              <a:t>Moisture from the atmosphere.</a:t>
            </a:r>
          </a:p>
          <a:p>
            <a:r>
              <a:rPr lang="en-US" sz="3200" dirty="0" smtClean="0"/>
              <a:t>It should contain </a:t>
            </a:r>
            <a:r>
              <a:rPr lang="en-US" sz="3200" dirty="0" err="1" smtClean="0"/>
              <a:t>sharp,angular</a:t>
            </a:r>
            <a:r>
              <a:rPr lang="en-US" sz="3200" dirty="0" smtClean="0"/>
              <a:t> grains.</a:t>
            </a:r>
            <a:endParaRPr lang="en-IN" sz="3200" dirty="0"/>
          </a:p>
        </p:txBody>
      </p:sp>
      <p:sp>
        <p:nvSpPr>
          <p:cNvPr id="5" name="Oval 4"/>
          <p:cNvSpPr/>
          <p:nvPr/>
        </p:nvSpPr>
        <p:spPr>
          <a:xfrm>
            <a:off x="533400" y="24384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533400" y="2895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33400" y="33528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33400" y="4419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533400" y="5334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686395"/>
            <a:ext cx="30670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2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6858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 smtClean="0"/>
              <a:t>Metal</a:t>
            </a:r>
            <a:endParaRPr lang="en-IN" sz="4000" b="1" i="1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4949130"/>
            <a:ext cx="3848100" cy="144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1580316"/>
            <a:ext cx="708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They should provide sufficient strength to bear the loads coming on them</a:t>
            </a:r>
          </a:p>
          <a:p>
            <a:r>
              <a:rPr lang="en-US" sz="2800" dirty="0" smtClean="0"/>
              <a:t>They should provide resistance to corrosion and weather actions</a:t>
            </a:r>
          </a:p>
          <a:p>
            <a:r>
              <a:rPr lang="en-US" sz="2800" dirty="0" smtClean="0"/>
              <a:t>They should provided resistance to heat and fire .</a:t>
            </a:r>
          </a:p>
          <a:p>
            <a:r>
              <a:rPr lang="en-US" sz="2800" dirty="0" smtClean="0"/>
              <a:t>They should have good adhesion the cement concrete.</a:t>
            </a:r>
            <a:endParaRPr lang="en-IN" sz="2800" dirty="0"/>
          </a:p>
        </p:txBody>
      </p:sp>
      <p:sp>
        <p:nvSpPr>
          <p:cNvPr id="6" name="Oval 5"/>
          <p:cNvSpPr/>
          <p:nvPr/>
        </p:nvSpPr>
        <p:spPr>
          <a:xfrm>
            <a:off x="609600" y="1752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609600" y="25908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609600" y="3429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609600" y="43434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10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533400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u="sng" dirty="0" smtClean="0"/>
              <a:t>Uses of stones</a:t>
            </a:r>
            <a:endParaRPr lang="en-IN" sz="36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600200"/>
            <a:ext cx="6553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They are used in hydraulic like dams and </a:t>
            </a:r>
            <a:r>
              <a:rPr lang="en-US" sz="3600" dirty="0" err="1" smtClean="0"/>
              <a:t>beidges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They are used as road metals in road construction.</a:t>
            </a:r>
          </a:p>
          <a:p>
            <a:r>
              <a:rPr lang="en-US" sz="3600" dirty="0" smtClean="0"/>
              <a:t>They are used to make concrete in the form of course aggregate.</a:t>
            </a:r>
          </a:p>
          <a:p>
            <a:r>
              <a:rPr lang="en-US" sz="3600" dirty="0" smtClean="0"/>
              <a:t>They used a ballast form </a:t>
            </a:r>
            <a:r>
              <a:rPr lang="en-US" sz="3600" dirty="0" err="1" smtClean="0"/>
              <a:t>oermanent</a:t>
            </a:r>
            <a:r>
              <a:rPr lang="en-US" sz="3600" dirty="0" smtClean="0"/>
              <a:t> way in railways.</a:t>
            </a:r>
            <a:endParaRPr lang="en-IN" sz="3600" dirty="0"/>
          </a:p>
        </p:txBody>
      </p:sp>
      <p:sp>
        <p:nvSpPr>
          <p:cNvPr id="4" name="Oval 3"/>
          <p:cNvSpPr/>
          <p:nvPr/>
        </p:nvSpPr>
        <p:spPr>
          <a:xfrm>
            <a:off x="533400" y="1905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533400" y="2895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533400" y="4038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33400" y="51054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45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000" b="1" dirty="0" smtClean="0">
                <a:solidFill>
                  <a:srgbClr val="FF0000"/>
                </a:solidFill>
                <a:latin typeface="Bookman Old Style" pitchFamily="18" charset="0"/>
                <a:cs typeface="Times New Roman" pitchFamily="18" charset="0"/>
              </a:rPr>
              <a:t>Building Materials</a:t>
            </a:r>
          </a:p>
          <a:p>
            <a:pPr lvl="1"/>
            <a:r>
              <a:rPr lang="en-US" sz="2400" b="1" dirty="0" smtClean="0">
                <a:latin typeface="Bookman Old Style" pitchFamily="18" charset="0"/>
              </a:rPr>
              <a:t>Manufacturing of bricks</a:t>
            </a:r>
            <a:endParaRPr lang="en-US" sz="2000" b="1" dirty="0" smtClean="0">
              <a:latin typeface="Bookman Old Style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Bookman Old Style" pitchFamily="18" charset="0"/>
              </a:rPr>
              <a:t> </a:t>
            </a:r>
            <a:r>
              <a:rPr lang="en-US" sz="2400" dirty="0" smtClean="0">
                <a:latin typeface="Bookman Old Style" pitchFamily="18" charset="0"/>
              </a:rPr>
              <a:t>In the process of manufacturing bricks, the following distinct operations are involved.</a:t>
            </a:r>
          </a:p>
          <a:p>
            <a:pPr marL="571500"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Bookman Old Style" pitchFamily="18" charset="0"/>
              </a:rPr>
              <a:t> Preparation of clay</a:t>
            </a:r>
          </a:p>
          <a:p>
            <a:pPr marL="571500" lvl="2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	(</a:t>
            </a:r>
            <a:r>
              <a:rPr lang="en-US" sz="2000" dirty="0" err="1" smtClean="0">
                <a:latin typeface="Bookman Old Style" pitchFamily="18" charset="0"/>
              </a:rPr>
              <a:t>i</a:t>
            </a:r>
            <a:r>
              <a:rPr lang="en-US" sz="2000" dirty="0" smtClean="0">
                <a:latin typeface="Bookman Old Style" pitchFamily="18" charset="0"/>
              </a:rPr>
              <a:t>)</a:t>
            </a:r>
            <a:r>
              <a:rPr lang="en-US" sz="2000" dirty="0" err="1" smtClean="0">
                <a:latin typeface="Bookman Old Style" pitchFamily="18" charset="0"/>
              </a:rPr>
              <a:t>Unsoiling</a:t>
            </a:r>
            <a:r>
              <a:rPr lang="en-US" sz="2000" dirty="0" smtClean="0">
                <a:latin typeface="Bookman Old Style" pitchFamily="18" charset="0"/>
              </a:rPr>
              <a:t> (ii)Digging (iii)Cleaning (iv)Weathering (v)Blending Tempering</a:t>
            </a:r>
          </a:p>
          <a:p>
            <a:pPr marL="571500"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 smtClean="0">
                <a:latin typeface="Bookman Old Style" pitchFamily="18" charset="0"/>
              </a:rPr>
              <a:t>Moulding</a:t>
            </a:r>
            <a:endParaRPr lang="en-US" sz="2000" dirty="0" smtClean="0">
              <a:latin typeface="Bookman Old Style" pitchFamily="18" charset="0"/>
            </a:endParaRPr>
          </a:p>
          <a:p>
            <a:pPr marL="571500" lvl="2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	(</a:t>
            </a:r>
            <a:r>
              <a:rPr lang="en-US" sz="2000" dirty="0" err="1" smtClean="0">
                <a:latin typeface="Bookman Old Style" pitchFamily="18" charset="0"/>
              </a:rPr>
              <a:t>i</a:t>
            </a:r>
            <a:r>
              <a:rPr lang="en-US" sz="2000" dirty="0" smtClean="0">
                <a:latin typeface="Bookman Old Style" pitchFamily="18" charset="0"/>
              </a:rPr>
              <a:t>)Hand </a:t>
            </a:r>
            <a:r>
              <a:rPr lang="en-US" sz="2000" dirty="0" err="1" smtClean="0">
                <a:latin typeface="Bookman Old Style" pitchFamily="18" charset="0"/>
              </a:rPr>
              <a:t>Moulding</a:t>
            </a:r>
            <a:r>
              <a:rPr lang="en-US" sz="2000" dirty="0" smtClean="0">
                <a:latin typeface="Bookman Old Style" pitchFamily="18" charset="0"/>
              </a:rPr>
              <a:t> (ii)Machine </a:t>
            </a:r>
            <a:r>
              <a:rPr lang="en-US" sz="2000" dirty="0" err="1" smtClean="0">
                <a:latin typeface="Bookman Old Style" pitchFamily="18" charset="0"/>
              </a:rPr>
              <a:t>Moulding</a:t>
            </a:r>
            <a:endParaRPr lang="en-US" sz="2000" dirty="0" smtClean="0">
              <a:latin typeface="Bookman Old Style" pitchFamily="18" charset="0"/>
            </a:endParaRPr>
          </a:p>
          <a:p>
            <a:pPr marL="571500"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Bookman Old Style" pitchFamily="18" charset="0"/>
              </a:rPr>
              <a:t> Drying</a:t>
            </a:r>
          </a:p>
          <a:p>
            <a:pPr marL="571500" lvl="2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	The damp bricks are likely to be cracked or distorted unless dried.</a:t>
            </a:r>
          </a:p>
          <a:p>
            <a:pPr marL="571500"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Bookman Old Style" pitchFamily="18" charset="0"/>
              </a:rPr>
              <a:t>Burning</a:t>
            </a:r>
          </a:p>
          <a:p>
            <a:pPr marL="571500" lvl="2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	(</a:t>
            </a:r>
            <a:r>
              <a:rPr lang="en-US" sz="2000" dirty="0" err="1" smtClean="0">
                <a:latin typeface="Bookman Old Style" pitchFamily="18" charset="0"/>
              </a:rPr>
              <a:t>i</a:t>
            </a:r>
            <a:r>
              <a:rPr lang="en-US" sz="2000" dirty="0" smtClean="0">
                <a:latin typeface="Bookman Old Style" pitchFamily="18" charset="0"/>
              </a:rPr>
              <a:t>)Clamp Burning (ii) Kiln Burning</a:t>
            </a:r>
            <a:endParaRPr lang="en-US" sz="2000" b="1" dirty="0" smtClean="0">
              <a:latin typeface="Bookman Old Style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2895600"/>
            <a:ext cx="2800350" cy="163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 smtClean="0">
                <a:solidFill>
                  <a:srgbClr val="FF0000"/>
                </a:solidFill>
                <a:latin typeface="Bookman Old Style" pitchFamily="18" charset="0"/>
                <a:cs typeface="Times New Roman" pitchFamily="18" charset="0"/>
              </a:rPr>
              <a:t>Building Materials</a:t>
            </a:r>
          </a:p>
          <a:p>
            <a:pPr lvl="1"/>
            <a:r>
              <a:rPr lang="en-US" sz="2400" b="1" dirty="0" smtClean="0">
                <a:latin typeface="Bookman Old Style" pitchFamily="18" charset="0"/>
              </a:rPr>
              <a:t>Bricks</a:t>
            </a:r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endParaRPr lang="en-US" sz="2800" dirty="0" smtClean="0">
              <a:latin typeface="Bookman Old Style" pitchFamily="18" charset="0"/>
            </a:endParaRPr>
          </a:p>
          <a:p>
            <a:pPr lvl="1">
              <a:lnSpc>
                <a:spcPct val="200000"/>
              </a:lnSpc>
            </a:pPr>
            <a:endParaRPr lang="en-US" b="1" dirty="0" smtClean="0">
              <a:latin typeface="Bookman Old Style" pitchFamily="18" charset="0"/>
            </a:endParaRPr>
          </a:p>
        </p:txBody>
      </p:sp>
      <p:pic>
        <p:nvPicPr>
          <p:cNvPr id="3" name="Picture 2" descr="C:\Users\MJ SEVEN\Desktop\The-process-of-brick-making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3820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1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371600"/>
            <a:ext cx="5029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1.cement is obtained by burning the mixture of calcareous and argillaceous materials and crushing into fine powder</a:t>
            </a:r>
            <a:r>
              <a:rPr lang="en-US" sz="3200" dirty="0" smtClean="0"/>
              <a:t>. </a:t>
            </a:r>
          </a:p>
          <a:p>
            <a:r>
              <a:rPr lang="en-US" sz="3200" dirty="0" smtClean="0"/>
              <a:t>2.Very </a:t>
            </a:r>
            <a:r>
              <a:rPr lang="en-US" sz="3200" dirty="0"/>
              <a:t>small amount of </a:t>
            </a:r>
            <a:r>
              <a:rPr lang="en-US" sz="3200" dirty="0" err="1"/>
              <a:t>sulphur</a:t>
            </a:r>
            <a:r>
              <a:rPr lang="en-US" sz="3200" dirty="0"/>
              <a:t> is added. </a:t>
            </a:r>
            <a:endParaRPr lang="en-US" sz="3200" dirty="0" smtClean="0"/>
          </a:p>
          <a:p>
            <a:r>
              <a:rPr lang="en-US" sz="3200" dirty="0" smtClean="0"/>
              <a:t>3.It </a:t>
            </a:r>
            <a:r>
              <a:rPr lang="en-US" sz="3200" dirty="0"/>
              <a:t>should be fine powder. </a:t>
            </a:r>
            <a:endParaRPr lang="en-IN" sz="3200" dirty="0"/>
          </a:p>
        </p:txBody>
      </p:sp>
      <p:sp>
        <p:nvSpPr>
          <p:cNvPr id="3" name="Rectangle 2"/>
          <p:cNvSpPr/>
          <p:nvPr/>
        </p:nvSpPr>
        <p:spPr>
          <a:xfrm>
            <a:off x="990600" y="609600"/>
            <a:ext cx="2362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Cement</a:t>
            </a:r>
          </a:p>
        </p:txBody>
      </p:sp>
      <p:sp>
        <p:nvSpPr>
          <p:cNvPr id="4" name="Flowchart: Extract 3"/>
          <p:cNvSpPr/>
          <p:nvPr/>
        </p:nvSpPr>
        <p:spPr>
          <a:xfrm rot="5400000">
            <a:off x="431149" y="866775"/>
            <a:ext cx="405034" cy="430540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/>
          <p:cNvCxnSpPr>
            <a:stCxn id="4" idx="2"/>
            <a:endCxn id="4" idx="0"/>
          </p:cNvCxnSpPr>
          <p:nvPr/>
        </p:nvCxnSpPr>
        <p:spPr>
          <a:xfrm>
            <a:off x="418396" y="1082045"/>
            <a:ext cx="4305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82045"/>
            <a:ext cx="2619375" cy="1743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81" y="4446210"/>
            <a:ext cx="28289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19201"/>
            <a:ext cx="7543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1.Making joints for </a:t>
            </a:r>
            <a:r>
              <a:rPr lang="en-US" sz="3600" dirty="0" err="1"/>
              <a:t>drains,pipes</a:t>
            </a:r>
            <a:r>
              <a:rPr lang="en-US" sz="3600" dirty="0"/>
              <a:t>. 2.Construction of buildings, </a:t>
            </a:r>
            <a:r>
              <a:rPr lang="en-US" sz="3600" dirty="0" err="1"/>
              <a:t>bridges,tanks,domes,flyovers,dockyard,etc</a:t>
            </a:r>
            <a:r>
              <a:rPr lang="en-US" sz="3600" dirty="0"/>
              <a:t>.., </a:t>
            </a:r>
            <a:endParaRPr lang="en-US" sz="3600" dirty="0" smtClean="0"/>
          </a:p>
          <a:p>
            <a:r>
              <a:rPr lang="en-US" sz="3600" dirty="0" smtClean="0"/>
              <a:t>3.Used </a:t>
            </a:r>
            <a:r>
              <a:rPr lang="en-US" sz="3600" dirty="0"/>
              <a:t>to prepare cement mortar for </a:t>
            </a:r>
            <a:r>
              <a:rPr lang="en-US" sz="3600" dirty="0" err="1" smtClean="0"/>
              <a:t>constructions,plaster,painting,floorings,etc</a:t>
            </a:r>
            <a:r>
              <a:rPr lang="en-US" sz="3600" dirty="0" smtClean="0"/>
              <a:t>..,  </a:t>
            </a:r>
          </a:p>
          <a:p>
            <a:r>
              <a:rPr lang="en-US" sz="3600" dirty="0" smtClean="0"/>
              <a:t> 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533400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Uses of cement</a:t>
            </a:r>
          </a:p>
          <a:p>
            <a:endParaRPr lang="en-I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648200"/>
            <a:ext cx="3657600" cy="189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41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722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	Foundations</a:t>
            </a:r>
            <a:endParaRPr lang="en-US" sz="2800" dirty="0" smtClean="0">
              <a:latin typeface="Bookman Old Style" pitchFamily="18" charset="0"/>
            </a:endParaRPr>
          </a:p>
        </p:txBody>
      </p:sp>
      <p:pic>
        <p:nvPicPr>
          <p:cNvPr id="3" name="Picture 2" descr="C:\Users\MJ SEVEN\Desktop\chapter-3-shallow-foundations-4-638.jpg"/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" t="6838" r="5617" b="18762"/>
          <a:stretch/>
        </p:blipFill>
        <p:spPr bwMode="auto">
          <a:xfrm>
            <a:off x="533400" y="3276600"/>
            <a:ext cx="8153400" cy="2895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1066800"/>
            <a:ext cx="64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Foundation are classified as shallow and deep foundations. Types </a:t>
            </a:r>
            <a:r>
              <a:rPr lang="en-US" sz="2800" dirty="0" err="1" smtClean="0"/>
              <a:t>fo</a:t>
            </a:r>
            <a:r>
              <a:rPr lang="en-US" sz="2800" dirty="0" smtClean="0"/>
              <a:t> foundations under shallow and deep foundations for </a:t>
            </a:r>
            <a:r>
              <a:rPr lang="en-US" sz="2800" dirty="0" err="1" smtClean="0"/>
              <a:t>buildind</a:t>
            </a:r>
            <a:r>
              <a:rPr lang="en-US" sz="2800" dirty="0" smtClean="0"/>
              <a:t> </a:t>
            </a:r>
            <a:r>
              <a:rPr lang="en-US" sz="2800" dirty="0" err="1" smtClean="0"/>
              <a:t>consyructions</a:t>
            </a:r>
            <a:r>
              <a:rPr lang="en-US" sz="2800" dirty="0" smtClean="0"/>
              <a:t> and their uses are discussed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828800"/>
            <a:ext cx="685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The upper layer of earth in which plants grow, a black or dark brown material typically consisting of a mixture of organic </a:t>
            </a:r>
            <a:r>
              <a:rPr lang="en-US" sz="3600" dirty="0" smtClean="0"/>
              <a:t>remains , </a:t>
            </a:r>
            <a:r>
              <a:rPr lang="en-US" sz="3600" dirty="0"/>
              <a:t>clay, and rock particles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609600"/>
            <a:ext cx="289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/>
              <a:t>soils</a:t>
            </a:r>
            <a:endParaRPr lang="en-IN" sz="6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" y="4691122"/>
            <a:ext cx="9144793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92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6200"/>
            <a:ext cx="70866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1" u="sng" dirty="0"/>
              <a:t>General types of soil </a:t>
            </a:r>
          </a:p>
          <a:p>
            <a:r>
              <a:rPr lang="en-US" sz="2400" dirty="0"/>
              <a:t>• Clay- soil has the smallest particles among the three so it has good water </a:t>
            </a:r>
          </a:p>
          <a:p>
            <a:r>
              <a:rPr lang="en-US" sz="2400" dirty="0"/>
              <a:t>storage qualities. </a:t>
            </a:r>
          </a:p>
          <a:p>
            <a:r>
              <a:rPr lang="en-US" sz="2400" dirty="0"/>
              <a:t>• Sandy- Soil has the largest particles among the different soil types </a:t>
            </a:r>
          </a:p>
          <a:p>
            <a:r>
              <a:rPr lang="en-US" sz="2400" dirty="0"/>
              <a:t>• Silty- soil has much smaller particles than sandy soil </a:t>
            </a:r>
          </a:p>
          <a:p>
            <a:r>
              <a:rPr lang="en-US" sz="2400" dirty="0"/>
              <a:t>• Peaty- Peaty soil is dark brown or black in color, soft, easily compressed </a:t>
            </a:r>
          </a:p>
          <a:p>
            <a:r>
              <a:rPr lang="en-US" sz="2400" dirty="0"/>
              <a:t>due to its high water content, and rich in organic matter </a:t>
            </a:r>
          </a:p>
          <a:p>
            <a:r>
              <a:rPr lang="en-US" sz="2400" dirty="0"/>
              <a:t>• Chalky- Sometimes called basic soils, they are always very </a:t>
            </a:r>
          </a:p>
          <a:p>
            <a:r>
              <a:rPr lang="en-US" sz="2400" dirty="0"/>
              <a:t>alkaline. Chalk is a solid, soft rock which breaks down easily. It is very free </a:t>
            </a:r>
          </a:p>
          <a:p>
            <a:r>
              <a:rPr lang="en-US" sz="2400" dirty="0"/>
              <a:t>draining, and chalky soils hold little water and dry out easily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0835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733800"/>
            <a:ext cx="5867400" cy="23383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800" y="457200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 smtClean="0"/>
              <a:t>Stone </a:t>
            </a:r>
            <a:r>
              <a:rPr lang="en-US" sz="4400" b="1" i="1" u="sng" dirty="0" err="1" smtClean="0"/>
              <a:t>quarrind</a:t>
            </a:r>
            <a:endParaRPr lang="en-IN" sz="4400" b="1" i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600200"/>
            <a:ext cx="556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process of raking out stones from natural rock beds is known as the quarrying. The term quarry is </a:t>
            </a:r>
            <a:r>
              <a:rPr lang="en-US" sz="2400" b="1" dirty="0"/>
              <a:t>used to indicate the exposed surface of natural rocks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9504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841</Words>
  <Application>Microsoft Office PowerPoint</Application>
  <PresentationFormat>On-screen Show (4:3)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Bookman Old Style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snks</dc:creator>
  <cp:lastModifiedBy>sukesh</cp:lastModifiedBy>
  <cp:revision>182</cp:revision>
  <dcterms:created xsi:type="dcterms:W3CDTF">2006-08-16T00:00:00Z</dcterms:created>
  <dcterms:modified xsi:type="dcterms:W3CDTF">2022-02-17T19:54:15Z</dcterms:modified>
</cp:coreProperties>
</file>
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16"/>
  </p:notesMasterIdLst>
  <p:sldIdLst>
    <p:sldId id="256" r:id="rId2"/>
    <p:sldId id="257" r:id="rId3"/>
    <p:sldId id="259" r:id="rId4"/>
    <p:sldId id="258" r:id="rId5"/>
    <p:sldId id="266" r:id="rId6"/>
    <p:sldId id="268" r:id="rId7"/>
    <p:sldId id="267" r:id="rId8"/>
    <p:sldId id="269" r:id="rId9"/>
    <p:sldId id="261" r:id="rId10"/>
    <p:sldId id="262" r:id="rId11"/>
    <p:sldId id="265" r:id="rId12"/>
    <p:sldId id="270" r:id="rId13"/>
    <p:sldId id="264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85" d="100"/>
          <a:sy n="85" d="100"/>
        </p:scale>
        <p:origin x="4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A2F4E0-0BE3-4A4C-BC06-BFA91A6E6C26}" type="datetimeFigureOut">
              <a:rPr lang="en-IN" smtClean="0"/>
              <a:t>19-04-2025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DED6E0-19C8-4B70-BB0B-C85F25A002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4437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66071-2F57-4F94-8D55-8C24035E2693}" type="datetime1">
              <a:rPr lang="en-IN" smtClean="0"/>
              <a:t>19-04-2025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DD686284-C436-7563-9C40-CAF05FD718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573" y="167640"/>
            <a:ext cx="6522720" cy="1182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740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1A28F-A65D-4473-86F3-54BF2E72B0A0}" type="datetime1">
              <a:rPr lang="en-IN" smtClean="0"/>
              <a:t>19-04-2025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D57221-4780-CE42-11D1-6A8EA37A50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1197" y="67147"/>
            <a:ext cx="2420803" cy="43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185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3ADA-C40A-4276-8510-32C8FF292436}" type="datetime1">
              <a:rPr lang="en-IN" smtClean="0"/>
              <a:t>19-04-2025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3F873DBF-4057-0BD8-AFEF-A364D5C736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1197" y="67147"/>
            <a:ext cx="2420803" cy="43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662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A3ADE-0AD4-4B52-8654-6CDBBED750F0}" type="datetime1">
              <a:rPr lang="en-IN" smtClean="0"/>
              <a:t>19-04-2025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mtClean="0"/>
              <a:t>‹#›</a:t>
            </a:fld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7E8B89-E463-2E32-5C28-5804ECCFAA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1197" y="67147"/>
            <a:ext cx="2420803" cy="43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271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5A1DD-16C8-475A-8C0C-6A5A0D813E26}" type="datetime1">
              <a:rPr lang="en-IN" smtClean="0"/>
              <a:t>19-04-2025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mtClean="0"/>
              <a:t>‹#›</a:t>
            </a:fld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A289B4-85C6-160F-9C9E-1032506122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1197" y="67147"/>
            <a:ext cx="2420803" cy="43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877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4618F-A83D-4DB4-8DE6-0F5D650A959D}" type="datetime1">
              <a:rPr lang="en-IN" smtClean="0"/>
              <a:t>19-04-2025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D9AD41-269E-FFCB-AE95-EA9FC001EA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1197" y="67147"/>
            <a:ext cx="2420803" cy="43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361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47124-8A93-4D31-9065-B2A0468D570E}" type="datetime1">
              <a:rPr lang="en-IN" smtClean="0"/>
              <a:t>19-04-2025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IN"/>
              <a:t>GTE BATCH II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mtClean="0"/>
              <a:t>‹#›</a:t>
            </a:fld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ADD1E45-B712-5E6B-6FBE-B0AEB29F36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1197" y="67147"/>
            <a:ext cx="2420803" cy="43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924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216124A-5009-4117-8CCB-9B8100BD532F}" type="datetime1">
              <a:rPr lang="en-IN" smtClean="0"/>
              <a:t>19-04-2025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IN"/>
              <a:t>GTE BATCH II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72F49F7-2F41-4FF4-97E3-BC1C0F86C8C5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CA5534A-E2DB-4466-5C9C-ACBE8F75D9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1197" y="67147"/>
            <a:ext cx="2420803" cy="43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114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3C71E-7DE2-4898-84C2-2C281AEE25AE}" type="datetime1">
              <a:rPr lang="en-IN" smtClean="0"/>
              <a:t>19-04-2025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0765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2177A-58BB-4053-B06F-D5FFD5904A0B}" type="datetime1">
              <a:rPr lang="en-IN" smtClean="0"/>
              <a:t>19-04-2025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966F9A-A7AA-AE3B-74C6-DED9D297CD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1197" y="67147"/>
            <a:ext cx="2420803" cy="43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32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0C78D-32AB-481A-AA3E-06D32D8FE799}" type="datetime1">
              <a:rPr lang="en-IN" smtClean="0"/>
              <a:t>19-04-2025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4500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CDFD627-E7D3-493A-AB09-36B17B54E276}" type="datetime1">
              <a:rPr lang="en-IN" smtClean="0"/>
              <a:t>19-04-2025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IN"/>
              <a:t>GTE BATCH II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72F49F7-2F41-4FF4-97E3-BC1C0F86C8C5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4988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>
            <a:extLst>
              <a:ext uri="{FF2B5EF4-FFF2-40B4-BE49-F238E27FC236}">
                <a16:creationId xmlns:a16="http://schemas.microsoft.com/office/drawing/2014/main" id="{40DB7FDB-CF16-6445-2B26-EC7A0EBAA6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7280" y="4719638"/>
            <a:ext cx="10058400" cy="11430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NO:24</a:t>
            </a:r>
          </a:p>
          <a:p>
            <a:r>
              <a:rPr lang="en-IN" alt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GTE BATCH-III (PROJECT WORK _ PHASE I)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ACA5E81-B169-91A4-A98C-5337404DE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536DD-49E1-4195-A03E-DA8709B0EA2B}" type="datetime1">
              <a:rPr lang="en-IN" sz="16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19-04-2025</a:t>
            </a:fld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DB44FC-A538-C984-24B7-D6B1AD41A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4E3ECB-D66F-E980-F1B5-2798E32C9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E1F176-E7A5-6ECE-E342-A1E31C2D6DBA}"/>
              </a:ext>
            </a:extLst>
          </p:cNvPr>
          <p:cNvSpPr txBox="1"/>
          <p:nvPr/>
        </p:nvSpPr>
        <p:spPr>
          <a:xfrm>
            <a:off x="135228" y="2024792"/>
            <a:ext cx="1192583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Advanced short circuit preventive mechanism for Electric vehicles</a:t>
            </a:r>
            <a:endParaRPr lang="en-IN" sz="5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0560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9F6E8-575C-945E-9CF3-E22440FBD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OBJECTIVE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BC214-CEF1-DB14-F7EA-D8C4E0EF9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083" y="2342507"/>
            <a:ext cx="10058400" cy="3350891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EVs face safety risks from short circuits and battery imbalance.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lack real-time detection and response.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 AI can monitor temperature, current, and voltage.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systems detect abnormalities in delay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7D07A-076F-E20C-9C3C-9EF34C62D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DB957-43A8-4BAB-A2CE-11CADCC53FA8}" type="datetime1">
              <a:rPr lang="en-IN" sz="16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19-04-2025</a:t>
            </a:fld>
            <a:endParaRPr lang="en-I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9FA8BB-E352-31B4-AFED-4352160FF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z="16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I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AA022-4181-62BB-F918-E4B7F654F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</p:spTree>
    <p:extLst>
      <p:ext uri="{BB962C8B-B14F-4D97-AF65-F5344CB8AC3E}">
        <p14:creationId xmlns:p14="http://schemas.microsoft.com/office/powerpoint/2010/main" val="1941015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FA7758F-D19F-0788-736B-757B8D1A8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430" y="-41740"/>
            <a:ext cx="10058400" cy="1330213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F8C83C7D-CB71-3C03-271E-FE724CE4BA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9608178"/>
              </p:ext>
            </p:extLst>
          </p:nvPr>
        </p:nvGraphicFramePr>
        <p:xfrm>
          <a:off x="592430" y="1446416"/>
          <a:ext cx="11088709" cy="469668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8422">
                  <a:extLst>
                    <a:ext uri="{9D8B030D-6E8A-4147-A177-3AD203B41FA5}">
                      <a16:colId xmlns:a16="http://schemas.microsoft.com/office/drawing/2014/main" val="3396984231"/>
                    </a:ext>
                  </a:extLst>
                </a:gridCol>
                <a:gridCol w="1842606">
                  <a:extLst>
                    <a:ext uri="{9D8B030D-6E8A-4147-A177-3AD203B41FA5}">
                      <a16:colId xmlns:a16="http://schemas.microsoft.com/office/drawing/2014/main" val="1733671280"/>
                    </a:ext>
                  </a:extLst>
                </a:gridCol>
                <a:gridCol w="3796106">
                  <a:extLst>
                    <a:ext uri="{9D8B030D-6E8A-4147-A177-3AD203B41FA5}">
                      <a16:colId xmlns:a16="http://schemas.microsoft.com/office/drawing/2014/main" val="4185633288"/>
                    </a:ext>
                  </a:extLst>
                </a:gridCol>
                <a:gridCol w="2228384">
                  <a:extLst>
                    <a:ext uri="{9D8B030D-6E8A-4147-A177-3AD203B41FA5}">
                      <a16:colId xmlns:a16="http://schemas.microsoft.com/office/drawing/2014/main" val="660934319"/>
                    </a:ext>
                  </a:extLst>
                </a:gridCol>
                <a:gridCol w="2553191">
                  <a:extLst>
                    <a:ext uri="{9D8B030D-6E8A-4147-A177-3AD203B41FA5}">
                      <a16:colId xmlns:a16="http://schemas.microsoft.com/office/drawing/2014/main" val="2887656272"/>
                    </a:ext>
                  </a:extLst>
                </a:gridCol>
              </a:tblGrid>
              <a:tr h="1247993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 Name &amp; Year of publication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System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1290042"/>
                  </a:ext>
                </a:extLst>
              </a:tr>
              <a:tr h="1208710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2024, IEEE Transactions on Industrial Electronics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"Quantitative Diagnosis of Internal Short Circuit for Lithium-Ion Batteries Using Relaxation Voltage"</a:t>
                      </a:r>
                      <a:endParaRPr lang="en-IN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Delayed fault response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Focuses primarily on diagnosis without providing real-time mitigation strategies for detected faults.</a:t>
                      </a:r>
                      <a:endParaRPr lang="en-IN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9316927"/>
                  </a:ext>
                </a:extLst>
              </a:tr>
              <a:tr h="1119993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2.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2024, IEEE Access</a:t>
                      </a:r>
                    </a:p>
                    <a:p>
                      <a:pPr algn="l"/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"Short Circuit Effects on HV Feeders of Optimally Located Electric Vehicle Fast Charging Stations"</a:t>
                      </a:r>
                      <a:endParaRPr lang="en-IN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altLang="en-US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en-US" sz="1600" dirty="0">
                          <a:latin typeface="Times New Roman" pitchFamily="18" charset="0"/>
                          <a:cs typeface="Times New Roman" pitchFamily="18" charset="0"/>
                        </a:rPr>
                        <a:t>Ground Fault Detection</a:t>
                      </a:r>
                    </a:p>
                    <a:p>
                      <a:endParaRPr lang="en-IN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Addresses stationary systems only; does not factor in dynamic or mobile EV charging scenarios.</a:t>
                      </a:r>
                      <a:endParaRPr lang="en-IN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6976671"/>
                  </a:ext>
                </a:extLst>
              </a:tr>
              <a:tr h="1119993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3.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2022, IEEE Transactions on Power Electronics</a:t>
                      </a:r>
                      <a:endParaRPr lang="en-IN" sz="1600" kern="1200" dirty="0">
                        <a:solidFill>
                          <a:schemeClr val="dk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"An Online Data-Driven Fault Diagnosis and Thermal Runaway Early Warning for Electric Vehicle Batteries"</a:t>
                      </a:r>
                      <a:endParaRPr lang="en-IN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en-US" sz="1600" dirty="0"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en-US" sz="1600" dirty="0">
                          <a:latin typeface="Times New Roman" pitchFamily="18" charset="0"/>
                          <a:cs typeface="Times New Roman" pitchFamily="18" charset="0"/>
                        </a:rPr>
                        <a:t>     Fuse Protection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Limited to battery systems; lacks consideration of external factors like environmental conditions.</a:t>
                      </a:r>
                      <a:endParaRPr lang="en-IN" sz="16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693775"/>
                  </a:ext>
                </a:extLst>
              </a:tr>
            </a:tbl>
          </a:graphicData>
        </a:graphic>
      </p:graphicFrame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EE0CC7C0-A173-42A3-F9D7-13111CABF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FB760-3CC9-4D69-B113-7E5474D03B43}" type="datetime1">
              <a:rPr lang="en-IN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19-04-2025</a:t>
            </a:fld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AD8AC24-5949-31E2-65D5-CBA83DFB7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478C188-9960-59B1-19F0-4164D326F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13BBD3B-26E5-DBB4-A2EF-FD3451191C11}"/>
              </a:ext>
            </a:extLst>
          </p:cNvPr>
          <p:cNvCxnSpPr>
            <a:cxnSpLocks/>
          </p:cNvCxnSpPr>
          <p:nvPr/>
        </p:nvCxnSpPr>
        <p:spPr>
          <a:xfrm>
            <a:off x="723207" y="1221971"/>
            <a:ext cx="992762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0378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CA719-1507-C2A1-574A-9A5A2E33A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3E3E8-5252-FF0A-F1D0-D89A3FC22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77553"/>
            <a:ext cx="10058400" cy="3492559"/>
          </a:xfrm>
        </p:spPr>
        <p:txBody>
          <a:bodyPr>
            <a:normAutofit fontScale="85000" lnSpcReduction="10000"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proposes an advanced short circuit prevention system for EVs to enhance safety and performance.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like fuses and breaks are too slow and reactive for modern EV needs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high-speed sensing, machine learning, and intelligent control to predict and prevent faults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components and self-diagnostics enable fast response, real-time monitoring, and auto-recovery.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predicts risks and suggests productive safety measures.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A6AD8-FE32-598B-2ADD-4AF7ABDD6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95038-5746-4D72-AC90-14380DBA6415}" type="datetime1">
              <a:rPr lang="en-IN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19-04-2025</a:t>
            </a:fld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EEDAC9-821D-7ABF-D2F2-00276F14E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D61707-B1B8-1B85-DAA4-8804D92D0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2E83F549-0B28-34B3-79FD-D025AEC7B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92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D34408-1381-1D4A-D70E-687423191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47124-8A93-4D31-9065-B2A0468D570E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19-04-2025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EA0B63-D9B6-9591-0CCE-DF15C8D4F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GTE BATCH II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CD2B93-F61D-3922-980E-4F69E6C1E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9CFDA7-06AF-1282-B446-55F1F87673F5}"/>
              </a:ext>
            </a:extLst>
          </p:cNvPr>
          <p:cNvSpPr txBox="1"/>
          <p:nvPr/>
        </p:nvSpPr>
        <p:spPr>
          <a:xfrm>
            <a:off x="1051239" y="752272"/>
            <a:ext cx="609492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A544399-9589-5112-D5BC-F871ACFC21A0}"/>
              </a:ext>
            </a:extLst>
          </p:cNvPr>
          <p:cNvCxnSpPr>
            <a:cxnSpLocks/>
          </p:cNvCxnSpPr>
          <p:nvPr/>
        </p:nvCxnSpPr>
        <p:spPr>
          <a:xfrm flipV="1">
            <a:off x="1229932" y="1521713"/>
            <a:ext cx="9472412" cy="1010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12D1025-5363-DC0E-F543-3F0BD92C6917}"/>
              </a:ext>
            </a:extLst>
          </p:cNvPr>
          <p:cNvSpPr/>
          <p:nvPr/>
        </p:nvSpPr>
        <p:spPr>
          <a:xfrm>
            <a:off x="1384478" y="2376152"/>
            <a:ext cx="1631281" cy="71477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C431F74-ECCD-4739-219B-C503522134DF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3015759" y="2733541"/>
            <a:ext cx="7602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36D5D215-9083-B238-ED79-CCAAE4CF6F30}"/>
              </a:ext>
            </a:extLst>
          </p:cNvPr>
          <p:cNvSpPr/>
          <p:nvPr/>
        </p:nvSpPr>
        <p:spPr>
          <a:xfrm>
            <a:off x="3776001" y="2376152"/>
            <a:ext cx="1631281" cy="71477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04EA9D1-9D46-932B-E09B-F146694F9915}"/>
              </a:ext>
            </a:extLst>
          </p:cNvPr>
          <p:cNvCxnSpPr>
            <a:cxnSpLocks/>
          </p:cNvCxnSpPr>
          <p:nvPr/>
        </p:nvCxnSpPr>
        <p:spPr>
          <a:xfrm>
            <a:off x="5407282" y="2733541"/>
            <a:ext cx="7602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E505FED6-C2A6-C1C1-FA91-5AFD86BEECB1}"/>
              </a:ext>
            </a:extLst>
          </p:cNvPr>
          <p:cNvSpPr/>
          <p:nvPr/>
        </p:nvSpPr>
        <p:spPr>
          <a:xfrm>
            <a:off x="6167524" y="2392179"/>
            <a:ext cx="1631281" cy="71477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980DC90-A980-AF40-618E-F0DE830817A8}"/>
              </a:ext>
            </a:extLst>
          </p:cNvPr>
          <p:cNvCxnSpPr>
            <a:cxnSpLocks/>
          </p:cNvCxnSpPr>
          <p:nvPr/>
        </p:nvCxnSpPr>
        <p:spPr>
          <a:xfrm>
            <a:off x="7798805" y="2749568"/>
            <a:ext cx="7602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181280AE-BB5C-F2CD-2D9B-0C8FF1D6689D}"/>
              </a:ext>
            </a:extLst>
          </p:cNvPr>
          <p:cNvSpPr/>
          <p:nvPr/>
        </p:nvSpPr>
        <p:spPr>
          <a:xfrm>
            <a:off x="8559047" y="2446938"/>
            <a:ext cx="1692536" cy="71477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Implementation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9B55493-CB72-47B1-5570-7BFE69A60FC1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10251583" y="2804327"/>
            <a:ext cx="7367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0C595D3-0AD9-8B24-A89B-0CA9EC67591E}"/>
              </a:ext>
            </a:extLst>
          </p:cNvPr>
          <p:cNvCxnSpPr>
            <a:cxnSpLocks/>
          </p:cNvCxnSpPr>
          <p:nvPr/>
        </p:nvCxnSpPr>
        <p:spPr>
          <a:xfrm flipH="1">
            <a:off x="10988362" y="2804327"/>
            <a:ext cx="1" cy="17035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B64C0CD-4D6C-08CA-5F56-7E5E911D1E8E}"/>
              </a:ext>
            </a:extLst>
          </p:cNvPr>
          <p:cNvCxnSpPr>
            <a:cxnSpLocks/>
            <a:endCxn id="51" idx="3"/>
          </p:cNvCxnSpPr>
          <p:nvPr/>
        </p:nvCxnSpPr>
        <p:spPr>
          <a:xfrm flipH="1">
            <a:off x="10251584" y="4507912"/>
            <a:ext cx="7367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16989CB-9151-14B2-3877-2AD990DC707F}"/>
              </a:ext>
            </a:extLst>
          </p:cNvPr>
          <p:cNvCxnSpPr>
            <a:cxnSpLocks/>
          </p:cNvCxnSpPr>
          <p:nvPr/>
        </p:nvCxnSpPr>
        <p:spPr>
          <a:xfrm>
            <a:off x="10251583" y="2804327"/>
            <a:ext cx="4020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8B90814E-985A-5B5A-E41B-11678F41C196}"/>
              </a:ext>
            </a:extLst>
          </p:cNvPr>
          <p:cNvSpPr/>
          <p:nvPr/>
        </p:nvSpPr>
        <p:spPr>
          <a:xfrm>
            <a:off x="8559048" y="4150523"/>
            <a:ext cx="1692536" cy="71477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Integration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5B978B6-C374-998C-721F-A3D55A296852}"/>
              </a:ext>
            </a:extLst>
          </p:cNvPr>
          <p:cNvSpPr/>
          <p:nvPr/>
        </p:nvSpPr>
        <p:spPr>
          <a:xfrm>
            <a:off x="6167524" y="4150523"/>
            <a:ext cx="1631281" cy="71477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AE81DF0-CD85-4B42-CD9C-23F69D3DB6AC}"/>
              </a:ext>
            </a:extLst>
          </p:cNvPr>
          <p:cNvSpPr/>
          <p:nvPr/>
        </p:nvSpPr>
        <p:spPr>
          <a:xfrm>
            <a:off x="3775999" y="4150523"/>
            <a:ext cx="1631282" cy="71477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297758C-11A7-19D2-2606-1981B1E1482C}"/>
              </a:ext>
            </a:extLst>
          </p:cNvPr>
          <p:cNvCxnSpPr>
            <a:cxnSpLocks/>
            <a:stCxn id="51" idx="1"/>
            <a:endCxn id="52" idx="3"/>
          </p:cNvCxnSpPr>
          <p:nvPr/>
        </p:nvCxnSpPr>
        <p:spPr>
          <a:xfrm flipH="1">
            <a:off x="7798805" y="4507912"/>
            <a:ext cx="7602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0826352A-2C77-30D0-ED71-52413F24105A}"/>
              </a:ext>
            </a:extLst>
          </p:cNvPr>
          <p:cNvCxnSpPr>
            <a:cxnSpLocks/>
            <a:endCxn id="53" idx="3"/>
          </p:cNvCxnSpPr>
          <p:nvPr/>
        </p:nvCxnSpPr>
        <p:spPr>
          <a:xfrm flipH="1">
            <a:off x="5407281" y="4507912"/>
            <a:ext cx="7602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4ABBA90-8E6A-3CF5-1F64-ADBC754016EB}"/>
              </a:ext>
            </a:extLst>
          </p:cNvPr>
          <p:cNvCxnSpPr>
            <a:cxnSpLocks/>
            <a:stCxn id="53" idx="1"/>
            <a:endCxn id="72" idx="3"/>
          </p:cNvCxnSpPr>
          <p:nvPr/>
        </p:nvCxnSpPr>
        <p:spPr>
          <a:xfrm flipH="1">
            <a:off x="3015756" y="4507912"/>
            <a:ext cx="7602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B0DB87A6-B10E-7ECA-C8AC-A36869BA36AB}"/>
              </a:ext>
            </a:extLst>
          </p:cNvPr>
          <p:cNvSpPr/>
          <p:nvPr/>
        </p:nvSpPr>
        <p:spPr>
          <a:xfrm>
            <a:off x="1384474" y="4150523"/>
            <a:ext cx="1631282" cy="71477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Development</a:t>
            </a:r>
          </a:p>
        </p:txBody>
      </p:sp>
    </p:spTree>
    <p:extLst>
      <p:ext uri="{BB962C8B-B14F-4D97-AF65-F5344CB8AC3E}">
        <p14:creationId xmlns:p14="http://schemas.microsoft.com/office/powerpoint/2010/main" val="883739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201CBF-E276-AC6E-1063-4231BEEE3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47124-8A93-4D31-9065-B2A0468D570E}" type="datetime1">
              <a:rPr lang="en-IN" smtClean="0"/>
              <a:t>19-04-2025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716E2A-C3BD-F950-9E90-43ABB162B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5C000-AD14-0A35-3F6D-8DB50B521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mtClean="0"/>
              <a:t>6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0D2A76-D636-E459-74D2-C969F75D8C2F}"/>
              </a:ext>
            </a:extLst>
          </p:cNvPr>
          <p:cNvSpPr txBox="1"/>
          <p:nvPr/>
        </p:nvSpPr>
        <p:spPr>
          <a:xfrm>
            <a:off x="845821" y="792080"/>
            <a:ext cx="609738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IN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for Implementation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00224A-78EC-6684-69AE-8CE48B03471E}"/>
              </a:ext>
            </a:extLst>
          </p:cNvPr>
          <p:cNvSpPr txBox="1"/>
          <p:nvPr/>
        </p:nvSpPr>
        <p:spPr>
          <a:xfrm>
            <a:off x="1097279" y="2202841"/>
            <a:ext cx="1025790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I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Circuit Protection System (Real-Time Monitoring)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IN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I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Fault Detection Algorithms (AI-Based Prediction)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IN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I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High-Speed Solid-State Circuit Breakers (</a:t>
            </a:r>
            <a:r>
              <a:rPr lang="en-IN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SSCB</a:t>
            </a:r>
            <a:r>
              <a:rPr lang="en-I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en-IN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I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Load Balancing &amp; Thermal Management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6C414A8-8127-CD1B-82C7-3581416610AC}"/>
              </a:ext>
            </a:extLst>
          </p:cNvPr>
          <p:cNvCxnSpPr>
            <a:cxnSpLocks/>
          </p:cNvCxnSpPr>
          <p:nvPr/>
        </p:nvCxnSpPr>
        <p:spPr>
          <a:xfrm>
            <a:off x="1097280" y="1561521"/>
            <a:ext cx="936399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1647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C8868F-CC8E-C608-11E0-B1AFFF75D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47124-8A93-4D31-9065-B2A0468D570E}" type="datetime1">
              <a:rPr lang="en-IN" smtClean="0"/>
              <a:t>19-04-2025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E4C245-C6E6-5DBD-E6D9-740054FAB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064849-EF3A-D3FB-7705-F620CC53C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mtClean="0"/>
              <a:t>7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3D417E-F94B-83BF-269E-2D91E364E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415" y="1817191"/>
            <a:ext cx="7770813" cy="392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4C104C-B57F-530E-3D63-6FC87AD448AA}"/>
              </a:ext>
            </a:extLst>
          </p:cNvPr>
          <p:cNvSpPr txBox="1"/>
          <p:nvPr/>
        </p:nvSpPr>
        <p:spPr>
          <a:xfrm>
            <a:off x="1269769" y="775454"/>
            <a:ext cx="694320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IN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of Proposed Method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63CB315-8041-BEF0-903C-3A0F209ED398}"/>
              </a:ext>
            </a:extLst>
          </p:cNvPr>
          <p:cNvCxnSpPr>
            <a:cxnSpLocks/>
          </p:cNvCxnSpPr>
          <p:nvPr/>
        </p:nvCxnSpPr>
        <p:spPr>
          <a:xfrm flipV="1">
            <a:off x="1269769" y="1521713"/>
            <a:ext cx="9432575" cy="231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5821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EE5212-8CB0-E2E3-E31E-0B4867053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47124-8A93-4D31-9065-B2A0468D570E}" type="datetime1">
              <a:rPr lang="en-IN" smtClean="0"/>
              <a:t>19-04-2025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29B310-0E9E-07C9-EEE4-20005D1EA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3B6BDF-F778-657F-FCCD-634EFEAA0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mtClean="0"/>
              <a:t>8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D98854-8A6B-2954-AE84-99A41CC31830}"/>
              </a:ext>
            </a:extLst>
          </p:cNvPr>
          <p:cNvSpPr txBox="1"/>
          <p:nvPr/>
        </p:nvSpPr>
        <p:spPr>
          <a:xfrm>
            <a:off x="995449" y="728394"/>
            <a:ext cx="609738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GB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Results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543E4F-69DD-EF05-E77C-442C5F751E9F}"/>
              </a:ext>
            </a:extLst>
          </p:cNvPr>
          <p:cNvCxnSpPr>
            <a:cxnSpLocks/>
          </p:cNvCxnSpPr>
          <p:nvPr/>
        </p:nvCxnSpPr>
        <p:spPr>
          <a:xfrm flipV="1">
            <a:off x="1097280" y="1497835"/>
            <a:ext cx="9385069" cy="6368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681DE43-8706-64ED-6982-1D38141B9B76}"/>
              </a:ext>
            </a:extLst>
          </p:cNvPr>
          <p:cNvSpPr txBox="1"/>
          <p:nvPr/>
        </p:nvSpPr>
        <p:spPr>
          <a:xfrm>
            <a:off x="1218160" y="2267276"/>
            <a:ext cx="914330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1" hangingPunct="1"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Circuit Isolation</a:t>
            </a:r>
          </a:p>
          <a:p>
            <a:pPr marL="342900" indent="-342900" eaLnBrk="1" hangingPunct="1">
              <a:buFont typeface="+mj-lt"/>
              <a:buAutoNum type="arabicPeriod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1" hangingPunct="1"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Systematic Component Disconnection</a:t>
            </a:r>
          </a:p>
          <a:p>
            <a:pPr marL="342900" indent="-342900" eaLnBrk="1" hangingPunct="1">
              <a:buFont typeface="+mj-lt"/>
              <a:buAutoNum type="arabicPeriod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1" hangingPunct="1"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Proactive approach</a:t>
            </a:r>
          </a:p>
          <a:p>
            <a:pPr marL="342900" indent="-342900" eaLnBrk="1" hangingPunct="1">
              <a:buFont typeface="+mj-lt"/>
              <a:buAutoNum type="arabicPeriod"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1" hangingPunct="1">
              <a:buFont typeface="+mj-lt"/>
              <a:buAutoNum type="arabicPeriod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Fault Prediction by continuously Monitoring the electrical Parameters</a:t>
            </a: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0194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4039A-88A4-278A-6376-DD89FA57B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STRENGTH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1F710-E8CE-0C70-F6DE-4ABBA0651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735" y="1845734"/>
            <a:ext cx="10290454" cy="378198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and Roles –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          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Subash P (GTE3B2561):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Responsible for  data collection, and preparing project presentations.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Nathish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(GTE3A2544):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Contributed by helping in project documentation.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Sujit M(GTE3B2562):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Focused on studying previous research papers to gather useful data,  assisted in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presentation work.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Monish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(GTE3A2542):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Sensors Specific Datasheet Documentation and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Libray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collected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Sarvesh M D (GTE3A2554):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Supported for Documentation.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  <a:p>
            <a:pPr marL="0" indent="0">
              <a:buNone/>
            </a:pPr>
            <a:r>
              <a:rPr lang="en-IN" sz="1800" b="1" dirty="0"/>
              <a:t>           </a:t>
            </a:r>
            <a:endParaRPr lang="en-IN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E6E67-9444-F3C1-62F7-4A99C6761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38A60-4563-4A09-AD58-5EF9B34A3C45}" type="datetime1">
              <a:rPr lang="en-IN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19-04-2025</a:t>
            </a:fld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74E29C-A1E6-7B2C-0832-38AA840B8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EE4E8A-CD19-14AD-D09E-89090EE48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</p:spTree>
    <p:extLst>
      <p:ext uri="{BB962C8B-B14F-4D97-AF65-F5344CB8AC3E}">
        <p14:creationId xmlns:p14="http://schemas.microsoft.com/office/powerpoint/2010/main" val="99786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4BC1D-6716-7CA8-D750-4F144D698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353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PROJECT PLAN &amp; COST ANALYSIS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D7C0C-F84C-965F-957C-E2DE1E587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3836" y="2361341"/>
            <a:ext cx="9660175" cy="30563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Phases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&amp; Research – Topic finalized, basic study completed.</a:t>
            </a:r>
          </a:p>
          <a:p>
            <a:pPr>
              <a:buFont typeface="+mj-lt"/>
              <a:buAutoNum type="arabicPeriod"/>
            </a:pP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– Sensor logic and  setup in progress.</a:t>
            </a:r>
          </a:p>
          <a:p>
            <a:pPr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Refinement – Yet to begin, planned next.</a:t>
            </a:r>
          </a:p>
          <a:p>
            <a:pPr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&amp; Presentation – To be done at the end</a:t>
            </a:r>
            <a:r>
              <a:rPr lang="en-IN" sz="2400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62DD7-6D6D-47B1-8FB7-3C58C82E3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DA4E1-04DD-4C35-A5C2-F877287BC57C}" type="datetime1">
              <a:rPr lang="en-IN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19-04-2025</a:t>
            </a:fld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9A6668-D551-A875-19C2-CFDACAB87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z="16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10B1BB-829D-5570-FD4C-E875D2879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</p:spTree>
    <p:extLst>
      <p:ext uri="{BB962C8B-B14F-4D97-AF65-F5344CB8AC3E}">
        <p14:creationId xmlns:p14="http://schemas.microsoft.com/office/powerpoint/2010/main" val="1099414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7D7C6F-7DF3-92A3-C989-9DC6D62BD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47124-8A93-4D31-9065-B2A0468D570E}" type="datetime1">
              <a:rPr lang="en-IN" smtClean="0"/>
              <a:t>19-04-2025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4A488B-FDAA-47EF-7BE9-797E03EF9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16C5B-4BCD-453B-AF6C-A79C1F90B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mtClean="0"/>
              <a:t>11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7AFA8D-BA07-CCC1-0584-C06682AC411C}"/>
              </a:ext>
            </a:extLst>
          </p:cNvPr>
          <p:cNvSpPr txBox="1"/>
          <p:nvPr/>
        </p:nvSpPr>
        <p:spPr>
          <a:xfrm>
            <a:off x="1032560" y="600133"/>
            <a:ext cx="93001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 &amp; COST ANALYSIS</a:t>
            </a:r>
            <a:endParaRPr lang="en-IN" sz="4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41D9B3-62AB-CBC4-F024-D76F14C09F60}"/>
              </a:ext>
            </a:extLst>
          </p:cNvPr>
          <p:cNvSpPr txBox="1"/>
          <p:nvPr/>
        </p:nvSpPr>
        <p:spPr>
          <a:xfrm>
            <a:off x="1481447" y="1507808"/>
            <a:ext cx="944385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Milestones &amp; Deliverables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1–2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Topic finalization, team role distribution, research.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3–4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Select sensors that can accurately detect the mechanism 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5–6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Choose the components to built the kit.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7. 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Assemble components and System Integration 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8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Final report, presentation, and documentation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941A4E-D2E4-66D3-809B-1AC59B145A25}"/>
              </a:ext>
            </a:extLst>
          </p:cNvPr>
          <p:cNvSpPr txBox="1"/>
          <p:nvPr/>
        </p:nvSpPr>
        <p:spPr>
          <a:xfrm>
            <a:off x="1481447" y="4015921"/>
            <a:ext cx="609797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Plan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Weekly check-ins for progress updates.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 Google Drive for all resources.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WhatsApp group for daily coordination</a:t>
            </a:r>
            <a:r>
              <a:rPr lang="en-IN" dirty="0"/>
              <a:t>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F6BF49A-1C45-1636-261E-7AD065EF315C}"/>
              </a:ext>
            </a:extLst>
          </p:cNvPr>
          <p:cNvCxnSpPr>
            <a:cxnSpLocks/>
          </p:cNvCxnSpPr>
          <p:nvPr/>
        </p:nvCxnSpPr>
        <p:spPr>
          <a:xfrm flipV="1">
            <a:off x="1097280" y="1345807"/>
            <a:ext cx="9605064" cy="237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7598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2B43E5-6C7F-2323-D1B9-863558F1C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47124-8A93-4D31-9065-B2A0468D570E}" type="datetime1">
              <a:rPr lang="en-IN" smtClean="0"/>
              <a:t>19-04-2025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4D428A-EC2F-508A-BCCE-EE4FB1448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E59BA-2ADF-11A8-54A3-7F5CF166C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mtClean="0"/>
              <a:t>12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F7C415-2DF6-E0E9-8394-04AFC44CC175}"/>
              </a:ext>
            </a:extLst>
          </p:cNvPr>
          <p:cNvSpPr txBox="1"/>
          <p:nvPr/>
        </p:nvSpPr>
        <p:spPr>
          <a:xfrm>
            <a:off x="697084" y="360547"/>
            <a:ext cx="978615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 &amp; COST ANALYSIS</a:t>
            </a:r>
            <a:endParaRPr lang="en-IN" sz="44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FE1DCCA-D003-9E71-0D57-289B378FB373}"/>
              </a:ext>
            </a:extLst>
          </p:cNvPr>
          <p:cNvCxnSpPr>
            <a:cxnSpLocks/>
          </p:cNvCxnSpPr>
          <p:nvPr/>
        </p:nvCxnSpPr>
        <p:spPr>
          <a:xfrm flipV="1">
            <a:off x="787631" y="1106221"/>
            <a:ext cx="9605064" cy="237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A41A840-B518-E733-6900-D79547750F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709377"/>
              </p:ext>
            </p:extLst>
          </p:nvPr>
        </p:nvGraphicFramePr>
        <p:xfrm>
          <a:off x="1014153" y="1221972"/>
          <a:ext cx="9900458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5432">
                  <a:extLst>
                    <a:ext uri="{9D8B030D-6E8A-4147-A177-3AD203B41FA5}">
                      <a16:colId xmlns:a16="http://schemas.microsoft.com/office/drawing/2014/main" val="3556358386"/>
                    </a:ext>
                  </a:extLst>
                </a:gridCol>
                <a:gridCol w="2365958">
                  <a:extLst>
                    <a:ext uri="{9D8B030D-6E8A-4147-A177-3AD203B41FA5}">
                      <a16:colId xmlns:a16="http://schemas.microsoft.com/office/drawing/2014/main" val="2282063065"/>
                    </a:ext>
                  </a:extLst>
                </a:gridCol>
                <a:gridCol w="1276165">
                  <a:extLst>
                    <a:ext uri="{9D8B030D-6E8A-4147-A177-3AD203B41FA5}">
                      <a16:colId xmlns:a16="http://schemas.microsoft.com/office/drawing/2014/main" val="1631282319"/>
                    </a:ext>
                  </a:extLst>
                </a:gridCol>
                <a:gridCol w="2750279">
                  <a:extLst>
                    <a:ext uri="{9D8B030D-6E8A-4147-A177-3AD203B41FA5}">
                      <a16:colId xmlns:a16="http://schemas.microsoft.com/office/drawing/2014/main" val="1773048341"/>
                    </a:ext>
                  </a:extLst>
                </a:gridCol>
                <a:gridCol w="2852624">
                  <a:extLst>
                    <a:ext uri="{9D8B030D-6E8A-4147-A177-3AD203B41FA5}">
                      <a16:colId xmlns:a16="http://schemas.microsoft.com/office/drawing/2014/main" val="4106954398"/>
                    </a:ext>
                  </a:extLst>
                </a:gridCol>
              </a:tblGrid>
              <a:tr h="622673">
                <a:tc>
                  <a:txBody>
                    <a:bodyPr/>
                    <a:lstStyle/>
                    <a:p>
                      <a:r>
                        <a:rPr lang="en-IN" dirty="0"/>
                        <a:t>  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COST </a:t>
                      </a:r>
                      <a:r>
                        <a:rPr lang="en-IN" dirty="0" err="1"/>
                        <a:t>CENTER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   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RATE PER EACH  (IND ₹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 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APPROX COST</a:t>
                      </a:r>
                    </a:p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(IND ₹ 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4809704"/>
                  </a:ext>
                </a:extLst>
              </a:tr>
              <a:tr h="360754">
                <a:tc>
                  <a:txBody>
                    <a:bodyPr/>
                    <a:lstStyle/>
                    <a:p>
                      <a:r>
                        <a:rPr lang="en-IN" dirty="0"/>
                        <a:t>   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 SENSORS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1050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0182521"/>
                  </a:ext>
                </a:extLst>
              </a:tr>
              <a:tr h="360754">
                <a:tc>
                  <a:txBody>
                    <a:bodyPr/>
                    <a:lstStyle/>
                    <a:p>
                      <a:r>
                        <a:rPr lang="en-IN" dirty="0"/>
                        <a:t>   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CONTROLLER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 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 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3175037"/>
                  </a:ext>
                </a:extLst>
              </a:tr>
              <a:tr h="360754">
                <a:tc>
                  <a:txBody>
                    <a:bodyPr/>
                    <a:lstStyle/>
                    <a:p>
                      <a:r>
                        <a:rPr lang="en-IN" dirty="0"/>
                        <a:t>   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 LITHIUM BATTERY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 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 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8280179"/>
                  </a:ext>
                </a:extLst>
              </a:tr>
              <a:tr h="360754">
                <a:tc>
                  <a:txBody>
                    <a:bodyPr/>
                    <a:lstStyle/>
                    <a:p>
                      <a:r>
                        <a:rPr lang="en-IN" dirty="0"/>
                        <a:t>   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RELAY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   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   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5056575"/>
                  </a:ext>
                </a:extLst>
              </a:tr>
              <a:tr h="360754">
                <a:tc>
                  <a:txBody>
                    <a:bodyPr/>
                    <a:lstStyle/>
                    <a:p>
                      <a:r>
                        <a:rPr lang="en-IN" dirty="0"/>
                        <a:t>   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SWITCH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 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 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162807"/>
                  </a:ext>
                </a:extLst>
              </a:tr>
              <a:tr h="360754">
                <a:tc>
                  <a:txBody>
                    <a:bodyPr/>
                    <a:lstStyle/>
                    <a:p>
                      <a:r>
                        <a:rPr lang="en-IN" dirty="0"/>
                        <a:t>   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LCD DISPLAY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   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   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150080"/>
                  </a:ext>
                </a:extLst>
              </a:tr>
              <a:tr h="360754">
                <a:tc>
                  <a:txBody>
                    <a:bodyPr/>
                    <a:lstStyle/>
                    <a:p>
                      <a:r>
                        <a:rPr lang="en-IN" dirty="0"/>
                        <a:t>   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 5V DC COOLING FAN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 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  175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5717508"/>
                  </a:ext>
                </a:extLst>
              </a:tr>
              <a:tr h="360754">
                <a:tc>
                  <a:txBody>
                    <a:bodyPr/>
                    <a:lstStyle/>
                    <a:p>
                      <a:r>
                        <a:rPr lang="en-IN" dirty="0"/>
                        <a:t>   8.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BMS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  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  350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9188566"/>
                  </a:ext>
                </a:extLst>
              </a:tr>
              <a:tr h="360754">
                <a:tc>
                  <a:txBody>
                    <a:bodyPr/>
                    <a:lstStyle/>
                    <a:p>
                      <a:r>
                        <a:rPr lang="en-IN" dirty="0"/>
                        <a:t>   9.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GSM900A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  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  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2560941"/>
                  </a:ext>
                </a:extLst>
              </a:tr>
              <a:tr h="360754">
                <a:tc>
                  <a:txBody>
                    <a:bodyPr/>
                    <a:lstStyle/>
                    <a:p>
                      <a:r>
                        <a:rPr lang="en-IN" dirty="0"/>
                        <a:t>  10.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DIODE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  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   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8821438"/>
                  </a:ext>
                </a:extLst>
              </a:tr>
              <a:tr h="360754">
                <a:tc>
                  <a:txBody>
                    <a:bodyPr/>
                    <a:lstStyle/>
                    <a:p>
                      <a:r>
                        <a:rPr lang="en-IN" dirty="0"/>
                        <a:t>  11.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CONNECTING WIRES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   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   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377369"/>
                  </a:ext>
                </a:extLst>
              </a:tr>
              <a:tr h="360754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                 3710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0213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838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FFEC8C-EE83-548A-9AF9-0901B78D3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47124-8A93-4D31-9065-B2A0468D570E}" type="datetime1">
              <a:rPr lang="en-IN" smtClean="0"/>
              <a:t>19-04-2025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EDFDA2-70D9-E001-D0D5-F41F8ADAE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73FFD-99D2-3656-F88D-506067760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mtClean="0"/>
              <a:t>13</a:t>
            </a:fld>
            <a:endParaRPr lang="en-IN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836E83A-A559-66C3-5422-F7735E76C3AE}"/>
              </a:ext>
            </a:extLst>
          </p:cNvPr>
          <p:cNvSpPr txBox="1">
            <a:spLocks/>
          </p:cNvSpPr>
          <p:nvPr/>
        </p:nvSpPr>
        <p:spPr>
          <a:xfrm>
            <a:off x="2852670" y="3342068"/>
            <a:ext cx="8303010" cy="2527026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908E98-1802-BDB1-8AAD-196C724FA3B8}"/>
              </a:ext>
            </a:extLst>
          </p:cNvPr>
          <p:cNvSpPr txBox="1"/>
          <p:nvPr/>
        </p:nvSpPr>
        <p:spPr>
          <a:xfrm>
            <a:off x="1161674" y="763525"/>
            <a:ext cx="272774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BA9CD6E-9A00-B863-AD90-4612FA5D53A4}"/>
              </a:ext>
            </a:extLst>
          </p:cNvPr>
          <p:cNvCxnSpPr>
            <a:cxnSpLocks/>
          </p:cNvCxnSpPr>
          <p:nvPr/>
        </p:nvCxnSpPr>
        <p:spPr>
          <a:xfrm>
            <a:off x="1281448" y="1652477"/>
            <a:ext cx="967847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456A590-143B-917B-2BD0-E3D972CC0F43}"/>
              </a:ext>
            </a:extLst>
          </p:cNvPr>
          <p:cNvSpPr txBox="1"/>
          <p:nvPr/>
        </p:nvSpPr>
        <p:spPr>
          <a:xfrm>
            <a:off x="1161674" y="2243169"/>
            <a:ext cx="1020650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D. Qiao et al., "Quantitative Diagnosis of Internal Short Circuit for Lithium-Ion Batteries Using Relaxation Voltage," in IEEE Transactions on Industrial Electronics, vol. 71, no. 10, pp. 13201-13210, Oct. 2024,doi: 10.1109/TIE.2023.3342289.</a:t>
            </a:r>
          </a:p>
          <a:p>
            <a:pPr marL="0" indent="0" eaLnBrk="1" hangingPunct="1">
              <a:buFont typeface="Arial" panose="020B0604020202020204" pitchFamily="34" charset="0"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D. Walch, A. Geiger and C.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Sültrop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"Inter-Turn Short Circuit Faults and Mitigation Measures for Dual-Three Phase Machines," 2024 International Conference on Electrical Machines (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ICEM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Torino, Italy, 2024, pp. 1-7,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10.1109/ICEM60801.2024.10700240.</a:t>
            </a:r>
          </a:p>
          <a:p>
            <a:pPr marL="0" indent="0" eaLnBrk="1" hangingPunct="1">
              <a:buFont typeface="Arial" panose="020B0604020202020204" pitchFamily="34" charset="0"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I. Husain et al., "Electric Drive Technology Trends, Challenges, and Opportunities for Future Electric Vehicles," in Proceedings of the IEEE, vol. 109, no. 6, pp. 1039-1059, June 2021,doi: 10.1109/JPROC.2020.3046112.</a:t>
            </a:r>
          </a:p>
          <a:p>
            <a:pPr marL="0" indent="0" eaLnBrk="1" hangingPunct="1">
              <a:buFont typeface="Arial" panose="020B0604020202020204" pitchFamily="34" charset="0"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466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F06F21-DC26-4F48-4E1A-28E423DFF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47124-8A93-4D31-9065-B2A0468D570E}" type="datetime1">
              <a:rPr lang="en-IN" smtClean="0"/>
              <a:t>19-04-2025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FF2ED8-4AC4-C0A4-1000-C5981EEDD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GTE BATCH II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BAF7D-B0A4-98FB-BFF4-1B2F1614A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F49F7-2F41-4FF4-97E3-BC1C0F86C8C5}" type="slidenum">
              <a:rPr lang="en-IN" smtClean="0"/>
              <a:t>14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D11127-F343-567A-C340-34898987F4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004" y="940069"/>
            <a:ext cx="9305979" cy="5194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22974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416</TotalTime>
  <Words>961</Words>
  <Application>Microsoft Office PowerPoint</Application>
  <PresentationFormat>Widescreen</PresentationFormat>
  <Paragraphs>207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Retrospect</vt:lpstr>
      <vt:lpstr>PowerPoint Presentation</vt:lpstr>
      <vt:lpstr>PROBLEM STATEMENT &amp; OBJECTIVE</vt:lpstr>
      <vt:lpstr>LITERATURE REVIEW</vt:lpstr>
      <vt:lpstr>ABSTRACT</vt:lpstr>
      <vt:lpstr>PowerPoint Presentation</vt:lpstr>
      <vt:lpstr>PowerPoint Presentation</vt:lpstr>
      <vt:lpstr>PowerPoint Presentation</vt:lpstr>
      <vt:lpstr>PowerPoint Presentation</vt:lpstr>
      <vt:lpstr>TEAM STRENGTH</vt:lpstr>
      <vt:lpstr>   PROJECT PLAN &amp; COST ANALYSIS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Suvetha PS</dc:creator>
  <cp:lastModifiedBy>subash P</cp:lastModifiedBy>
  <cp:revision>15</cp:revision>
  <dcterms:created xsi:type="dcterms:W3CDTF">2024-06-19T07:02:26Z</dcterms:created>
  <dcterms:modified xsi:type="dcterms:W3CDTF">2025-04-19T03:40:26Z</dcterms:modified>
</cp:coreProperties>
</file>
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3" r:id="rId4"/>
    <p:sldId id="267" r:id="rId5"/>
    <p:sldId id="284" r:id="rId6"/>
    <p:sldId id="259" r:id="rId7"/>
    <p:sldId id="285" r:id="rId8"/>
    <p:sldId id="262" r:id="rId9"/>
    <p:sldId id="266" r:id="rId10"/>
    <p:sldId id="261" r:id="rId11"/>
    <p:sldId id="281" r:id="rId12"/>
    <p:sldId id="280" r:id="rId13"/>
    <p:sldId id="282" r:id="rId14"/>
    <p:sldId id="268" r:id="rId15"/>
    <p:sldId id="290" r:id="rId16"/>
    <p:sldId id="269" r:id="rId17"/>
    <p:sldId id="265" r:id="rId18"/>
    <p:sldId id="287" r:id="rId19"/>
    <p:sldId id="289" r:id="rId20"/>
    <p:sldId id="273" r:id="rId21"/>
    <p:sldId id="274" r:id="rId22"/>
    <p:sldId id="278" r:id="rId23"/>
    <p:sldId id="279" r:id="rId24"/>
    <p:sldId id="275"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AEE77F-7E56-456B-B407-30CDA76DC759}" v="71" dt="2025-04-20T11:05:00.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38" autoAdjust="0"/>
    <p:restoredTop sz="94660"/>
  </p:normalViewPr>
  <p:slideViewPr>
    <p:cSldViewPr snapToGrid="0">
      <p:cViewPr varScale="1">
        <p:scale>
          <a:sx n="82" d="100"/>
          <a:sy n="82" d="100"/>
        </p:scale>
        <p:origin x="48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692ACB-5A05-E04C-639C-761EB12D2310}"/>
              </a:ext>
            </a:extLst>
          </p:cNvPr>
          <p:cNvSpPr>
            <a:spLocks noGrp="1"/>
          </p:cNvSpPr>
          <p:nvPr>
            <p:ph type="dt" sz="half" idx="10"/>
          </p:nvPr>
        </p:nvSpPr>
        <p:spPr/>
        <p:txBody>
          <a:bodyPr/>
          <a:lstStyle>
            <a:lvl1pPr>
              <a:defRPr/>
            </a:lvl1pPr>
          </a:lstStyle>
          <a:p>
            <a:pPr>
              <a:defRPr/>
            </a:pPr>
            <a:fld id="{ED2E52D2-EAE8-4A90-8CAE-B67CBDCE81B3}" type="datetimeFigureOut">
              <a:rPr lang="en-US"/>
              <a:pPr>
                <a:defRPr/>
              </a:pPr>
              <a:t>4/20/2025</a:t>
            </a:fld>
            <a:endParaRPr lang="en-US"/>
          </a:p>
        </p:txBody>
      </p:sp>
      <p:sp>
        <p:nvSpPr>
          <p:cNvPr id="5" name="Footer Placeholder 4">
            <a:extLst>
              <a:ext uri="{FF2B5EF4-FFF2-40B4-BE49-F238E27FC236}">
                <a16:creationId xmlns:a16="http://schemas.microsoft.com/office/drawing/2014/main" id="{3FBBC2FD-F166-5D68-872C-B7F1C3EC014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07AE8A2-1391-AFBB-908C-A17B96030D07}"/>
              </a:ext>
            </a:extLst>
          </p:cNvPr>
          <p:cNvSpPr>
            <a:spLocks noGrp="1"/>
          </p:cNvSpPr>
          <p:nvPr>
            <p:ph type="sldNum" sz="quarter" idx="12"/>
          </p:nvPr>
        </p:nvSpPr>
        <p:spPr/>
        <p:txBody>
          <a:bodyPr/>
          <a:lstStyle>
            <a:lvl1pPr>
              <a:defRPr/>
            </a:lvl1pPr>
          </a:lstStyle>
          <a:p>
            <a:pPr>
              <a:defRPr/>
            </a:pPr>
            <a:fld id="{8D30E740-9466-4777-BD8C-F57E0260E91B}" type="slidenum">
              <a:rPr lang="en-US" altLang="en-US"/>
              <a:pPr>
                <a:defRPr/>
              </a:pPr>
              <a:t>‹#›</a:t>
            </a:fld>
            <a:endParaRPr lang="en-US" altLang="en-US"/>
          </a:p>
        </p:txBody>
      </p:sp>
    </p:spTree>
    <p:extLst>
      <p:ext uri="{BB962C8B-B14F-4D97-AF65-F5344CB8AC3E}">
        <p14:creationId xmlns:p14="http://schemas.microsoft.com/office/powerpoint/2010/main" val="3133101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88FD3-6B07-FD54-C0FB-4B18018483EA}"/>
              </a:ext>
            </a:extLst>
          </p:cNvPr>
          <p:cNvSpPr>
            <a:spLocks noGrp="1"/>
          </p:cNvSpPr>
          <p:nvPr>
            <p:ph type="dt" sz="half" idx="10"/>
          </p:nvPr>
        </p:nvSpPr>
        <p:spPr/>
        <p:txBody>
          <a:bodyPr/>
          <a:lstStyle>
            <a:lvl1pPr>
              <a:defRPr/>
            </a:lvl1pPr>
          </a:lstStyle>
          <a:p>
            <a:pPr>
              <a:defRPr/>
            </a:pPr>
            <a:fld id="{2FFD29F5-F112-49FC-AD94-5672270C8198}" type="datetimeFigureOut">
              <a:rPr lang="en-US"/>
              <a:pPr>
                <a:defRPr/>
              </a:pPr>
              <a:t>4/20/2025</a:t>
            </a:fld>
            <a:endParaRPr lang="en-US"/>
          </a:p>
        </p:txBody>
      </p:sp>
      <p:sp>
        <p:nvSpPr>
          <p:cNvPr id="5" name="Footer Placeholder 4">
            <a:extLst>
              <a:ext uri="{FF2B5EF4-FFF2-40B4-BE49-F238E27FC236}">
                <a16:creationId xmlns:a16="http://schemas.microsoft.com/office/drawing/2014/main" id="{4A30D214-9EEB-C631-E333-7701479D14A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33E018A-5C00-5A7B-F3CC-40FC0E1C041F}"/>
              </a:ext>
            </a:extLst>
          </p:cNvPr>
          <p:cNvSpPr>
            <a:spLocks noGrp="1"/>
          </p:cNvSpPr>
          <p:nvPr>
            <p:ph type="sldNum" sz="quarter" idx="12"/>
          </p:nvPr>
        </p:nvSpPr>
        <p:spPr/>
        <p:txBody>
          <a:bodyPr/>
          <a:lstStyle>
            <a:lvl1pPr>
              <a:defRPr/>
            </a:lvl1pPr>
          </a:lstStyle>
          <a:p>
            <a:pPr>
              <a:defRPr/>
            </a:pPr>
            <a:fld id="{7796568E-96B6-40AC-9EE9-667935442C66}" type="slidenum">
              <a:rPr lang="en-US" altLang="en-US"/>
              <a:pPr>
                <a:defRPr/>
              </a:pPr>
              <a:t>‹#›</a:t>
            </a:fld>
            <a:endParaRPr lang="en-US" altLang="en-US"/>
          </a:p>
        </p:txBody>
      </p:sp>
    </p:spTree>
    <p:extLst>
      <p:ext uri="{BB962C8B-B14F-4D97-AF65-F5344CB8AC3E}">
        <p14:creationId xmlns:p14="http://schemas.microsoft.com/office/powerpoint/2010/main" val="4253686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AB51FE-6A2E-A6EF-6648-C979AAC26052}"/>
              </a:ext>
            </a:extLst>
          </p:cNvPr>
          <p:cNvSpPr>
            <a:spLocks noGrp="1"/>
          </p:cNvSpPr>
          <p:nvPr>
            <p:ph type="dt" sz="half" idx="10"/>
          </p:nvPr>
        </p:nvSpPr>
        <p:spPr/>
        <p:txBody>
          <a:bodyPr/>
          <a:lstStyle>
            <a:lvl1pPr>
              <a:defRPr/>
            </a:lvl1pPr>
          </a:lstStyle>
          <a:p>
            <a:pPr>
              <a:defRPr/>
            </a:pPr>
            <a:fld id="{08CF19AD-11A0-4E14-8EF0-115EB21E305F}" type="datetimeFigureOut">
              <a:rPr lang="en-US"/>
              <a:pPr>
                <a:defRPr/>
              </a:pPr>
              <a:t>4/20/2025</a:t>
            </a:fld>
            <a:endParaRPr lang="en-US"/>
          </a:p>
        </p:txBody>
      </p:sp>
      <p:sp>
        <p:nvSpPr>
          <p:cNvPr id="5" name="Footer Placeholder 4">
            <a:extLst>
              <a:ext uri="{FF2B5EF4-FFF2-40B4-BE49-F238E27FC236}">
                <a16:creationId xmlns:a16="http://schemas.microsoft.com/office/drawing/2014/main" id="{063D5190-73C0-9DBF-202B-F45B99F3FCC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16240FE-FBB4-A536-B864-5705A5A07CFE}"/>
              </a:ext>
            </a:extLst>
          </p:cNvPr>
          <p:cNvSpPr>
            <a:spLocks noGrp="1"/>
          </p:cNvSpPr>
          <p:nvPr>
            <p:ph type="sldNum" sz="quarter" idx="12"/>
          </p:nvPr>
        </p:nvSpPr>
        <p:spPr/>
        <p:txBody>
          <a:bodyPr/>
          <a:lstStyle>
            <a:lvl1pPr>
              <a:defRPr/>
            </a:lvl1pPr>
          </a:lstStyle>
          <a:p>
            <a:pPr>
              <a:defRPr/>
            </a:pPr>
            <a:fld id="{7ECDCC23-BCA0-4C6C-8D89-15DE916658D9}" type="slidenum">
              <a:rPr lang="en-US" altLang="en-US"/>
              <a:pPr>
                <a:defRPr/>
              </a:pPr>
              <a:t>‹#›</a:t>
            </a:fld>
            <a:endParaRPr lang="en-US" altLang="en-US"/>
          </a:p>
        </p:txBody>
      </p:sp>
    </p:spTree>
    <p:extLst>
      <p:ext uri="{BB962C8B-B14F-4D97-AF65-F5344CB8AC3E}">
        <p14:creationId xmlns:p14="http://schemas.microsoft.com/office/powerpoint/2010/main" val="2790197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47ADBB9-FA9F-563B-7AD4-35653B44DA51}"/>
              </a:ext>
            </a:extLst>
          </p:cNvPr>
          <p:cNvSpPr>
            <a:spLocks noGrp="1"/>
          </p:cNvSpPr>
          <p:nvPr>
            <p:ph type="dt" sz="half" idx="10"/>
          </p:nvPr>
        </p:nvSpPr>
        <p:spPr/>
        <p:txBody>
          <a:bodyPr/>
          <a:lstStyle>
            <a:lvl1pPr>
              <a:defRPr/>
            </a:lvl1pPr>
          </a:lstStyle>
          <a:p>
            <a:pPr>
              <a:defRPr/>
            </a:pPr>
            <a:fld id="{E0623B49-E945-4874-A691-D5A9D85B03D1}" type="datetimeFigureOut">
              <a:rPr lang="en-US"/>
              <a:pPr>
                <a:defRPr/>
              </a:pPr>
              <a:t>4/20/2025</a:t>
            </a:fld>
            <a:endParaRPr lang="en-US"/>
          </a:p>
        </p:txBody>
      </p:sp>
      <p:sp>
        <p:nvSpPr>
          <p:cNvPr id="6" name="Footer Placeholder 4">
            <a:extLst>
              <a:ext uri="{FF2B5EF4-FFF2-40B4-BE49-F238E27FC236}">
                <a16:creationId xmlns:a16="http://schemas.microsoft.com/office/drawing/2014/main" id="{B2BF00D1-3C69-1437-00D5-0DD6BF8F7B2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0B77834-08D1-BD9C-A150-5B8AB4CD3EB4}"/>
              </a:ext>
            </a:extLst>
          </p:cNvPr>
          <p:cNvSpPr>
            <a:spLocks noGrp="1"/>
          </p:cNvSpPr>
          <p:nvPr>
            <p:ph type="sldNum" sz="quarter" idx="12"/>
          </p:nvPr>
        </p:nvSpPr>
        <p:spPr/>
        <p:txBody>
          <a:bodyPr/>
          <a:lstStyle>
            <a:lvl1pPr>
              <a:defRPr/>
            </a:lvl1pPr>
          </a:lstStyle>
          <a:p>
            <a:pPr>
              <a:defRPr/>
            </a:pPr>
            <a:fld id="{DFFDC09C-2DE4-4FCA-A42F-2A8F816B0CF4}" type="slidenum">
              <a:rPr lang="en-US" altLang="en-US"/>
              <a:pPr>
                <a:defRPr/>
              </a:pPr>
              <a:t>‹#›</a:t>
            </a:fld>
            <a:endParaRPr lang="en-US" altLang="en-US"/>
          </a:p>
        </p:txBody>
      </p:sp>
    </p:spTree>
    <p:extLst>
      <p:ext uri="{BB962C8B-B14F-4D97-AF65-F5344CB8AC3E}">
        <p14:creationId xmlns:p14="http://schemas.microsoft.com/office/powerpoint/2010/main" val="1017206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37EAD9F-F470-46F2-4736-CC66BA84142D}"/>
              </a:ext>
            </a:extLst>
          </p:cNvPr>
          <p:cNvSpPr>
            <a:spLocks noGrp="1"/>
          </p:cNvSpPr>
          <p:nvPr>
            <p:ph type="dt" sz="half" idx="10"/>
          </p:nvPr>
        </p:nvSpPr>
        <p:spPr/>
        <p:txBody>
          <a:bodyPr/>
          <a:lstStyle>
            <a:lvl1pPr>
              <a:defRPr/>
            </a:lvl1pPr>
          </a:lstStyle>
          <a:p>
            <a:pPr>
              <a:defRPr/>
            </a:pPr>
            <a:fld id="{B0BA71E5-8D56-489D-BC7C-66E078BA76B0}" type="datetimeFigureOut">
              <a:rPr lang="en-US"/>
              <a:pPr>
                <a:defRPr/>
              </a:pPr>
              <a:t>4/20/2025</a:t>
            </a:fld>
            <a:endParaRPr lang="en-US"/>
          </a:p>
        </p:txBody>
      </p:sp>
      <p:sp>
        <p:nvSpPr>
          <p:cNvPr id="8" name="Footer Placeholder 4">
            <a:extLst>
              <a:ext uri="{FF2B5EF4-FFF2-40B4-BE49-F238E27FC236}">
                <a16:creationId xmlns:a16="http://schemas.microsoft.com/office/drawing/2014/main" id="{B98153BE-1947-66CA-0361-B2BF2E5C1320}"/>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D90154B-BDF9-5FAE-4A92-612C1E305B26}"/>
              </a:ext>
            </a:extLst>
          </p:cNvPr>
          <p:cNvSpPr>
            <a:spLocks noGrp="1"/>
          </p:cNvSpPr>
          <p:nvPr>
            <p:ph type="sldNum" sz="quarter" idx="12"/>
          </p:nvPr>
        </p:nvSpPr>
        <p:spPr/>
        <p:txBody>
          <a:bodyPr/>
          <a:lstStyle>
            <a:lvl1pPr>
              <a:defRPr/>
            </a:lvl1pPr>
          </a:lstStyle>
          <a:p>
            <a:pPr>
              <a:defRPr/>
            </a:pPr>
            <a:fld id="{144475B2-F31D-4641-8BF0-707B4C3E79E8}" type="slidenum">
              <a:rPr lang="en-US" altLang="en-US"/>
              <a:pPr>
                <a:defRPr/>
              </a:pPr>
              <a:t>‹#›</a:t>
            </a:fld>
            <a:endParaRPr lang="en-US" altLang="en-US"/>
          </a:p>
        </p:txBody>
      </p:sp>
    </p:spTree>
    <p:extLst>
      <p:ext uri="{BB962C8B-B14F-4D97-AF65-F5344CB8AC3E}">
        <p14:creationId xmlns:p14="http://schemas.microsoft.com/office/powerpoint/2010/main" val="2423096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E214267-A6B7-D062-98C0-A14A0811AA9C}"/>
              </a:ext>
            </a:extLst>
          </p:cNvPr>
          <p:cNvSpPr>
            <a:spLocks noGrp="1"/>
          </p:cNvSpPr>
          <p:nvPr>
            <p:ph type="dt" sz="half" idx="10"/>
          </p:nvPr>
        </p:nvSpPr>
        <p:spPr/>
        <p:txBody>
          <a:bodyPr/>
          <a:lstStyle>
            <a:lvl1pPr>
              <a:defRPr/>
            </a:lvl1pPr>
          </a:lstStyle>
          <a:p>
            <a:pPr>
              <a:defRPr/>
            </a:pPr>
            <a:fld id="{A498497D-89F1-4EE1-A272-62625096D165}" type="datetimeFigureOut">
              <a:rPr lang="en-US"/>
              <a:pPr>
                <a:defRPr/>
              </a:pPr>
              <a:t>4/20/2025</a:t>
            </a:fld>
            <a:endParaRPr lang="en-US"/>
          </a:p>
        </p:txBody>
      </p:sp>
      <p:sp>
        <p:nvSpPr>
          <p:cNvPr id="4" name="Footer Placeholder 4">
            <a:extLst>
              <a:ext uri="{FF2B5EF4-FFF2-40B4-BE49-F238E27FC236}">
                <a16:creationId xmlns:a16="http://schemas.microsoft.com/office/drawing/2014/main" id="{BB109993-E45C-63D7-5631-AFB93E4CC97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1397F5F-99C4-2C27-2191-7822D2DBACE2}"/>
              </a:ext>
            </a:extLst>
          </p:cNvPr>
          <p:cNvSpPr>
            <a:spLocks noGrp="1"/>
          </p:cNvSpPr>
          <p:nvPr>
            <p:ph type="sldNum" sz="quarter" idx="12"/>
          </p:nvPr>
        </p:nvSpPr>
        <p:spPr/>
        <p:txBody>
          <a:bodyPr/>
          <a:lstStyle>
            <a:lvl1pPr>
              <a:defRPr/>
            </a:lvl1pPr>
          </a:lstStyle>
          <a:p>
            <a:pPr>
              <a:defRPr/>
            </a:pPr>
            <a:fld id="{C3CD2F28-C0A4-4933-B09D-4BFB3A1CE2C2}" type="slidenum">
              <a:rPr lang="en-US" altLang="en-US"/>
              <a:pPr>
                <a:defRPr/>
              </a:pPr>
              <a:t>‹#›</a:t>
            </a:fld>
            <a:endParaRPr lang="en-US" altLang="en-US"/>
          </a:p>
        </p:txBody>
      </p:sp>
    </p:spTree>
    <p:extLst>
      <p:ext uri="{BB962C8B-B14F-4D97-AF65-F5344CB8AC3E}">
        <p14:creationId xmlns:p14="http://schemas.microsoft.com/office/powerpoint/2010/main" val="2026136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8DA021B-A78C-0FD4-F1E7-67BD32E5162D}"/>
              </a:ext>
            </a:extLst>
          </p:cNvPr>
          <p:cNvSpPr>
            <a:spLocks noGrp="1"/>
          </p:cNvSpPr>
          <p:nvPr>
            <p:ph type="dt" sz="half" idx="10"/>
          </p:nvPr>
        </p:nvSpPr>
        <p:spPr/>
        <p:txBody>
          <a:bodyPr/>
          <a:lstStyle>
            <a:lvl1pPr>
              <a:defRPr/>
            </a:lvl1pPr>
          </a:lstStyle>
          <a:p>
            <a:pPr>
              <a:defRPr/>
            </a:pPr>
            <a:fld id="{C4BE31F1-B9DC-4BC4-88B4-2710D6A75042}" type="datetimeFigureOut">
              <a:rPr lang="en-US"/>
              <a:pPr>
                <a:defRPr/>
              </a:pPr>
              <a:t>4/20/2025</a:t>
            </a:fld>
            <a:endParaRPr lang="en-US"/>
          </a:p>
        </p:txBody>
      </p:sp>
      <p:sp>
        <p:nvSpPr>
          <p:cNvPr id="3" name="Footer Placeholder 4">
            <a:extLst>
              <a:ext uri="{FF2B5EF4-FFF2-40B4-BE49-F238E27FC236}">
                <a16:creationId xmlns:a16="http://schemas.microsoft.com/office/drawing/2014/main" id="{1FA76BFD-EC0F-32AA-9D3D-E2CF416F87D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AF2CF413-590A-3E48-7118-40931DA3758A}"/>
              </a:ext>
            </a:extLst>
          </p:cNvPr>
          <p:cNvSpPr>
            <a:spLocks noGrp="1"/>
          </p:cNvSpPr>
          <p:nvPr>
            <p:ph type="sldNum" sz="quarter" idx="12"/>
          </p:nvPr>
        </p:nvSpPr>
        <p:spPr/>
        <p:txBody>
          <a:bodyPr/>
          <a:lstStyle>
            <a:lvl1pPr>
              <a:defRPr/>
            </a:lvl1pPr>
          </a:lstStyle>
          <a:p>
            <a:pPr>
              <a:defRPr/>
            </a:pPr>
            <a:fld id="{B5E5A7C7-C89D-437A-81D4-518D2E415C8E}" type="slidenum">
              <a:rPr lang="en-US" altLang="en-US"/>
              <a:pPr>
                <a:defRPr/>
              </a:pPr>
              <a:t>‹#›</a:t>
            </a:fld>
            <a:endParaRPr lang="en-US" altLang="en-US"/>
          </a:p>
        </p:txBody>
      </p:sp>
    </p:spTree>
    <p:extLst>
      <p:ext uri="{BB962C8B-B14F-4D97-AF65-F5344CB8AC3E}">
        <p14:creationId xmlns:p14="http://schemas.microsoft.com/office/powerpoint/2010/main" val="834530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6479C2C6-A43D-D3F3-8ABB-6F7CE7D2D567}"/>
              </a:ext>
            </a:extLst>
          </p:cNvPr>
          <p:cNvSpPr>
            <a:spLocks noGrp="1"/>
          </p:cNvSpPr>
          <p:nvPr>
            <p:ph type="dt" sz="half" idx="10"/>
          </p:nvPr>
        </p:nvSpPr>
        <p:spPr/>
        <p:txBody>
          <a:bodyPr/>
          <a:lstStyle>
            <a:lvl1pPr>
              <a:defRPr/>
            </a:lvl1pPr>
          </a:lstStyle>
          <a:p>
            <a:pPr>
              <a:defRPr/>
            </a:pPr>
            <a:fld id="{DF7B5D45-C57E-4F1E-9047-A1267A133A11}" type="datetimeFigureOut">
              <a:rPr lang="en-US"/>
              <a:pPr>
                <a:defRPr/>
              </a:pPr>
              <a:t>4/20/2025</a:t>
            </a:fld>
            <a:endParaRPr lang="en-US"/>
          </a:p>
        </p:txBody>
      </p:sp>
      <p:sp>
        <p:nvSpPr>
          <p:cNvPr id="6" name="Footer Placeholder 4">
            <a:extLst>
              <a:ext uri="{FF2B5EF4-FFF2-40B4-BE49-F238E27FC236}">
                <a16:creationId xmlns:a16="http://schemas.microsoft.com/office/drawing/2014/main" id="{1D628010-2549-163E-DFC3-C9EB782C779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371FD38-9416-AD50-1743-D377294A8B21}"/>
              </a:ext>
            </a:extLst>
          </p:cNvPr>
          <p:cNvSpPr>
            <a:spLocks noGrp="1"/>
          </p:cNvSpPr>
          <p:nvPr>
            <p:ph type="sldNum" sz="quarter" idx="12"/>
          </p:nvPr>
        </p:nvSpPr>
        <p:spPr/>
        <p:txBody>
          <a:bodyPr/>
          <a:lstStyle>
            <a:lvl1pPr>
              <a:defRPr/>
            </a:lvl1pPr>
          </a:lstStyle>
          <a:p>
            <a:pPr>
              <a:defRPr/>
            </a:pPr>
            <a:fld id="{1918F2E3-5213-4F27-98A6-CF0E68111652}" type="slidenum">
              <a:rPr lang="en-US" altLang="en-US"/>
              <a:pPr>
                <a:defRPr/>
              </a:pPr>
              <a:t>‹#›</a:t>
            </a:fld>
            <a:endParaRPr lang="en-US" altLang="en-US"/>
          </a:p>
        </p:txBody>
      </p:sp>
    </p:spTree>
    <p:extLst>
      <p:ext uri="{BB962C8B-B14F-4D97-AF65-F5344CB8AC3E}">
        <p14:creationId xmlns:p14="http://schemas.microsoft.com/office/powerpoint/2010/main" val="2616521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C444338F-B5B6-2B08-F0CE-BF9ED09D5440}"/>
              </a:ext>
            </a:extLst>
          </p:cNvPr>
          <p:cNvSpPr>
            <a:spLocks noGrp="1"/>
          </p:cNvSpPr>
          <p:nvPr>
            <p:ph type="dt" sz="half" idx="10"/>
          </p:nvPr>
        </p:nvSpPr>
        <p:spPr/>
        <p:txBody>
          <a:bodyPr/>
          <a:lstStyle>
            <a:lvl1pPr>
              <a:defRPr/>
            </a:lvl1pPr>
          </a:lstStyle>
          <a:p>
            <a:pPr>
              <a:defRPr/>
            </a:pPr>
            <a:fld id="{58135557-AF06-4633-A45E-2A05DBECD7F2}" type="datetimeFigureOut">
              <a:rPr lang="en-US"/>
              <a:pPr>
                <a:defRPr/>
              </a:pPr>
              <a:t>4/20/2025</a:t>
            </a:fld>
            <a:endParaRPr lang="en-US"/>
          </a:p>
        </p:txBody>
      </p:sp>
      <p:sp>
        <p:nvSpPr>
          <p:cNvPr id="6" name="Footer Placeholder 4">
            <a:extLst>
              <a:ext uri="{FF2B5EF4-FFF2-40B4-BE49-F238E27FC236}">
                <a16:creationId xmlns:a16="http://schemas.microsoft.com/office/drawing/2014/main" id="{20080F62-83D6-97FF-A8AF-0D4C57ABB38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3C028E6-C44B-189B-44EF-12D60DF6EB2D}"/>
              </a:ext>
            </a:extLst>
          </p:cNvPr>
          <p:cNvSpPr>
            <a:spLocks noGrp="1"/>
          </p:cNvSpPr>
          <p:nvPr>
            <p:ph type="sldNum" sz="quarter" idx="12"/>
          </p:nvPr>
        </p:nvSpPr>
        <p:spPr/>
        <p:txBody>
          <a:bodyPr/>
          <a:lstStyle>
            <a:lvl1pPr>
              <a:defRPr/>
            </a:lvl1pPr>
          </a:lstStyle>
          <a:p>
            <a:pPr>
              <a:defRPr/>
            </a:pPr>
            <a:fld id="{FEC73A7F-525B-4286-928E-DB396817DA44}" type="slidenum">
              <a:rPr lang="en-US" altLang="en-US"/>
              <a:pPr>
                <a:defRPr/>
              </a:pPr>
              <a:t>‹#›</a:t>
            </a:fld>
            <a:endParaRPr lang="en-US" altLang="en-US"/>
          </a:p>
        </p:txBody>
      </p:sp>
    </p:spTree>
    <p:extLst>
      <p:ext uri="{BB962C8B-B14F-4D97-AF65-F5344CB8AC3E}">
        <p14:creationId xmlns:p14="http://schemas.microsoft.com/office/powerpoint/2010/main" val="1890765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3FECB-B54C-42F4-14E5-A7A17D7477A0}"/>
              </a:ext>
            </a:extLst>
          </p:cNvPr>
          <p:cNvSpPr>
            <a:spLocks noGrp="1"/>
          </p:cNvSpPr>
          <p:nvPr>
            <p:ph type="dt" sz="half" idx="10"/>
          </p:nvPr>
        </p:nvSpPr>
        <p:spPr/>
        <p:txBody>
          <a:bodyPr/>
          <a:lstStyle>
            <a:lvl1pPr>
              <a:defRPr/>
            </a:lvl1pPr>
          </a:lstStyle>
          <a:p>
            <a:pPr>
              <a:defRPr/>
            </a:pPr>
            <a:fld id="{17C99AA5-5FB4-49E1-88DA-1612A0D22FF4}" type="datetimeFigureOut">
              <a:rPr lang="en-US"/>
              <a:pPr>
                <a:defRPr/>
              </a:pPr>
              <a:t>4/20/2025</a:t>
            </a:fld>
            <a:endParaRPr lang="en-US"/>
          </a:p>
        </p:txBody>
      </p:sp>
      <p:sp>
        <p:nvSpPr>
          <p:cNvPr id="5" name="Footer Placeholder 4">
            <a:extLst>
              <a:ext uri="{FF2B5EF4-FFF2-40B4-BE49-F238E27FC236}">
                <a16:creationId xmlns:a16="http://schemas.microsoft.com/office/drawing/2014/main" id="{0680560C-2DCA-6A7A-7822-272DC0B3461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B80EBD8-E2E8-EF25-9B28-727DB124FB6D}"/>
              </a:ext>
            </a:extLst>
          </p:cNvPr>
          <p:cNvSpPr>
            <a:spLocks noGrp="1"/>
          </p:cNvSpPr>
          <p:nvPr>
            <p:ph type="sldNum" sz="quarter" idx="12"/>
          </p:nvPr>
        </p:nvSpPr>
        <p:spPr/>
        <p:txBody>
          <a:bodyPr/>
          <a:lstStyle>
            <a:lvl1pPr>
              <a:defRPr/>
            </a:lvl1pPr>
          </a:lstStyle>
          <a:p>
            <a:pPr>
              <a:defRPr/>
            </a:pPr>
            <a:fld id="{2CEB6855-A0B5-4009-B66A-CCF107C17938}" type="slidenum">
              <a:rPr lang="en-US" altLang="en-US"/>
              <a:pPr>
                <a:defRPr/>
              </a:pPr>
              <a:t>‹#›</a:t>
            </a:fld>
            <a:endParaRPr lang="en-US" altLang="en-US"/>
          </a:p>
        </p:txBody>
      </p:sp>
    </p:spTree>
    <p:extLst>
      <p:ext uri="{BB962C8B-B14F-4D97-AF65-F5344CB8AC3E}">
        <p14:creationId xmlns:p14="http://schemas.microsoft.com/office/powerpoint/2010/main" val="3973122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2C1248-2EEB-4487-8764-DCE321A168F5}"/>
              </a:ext>
            </a:extLst>
          </p:cNvPr>
          <p:cNvSpPr>
            <a:spLocks noGrp="1"/>
          </p:cNvSpPr>
          <p:nvPr>
            <p:ph type="dt" sz="half" idx="10"/>
          </p:nvPr>
        </p:nvSpPr>
        <p:spPr/>
        <p:txBody>
          <a:bodyPr/>
          <a:lstStyle>
            <a:lvl1pPr>
              <a:defRPr/>
            </a:lvl1pPr>
          </a:lstStyle>
          <a:p>
            <a:pPr>
              <a:defRPr/>
            </a:pPr>
            <a:fld id="{69969BA5-6187-4518-A02A-668B81B847A0}" type="datetimeFigureOut">
              <a:rPr lang="en-US"/>
              <a:pPr>
                <a:defRPr/>
              </a:pPr>
              <a:t>4/20/2025</a:t>
            </a:fld>
            <a:endParaRPr lang="en-US"/>
          </a:p>
        </p:txBody>
      </p:sp>
      <p:sp>
        <p:nvSpPr>
          <p:cNvPr id="5" name="Footer Placeholder 4">
            <a:extLst>
              <a:ext uri="{FF2B5EF4-FFF2-40B4-BE49-F238E27FC236}">
                <a16:creationId xmlns:a16="http://schemas.microsoft.com/office/drawing/2014/main" id="{A22ABAD9-2067-8C91-F12A-E7C52156606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4E8429-7605-B074-51F5-BBFB52B4ECF4}"/>
              </a:ext>
            </a:extLst>
          </p:cNvPr>
          <p:cNvSpPr>
            <a:spLocks noGrp="1"/>
          </p:cNvSpPr>
          <p:nvPr>
            <p:ph type="sldNum" sz="quarter" idx="12"/>
          </p:nvPr>
        </p:nvSpPr>
        <p:spPr/>
        <p:txBody>
          <a:bodyPr/>
          <a:lstStyle>
            <a:lvl1pPr>
              <a:defRPr/>
            </a:lvl1pPr>
          </a:lstStyle>
          <a:p>
            <a:pPr>
              <a:defRPr/>
            </a:pPr>
            <a:fld id="{696B9754-1F5F-4EF4-9258-AA0479BADEA5}" type="slidenum">
              <a:rPr lang="en-US" altLang="en-US"/>
              <a:pPr>
                <a:defRPr/>
              </a:pPr>
              <a:t>‹#›</a:t>
            </a:fld>
            <a:endParaRPr lang="en-US" altLang="en-US"/>
          </a:p>
        </p:txBody>
      </p:sp>
    </p:spTree>
    <p:extLst>
      <p:ext uri="{BB962C8B-B14F-4D97-AF65-F5344CB8AC3E}">
        <p14:creationId xmlns:p14="http://schemas.microsoft.com/office/powerpoint/2010/main" val="3412934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11DF730-8D42-080A-4CF4-4E8937B1A508}"/>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5F334B5-17A2-DA00-3577-963D044A63D5}"/>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6F3AA8-9AA8-97FA-988A-38F436998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2F79F385-C715-41EA-A5E5-15B85822171E}" type="datetimeFigureOut">
              <a:rPr lang="en-US"/>
              <a:pPr>
                <a:defRPr/>
              </a:pPr>
              <a:t>4/20/2025</a:t>
            </a:fld>
            <a:endParaRPr lang="en-US"/>
          </a:p>
        </p:txBody>
      </p:sp>
      <p:sp>
        <p:nvSpPr>
          <p:cNvPr id="5" name="Footer Placeholder 4">
            <a:extLst>
              <a:ext uri="{FF2B5EF4-FFF2-40B4-BE49-F238E27FC236}">
                <a16:creationId xmlns:a16="http://schemas.microsoft.com/office/drawing/2014/main" id="{2D39803D-04D1-B2D8-2AB9-CBEC727FE6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F9304999-2A4F-0BF5-391D-805970D04BE6}"/>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F7EA63E2-6A25-40EC-9160-F76ECF2D630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486E9-CF9D-AB88-BB48-547D64D3FF90}"/>
              </a:ext>
            </a:extLst>
          </p:cNvPr>
          <p:cNvSpPr>
            <a:spLocks noGrp="1"/>
          </p:cNvSpPr>
          <p:nvPr>
            <p:ph type="ctrTitle"/>
          </p:nvPr>
        </p:nvSpPr>
        <p:spPr>
          <a:xfrm>
            <a:off x="1390650" y="977900"/>
            <a:ext cx="9144000" cy="2387600"/>
          </a:xfrm>
        </p:spPr>
        <p:txBody>
          <a:bodyPr rtlCol="0">
            <a:normAutofit/>
          </a:bodyPr>
          <a:lstStyle/>
          <a:p>
            <a:pPr eaLnBrk="1" fontAlgn="auto" hangingPunct="1">
              <a:spcAft>
                <a:spcPts val="0"/>
              </a:spcAft>
              <a:defRPr/>
            </a:pPr>
            <a:r>
              <a:rPr lang="en-GB" sz="3600" b="1" kern="100" dirty="0">
                <a:latin typeface="Times New Roman" pitchFamily="18" charset="0"/>
                <a:ea typeface="宋体" panose="02010600030101010101" pitchFamily="2" charset="-122"/>
                <a:cs typeface="Times New Roman" pitchFamily="18" charset="0"/>
              </a:rPr>
              <a:t>Advanced Short Circuit Preventive Mechanism for Electric Vehicles</a:t>
            </a:r>
            <a:br>
              <a:rPr lang="en-GB" sz="3600" b="1" kern="100" dirty="0">
                <a:latin typeface="Times New Roman" pitchFamily="18" charset="0"/>
                <a:ea typeface="宋体" panose="02010600030101010101" pitchFamily="2" charset="-122"/>
                <a:cs typeface="Times New Roman" pitchFamily="18" charset="0"/>
              </a:rPr>
            </a:br>
            <a:endParaRPr lang="en-IN" altLang="en-US" sz="3600" b="1" dirty="0">
              <a:solidFill>
                <a:srgbClr val="FF0000"/>
              </a:solidFill>
              <a:latin typeface="Times New Roman" pitchFamily="18" charset="0"/>
              <a:cs typeface="Times New Roman" pitchFamily="18" charset="0"/>
            </a:endParaRPr>
          </a:p>
        </p:txBody>
      </p:sp>
      <p:sp>
        <p:nvSpPr>
          <p:cNvPr id="2051" name="Subtitle 2">
            <a:extLst>
              <a:ext uri="{FF2B5EF4-FFF2-40B4-BE49-F238E27FC236}">
                <a16:creationId xmlns:a16="http://schemas.microsoft.com/office/drawing/2014/main" id="{B6EE40FB-472F-3340-7AEA-54181423FEA1}"/>
              </a:ext>
            </a:extLst>
          </p:cNvPr>
          <p:cNvSpPr>
            <a:spLocks noGrp="1" noChangeArrowheads="1"/>
          </p:cNvSpPr>
          <p:nvPr>
            <p:ph type="subTitle" idx="1"/>
          </p:nvPr>
        </p:nvSpPr>
        <p:spPr>
          <a:xfrm>
            <a:off x="1052513" y="3335338"/>
            <a:ext cx="9482137" cy="830262"/>
          </a:xfrm>
        </p:spPr>
        <p:txBody>
          <a:bodyPr/>
          <a:lstStyle/>
          <a:p>
            <a:pPr eaLnBrk="1" hangingPunct="1"/>
            <a:r>
              <a:rPr lang="en-IN" altLang="en-US" sz="2000">
                <a:latin typeface="Times New Roman" panose="02020603050405020304" pitchFamily="18" charset="0"/>
                <a:cs typeface="Times New Roman" panose="02020603050405020304" pitchFamily="18" charset="0"/>
              </a:rPr>
              <a:t>Submitted by</a:t>
            </a:r>
          </a:p>
        </p:txBody>
      </p:sp>
      <p:pic>
        <p:nvPicPr>
          <p:cNvPr id="2052" name="Picture 6" descr="kr_logo">
            <a:extLst>
              <a:ext uri="{FF2B5EF4-FFF2-40B4-BE49-F238E27FC236}">
                <a16:creationId xmlns:a16="http://schemas.microsoft.com/office/drawing/2014/main" id="{EC3B0038-8B07-50F1-C6B7-6762A9A22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31388" y="649288"/>
            <a:ext cx="1093787"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3">
            <a:extLst>
              <a:ext uri="{FF2B5EF4-FFF2-40B4-BE49-F238E27FC236}">
                <a16:creationId xmlns:a16="http://schemas.microsoft.com/office/drawing/2014/main" id="{6C24BC51-A60E-9D82-3DD6-92E80289AF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41313"/>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4" descr="C:\Users\ramakrishnan\Desktop\dept logo.jpg">
            <a:extLst>
              <a:ext uri="{FF2B5EF4-FFF2-40B4-BE49-F238E27FC236}">
                <a16:creationId xmlns:a16="http://schemas.microsoft.com/office/drawing/2014/main" id="{F978D27A-1B3D-C8F0-18B8-C6A8023C83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125" y="649288"/>
            <a:ext cx="12096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a:extLst>
              <a:ext uri="{FF2B5EF4-FFF2-40B4-BE49-F238E27FC236}">
                <a16:creationId xmlns:a16="http://schemas.microsoft.com/office/drawing/2014/main" id="{AAA26235-362C-DEEC-282D-AE38B9CD7EFB}"/>
              </a:ext>
            </a:extLst>
          </p:cNvPr>
          <p:cNvGraphicFramePr>
            <a:graphicFrameLocks noGrp="1"/>
          </p:cNvGraphicFramePr>
          <p:nvPr/>
        </p:nvGraphicFramePr>
        <p:xfrm>
          <a:off x="2797175" y="3813175"/>
          <a:ext cx="8128000" cy="1484312"/>
        </p:xfrm>
        <a:graphic>
          <a:graphicData uri="http://schemas.openxmlformats.org/drawingml/2006/table">
            <a:tbl>
              <a:tblPr firstRow="1" bandRow="1">
                <a:tableStyleId>{2D5ABB26-0587-4C30-8999-92F81FD0307C}</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1078">
                <a:tc>
                  <a:txBody>
                    <a:bodyPr/>
                    <a:lstStyle/>
                    <a:p>
                      <a:r>
                        <a:rPr lang="en-US" sz="1800" dirty="0">
                          <a:latin typeface="Times New Roman" panose="02020603050405020304" pitchFamily="18" charset="0"/>
                          <a:cs typeface="Times New Roman" panose="02020603050405020304" pitchFamily="18" charset="0"/>
                        </a:rPr>
                        <a:t>SHANJAY R K </a:t>
                      </a:r>
                    </a:p>
                  </a:txBody>
                  <a:tcPr marT="45749" marB="4574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(927621BEC195)</a:t>
                      </a:r>
                    </a:p>
                  </a:txBody>
                  <a:tcPr marT="45749" marB="45749"/>
                </a:tc>
                <a:extLst>
                  <a:ext uri="{0D108BD9-81ED-4DB2-BD59-A6C34878D82A}">
                    <a16:rowId xmlns:a16="http://schemas.microsoft.com/office/drawing/2014/main" val="10000"/>
                  </a:ext>
                </a:extLst>
              </a:tr>
              <a:tr h="371078">
                <a:tc>
                  <a:txBody>
                    <a:bodyPr/>
                    <a:lstStyle/>
                    <a:p>
                      <a:r>
                        <a:rPr lang="en-US" sz="1800" dirty="0">
                          <a:latin typeface="Times New Roman" panose="02020603050405020304" pitchFamily="18" charset="0"/>
                          <a:cs typeface="Times New Roman" panose="02020603050405020304" pitchFamily="18" charset="0"/>
                        </a:rPr>
                        <a:t>SIVARAMAKRISHNAN M </a:t>
                      </a:r>
                    </a:p>
                  </a:txBody>
                  <a:tcPr marT="45749" marB="4574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(927621BEC201)</a:t>
                      </a:r>
                    </a:p>
                  </a:txBody>
                  <a:tcPr marT="45749" marB="45749"/>
                </a:tc>
                <a:extLst>
                  <a:ext uri="{0D108BD9-81ED-4DB2-BD59-A6C34878D82A}">
                    <a16:rowId xmlns:a16="http://schemas.microsoft.com/office/drawing/2014/main" val="10001"/>
                  </a:ext>
                </a:extLst>
              </a:tr>
              <a:tr h="371078">
                <a:tc>
                  <a:txBody>
                    <a:bodyPr/>
                    <a:lstStyle/>
                    <a:p>
                      <a:r>
                        <a:rPr lang="en-US" sz="1800" dirty="0">
                          <a:latin typeface="Times New Roman" panose="02020603050405020304" pitchFamily="18" charset="0"/>
                          <a:cs typeface="Times New Roman" panose="02020603050405020304" pitchFamily="18" charset="0"/>
                        </a:rPr>
                        <a:t>SUBASH P </a:t>
                      </a:r>
                    </a:p>
                  </a:txBody>
                  <a:tcPr marT="45749" marB="45749"/>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(927621BEC213)</a:t>
                      </a:r>
                    </a:p>
                  </a:txBody>
                  <a:tcPr marT="45749" marB="45749"/>
                </a:tc>
                <a:extLst>
                  <a:ext uri="{0D108BD9-81ED-4DB2-BD59-A6C34878D82A}">
                    <a16:rowId xmlns:a16="http://schemas.microsoft.com/office/drawing/2014/main" val="10002"/>
                  </a:ext>
                </a:extLst>
              </a:tr>
              <a:tr h="371078">
                <a:tc>
                  <a:txBody>
                    <a:bodyPr/>
                    <a:lstStyle/>
                    <a:p>
                      <a:r>
                        <a:rPr lang="en-US" sz="1800" dirty="0">
                          <a:latin typeface="Times New Roman" panose="02020603050405020304" pitchFamily="18" charset="0"/>
                          <a:cs typeface="Times New Roman" panose="02020603050405020304" pitchFamily="18" charset="0"/>
                        </a:rPr>
                        <a:t>YASAR S </a:t>
                      </a:r>
                    </a:p>
                  </a:txBody>
                  <a:tcPr marT="45749" marB="45749"/>
                </a:tc>
                <a:tc>
                  <a:txBody>
                    <a:bodyPr/>
                    <a:lstStyle/>
                    <a:p>
                      <a:r>
                        <a:rPr lang="en-US" sz="1800" dirty="0">
                          <a:latin typeface="Times New Roman" panose="02020603050405020304" pitchFamily="18" charset="0"/>
                          <a:cs typeface="Times New Roman" panose="02020603050405020304" pitchFamily="18" charset="0"/>
                        </a:rPr>
                        <a:t>(927621BEC245)</a:t>
                      </a:r>
                    </a:p>
                  </a:txBody>
                  <a:tcPr marT="45749" marB="45749"/>
                </a:tc>
                <a:extLst>
                  <a:ext uri="{0D108BD9-81ED-4DB2-BD59-A6C34878D82A}">
                    <a16:rowId xmlns:a16="http://schemas.microsoft.com/office/drawing/2014/main" val="10003"/>
                  </a:ext>
                </a:extLst>
              </a:tr>
            </a:tbl>
          </a:graphicData>
        </a:graphic>
      </p:graphicFrame>
      <p:sp>
        <p:nvSpPr>
          <p:cNvPr id="2064" name="TextBox 7">
            <a:extLst>
              <a:ext uri="{FF2B5EF4-FFF2-40B4-BE49-F238E27FC236}">
                <a16:creationId xmlns:a16="http://schemas.microsoft.com/office/drawing/2014/main" id="{3DDB374C-4DBB-4818-E15D-5241E2C7C155}"/>
              </a:ext>
            </a:extLst>
          </p:cNvPr>
          <p:cNvSpPr txBox="1">
            <a:spLocks noChangeArrowheads="1"/>
          </p:cNvSpPr>
          <p:nvPr/>
        </p:nvSpPr>
        <p:spPr bwMode="auto">
          <a:xfrm>
            <a:off x="9437688" y="5402263"/>
            <a:ext cx="24511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800">
                <a:latin typeface="Times New Roman" panose="02020603050405020304" pitchFamily="18" charset="0"/>
                <a:cs typeface="Times New Roman" panose="02020603050405020304" pitchFamily="18" charset="0"/>
              </a:rPr>
              <a:t>Guided By</a:t>
            </a:r>
          </a:p>
          <a:p>
            <a:pPr eaLnBrk="1" hangingPunct="1">
              <a:lnSpc>
                <a:spcPct val="100000"/>
              </a:lnSpc>
              <a:spcBef>
                <a:spcPct val="0"/>
              </a:spcBef>
              <a:buFontTx/>
              <a:buNone/>
            </a:pPr>
            <a:r>
              <a:rPr lang="en-IN" altLang="en-US" sz="1800">
                <a:latin typeface="Times New Roman" panose="02020603050405020304" pitchFamily="18" charset="0"/>
                <a:cs typeface="Times New Roman" panose="02020603050405020304" pitchFamily="18" charset="0"/>
              </a:rPr>
              <a:t>Dr.K.Sheikdavood                    (AP/ECE)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a:extLst>
              <a:ext uri="{FF2B5EF4-FFF2-40B4-BE49-F238E27FC236}">
                <a16:creationId xmlns:a16="http://schemas.microsoft.com/office/drawing/2014/main" id="{9F303E60-D335-564E-7A43-91F30DA2414F}"/>
              </a:ext>
            </a:extLst>
          </p:cNvPr>
          <p:cNvSpPr>
            <a:spLocks noGrp="1" noChangeArrowheads="1"/>
          </p:cNvSpPr>
          <p:nvPr>
            <p:ph idx="1"/>
          </p:nvPr>
        </p:nvSpPr>
        <p:spPr/>
        <p:txBody>
          <a:bodyPr/>
          <a:lstStyle/>
          <a:p>
            <a:pPr marL="0" indent="0" eaLnBrk="1" hangingPunct="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Abstract</a:t>
            </a:r>
          </a:p>
        </p:txBody>
      </p:sp>
      <p:pic>
        <p:nvPicPr>
          <p:cNvPr id="3075" name="Picture 6" descr="kr_logo">
            <a:extLst>
              <a:ext uri="{FF2B5EF4-FFF2-40B4-BE49-F238E27FC236}">
                <a16:creationId xmlns:a16="http://schemas.microsoft.com/office/drawing/2014/main" id="{D8BCEE40-0E65-8D15-58EF-43836AD9DF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
            <a:extLst>
              <a:ext uri="{FF2B5EF4-FFF2-40B4-BE49-F238E27FC236}">
                <a16:creationId xmlns:a16="http://schemas.microsoft.com/office/drawing/2014/main" id="{4AC19C53-F4F1-232B-C672-D18EE9BDF2D7}"/>
              </a:ext>
            </a:extLst>
          </p:cNvPr>
          <p:cNvSpPr>
            <a:spLocks noChangeArrowheads="1"/>
          </p:cNvSpPr>
          <p:nvPr/>
        </p:nvSpPr>
        <p:spPr bwMode="auto">
          <a:xfrm>
            <a:off x="1009650" y="2682875"/>
            <a:ext cx="10344150" cy="3268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33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50000"/>
              </a:lnSpc>
              <a:spcBef>
                <a:spcPct val="0"/>
              </a:spcBef>
              <a:buSzPts val="1500"/>
              <a:buFontTx/>
              <a:buNone/>
            </a:pPr>
            <a:r>
              <a:rPr lang="en-US" altLang="en-US" sz="2000" dirty="0">
                <a:latin typeface="Times New Roman" panose="02020603050405020304" pitchFamily="18" charset="0"/>
                <a:cs typeface="Times New Roman" panose="02020603050405020304" pitchFamily="18" charset="0"/>
              </a:rPr>
              <a:t>	 Our</a:t>
            </a:r>
            <a:r>
              <a:rPr lang="en-US" sz="2000" dirty="0">
                <a:latin typeface="Times New Roman" panose="02020603050405020304" pitchFamily="18" charset="0"/>
                <a:cs typeface="Times New Roman" panose="02020603050405020304" pitchFamily="18" charset="0"/>
              </a:rPr>
              <a:t> project introduces an advanced short circuit prevention mechanism for electric vehicles, focusing on improving safety, reliability, and performance. Traditional protection methods like fuses and circuit breakers are reactive and insufficient for modern EVs. Our system uses high-speed monitoring, machine learning algorithms, and intelligent control to proactively detect and prevent faults. The design is scalable and modular, making it suitable for various EV platforms. By enhancing system resilience and reducing maintenance costs, this solution supports the safe, efficient, and sustainable growth of electric mobility.</a:t>
            </a:r>
            <a:endParaRPr lang="en-US" altLang="en-US" sz="2000" dirty="0">
              <a:latin typeface="Times New Roman" panose="02020603050405020304" pitchFamily="18" charset="0"/>
              <a:cs typeface="Times New Roman" panose="02020603050405020304" pitchFamily="18" charset="0"/>
            </a:endParaRPr>
          </a:p>
        </p:txBody>
      </p:sp>
      <p:pic>
        <p:nvPicPr>
          <p:cNvPr id="3077" name="Picture 3">
            <a:extLst>
              <a:ext uri="{FF2B5EF4-FFF2-40B4-BE49-F238E27FC236}">
                <a16:creationId xmlns:a16="http://schemas.microsoft.com/office/drawing/2014/main" id="{C54381FF-1EE0-C333-E2A7-108593F76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30BE1-4B25-B95E-3C14-2D333D33E69E}"/>
            </a:ext>
          </a:extLst>
        </p:cNvPr>
        <p:cNvGrpSpPr/>
        <p:nvPr/>
      </p:nvGrpSpPr>
      <p:grpSpPr>
        <a:xfrm>
          <a:off x="0" y="0"/>
          <a:ext cx="0" cy="0"/>
          <a:chOff x="0" y="0"/>
          <a:chExt cx="0" cy="0"/>
        </a:xfrm>
      </p:grpSpPr>
      <p:sp>
        <p:nvSpPr>
          <p:cNvPr id="3074" name="Content Placeholder 2">
            <a:extLst>
              <a:ext uri="{FF2B5EF4-FFF2-40B4-BE49-F238E27FC236}">
                <a16:creationId xmlns:a16="http://schemas.microsoft.com/office/drawing/2014/main" id="{6B6BF014-31D0-9BF7-6FE5-9E6187FE8CC8}"/>
              </a:ext>
            </a:extLst>
          </p:cNvPr>
          <p:cNvSpPr>
            <a:spLocks noGrp="1" noChangeArrowheads="1"/>
          </p:cNvSpPr>
          <p:nvPr>
            <p:ph idx="1"/>
          </p:nvPr>
        </p:nvSpPr>
        <p:spPr>
          <a:xfrm>
            <a:off x="838200" y="1479550"/>
            <a:ext cx="10515600" cy="4697413"/>
          </a:xfrm>
        </p:spPr>
        <p:txBody>
          <a:bodyPr/>
          <a:lstStyle/>
          <a:p>
            <a:pPr marL="0" indent="0" eaLnBrk="1" hangingPunct="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Introduction</a:t>
            </a:r>
          </a:p>
        </p:txBody>
      </p:sp>
      <p:pic>
        <p:nvPicPr>
          <p:cNvPr id="3075" name="Picture 6" descr="kr_logo">
            <a:extLst>
              <a:ext uri="{FF2B5EF4-FFF2-40B4-BE49-F238E27FC236}">
                <a16:creationId xmlns:a16="http://schemas.microsoft.com/office/drawing/2014/main" id="{3B3741F6-03DE-2E21-D620-76C7C9C8F9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
            <a:extLst>
              <a:ext uri="{FF2B5EF4-FFF2-40B4-BE49-F238E27FC236}">
                <a16:creationId xmlns:a16="http://schemas.microsoft.com/office/drawing/2014/main" id="{C7538A39-3360-7EF9-975B-A371DC7A01F5}"/>
              </a:ext>
            </a:extLst>
          </p:cNvPr>
          <p:cNvSpPr>
            <a:spLocks noChangeArrowheads="1"/>
          </p:cNvSpPr>
          <p:nvPr/>
        </p:nvSpPr>
        <p:spPr bwMode="auto">
          <a:xfrm>
            <a:off x="1009650" y="2328311"/>
            <a:ext cx="10344150" cy="373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333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76250" indent="-342900" algn="just" eaLnBrk="1" hangingPunct="1">
              <a:lnSpc>
                <a:spcPct val="150000"/>
              </a:lnSpc>
              <a:spcBef>
                <a:spcPct val="0"/>
              </a:spcBef>
              <a:buSzPts val="15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Growing Global EV Adoption As electric vehicles (EVs) continue to grow in popularity, ensuring the safety of users has become increasingly important.</a:t>
            </a:r>
          </a:p>
          <a:p>
            <a:pPr marL="476250" indent="-342900" algn="just" eaLnBrk="1" hangingPunct="1">
              <a:lnSpc>
                <a:spcPct val="150000"/>
              </a:lnSpc>
              <a:spcBef>
                <a:spcPct val="0"/>
              </a:spcBef>
              <a:buSzPts val="15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Safety Concern Short circuits in EVs can lead to system failures, component damage, and pose significant safety risks to users.</a:t>
            </a:r>
          </a:p>
          <a:p>
            <a:pPr marL="476250" indent="-342900" algn="just" eaLnBrk="1" hangingPunct="1">
              <a:lnSpc>
                <a:spcPct val="150000"/>
              </a:lnSpc>
              <a:spcBef>
                <a:spcPct val="0"/>
              </a:spcBef>
              <a:buSzPts val="15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Current Protection Limitations Traditional methods like fuses and circuit breakers are slow and reactive, which leaves EVs vulnerable to short circuits.</a:t>
            </a:r>
          </a:p>
          <a:p>
            <a:pPr marL="476250" indent="-342900" algn="just" eaLnBrk="1" hangingPunct="1">
              <a:lnSpc>
                <a:spcPct val="150000"/>
              </a:lnSpc>
              <a:spcBef>
                <a:spcPct val="0"/>
              </a:spcBef>
              <a:buSzPts val="15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Our Solution present a proactive short circuit prevention system that utilizes high-speed monitoring, machine learning, and intelligent control to detect and prevent faults in real-time.</a:t>
            </a:r>
          </a:p>
        </p:txBody>
      </p:sp>
      <p:pic>
        <p:nvPicPr>
          <p:cNvPr id="3077" name="Picture 3">
            <a:extLst>
              <a:ext uri="{FF2B5EF4-FFF2-40B4-BE49-F238E27FC236}">
                <a16:creationId xmlns:a16="http://schemas.microsoft.com/office/drawing/2014/main" id="{C8E29E8C-A74C-93C4-6343-D7CE5AD8DF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474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70D2DB25-334A-2AA0-98C8-50776CBBCB9C}"/>
              </a:ext>
            </a:extLst>
          </p:cNvPr>
          <p:cNvSpPr>
            <a:spLocks noGrp="1" noChangeArrowheads="1"/>
          </p:cNvSpPr>
          <p:nvPr>
            <p:ph type="title"/>
          </p:nvPr>
        </p:nvSpPr>
        <p:spPr>
          <a:xfrm>
            <a:off x="3463925" y="790575"/>
            <a:ext cx="10515600" cy="828675"/>
          </a:xfrm>
        </p:spPr>
        <p:txBody>
          <a:bodyPr/>
          <a:lstStyle/>
          <a:p>
            <a:pPr eaLnBrk="1" hangingPunct="1"/>
            <a:r>
              <a:rPr lang="en-GB" altLang="en-US" sz="2800" b="1">
                <a:latin typeface="Times New Roman" panose="02020603050405020304" pitchFamily="18" charset="0"/>
                <a:cs typeface="Times New Roman" panose="02020603050405020304" pitchFamily="18" charset="0"/>
              </a:rPr>
              <a:t>Literature Review Table</a:t>
            </a:r>
            <a:endParaRPr lang="en-IN" altLang="en-US" sz="2800" b="1">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DBE7B9F-F8F6-DF39-A994-8819F5B266D3}"/>
              </a:ext>
            </a:extLst>
          </p:cNvPr>
          <p:cNvGraphicFramePr>
            <a:graphicFrameLocks noGrp="1"/>
          </p:cNvGraphicFramePr>
          <p:nvPr>
            <p:extLst>
              <p:ext uri="{D42A27DB-BD31-4B8C-83A1-F6EECF244321}">
                <p14:modId xmlns:p14="http://schemas.microsoft.com/office/powerpoint/2010/main" val="3260578354"/>
              </p:ext>
            </p:extLst>
          </p:nvPr>
        </p:nvGraphicFramePr>
        <p:xfrm>
          <a:off x="1184275" y="1644650"/>
          <a:ext cx="9512300" cy="4999038"/>
        </p:xfrm>
        <a:graphic>
          <a:graphicData uri="http://schemas.openxmlformats.org/drawingml/2006/table">
            <a:tbl>
              <a:tblPr firstRow="1" bandRow="1">
                <a:tableStyleId>{5C22544A-7EE6-4342-B048-85BDC9FD1C3A}</a:tableStyleId>
              </a:tblPr>
              <a:tblGrid>
                <a:gridCol w="2378075">
                  <a:extLst>
                    <a:ext uri="{9D8B030D-6E8A-4147-A177-3AD203B41FA5}">
                      <a16:colId xmlns:a16="http://schemas.microsoft.com/office/drawing/2014/main" val="20000"/>
                    </a:ext>
                  </a:extLst>
                </a:gridCol>
                <a:gridCol w="2378075">
                  <a:extLst>
                    <a:ext uri="{9D8B030D-6E8A-4147-A177-3AD203B41FA5}">
                      <a16:colId xmlns:a16="http://schemas.microsoft.com/office/drawing/2014/main" val="20001"/>
                    </a:ext>
                  </a:extLst>
                </a:gridCol>
                <a:gridCol w="2378075">
                  <a:extLst>
                    <a:ext uri="{9D8B030D-6E8A-4147-A177-3AD203B41FA5}">
                      <a16:colId xmlns:a16="http://schemas.microsoft.com/office/drawing/2014/main" val="20002"/>
                    </a:ext>
                  </a:extLst>
                </a:gridCol>
                <a:gridCol w="2378075">
                  <a:extLst>
                    <a:ext uri="{9D8B030D-6E8A-4147-A177-3AD203B41FA5}">
                      <a16:colId xmlns:a16="http://schemas.microsoft.com/office/drawing/2014/main" val="20003"/>
                    </a:ext>
                  </a:extLst>
                </a:gridCol>
              </a:tblGrid>
              <a:tr h="1066866">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Author</a:t>
                      </a:r>
                    </a:p>
                  </a:txBody>
                  <a:tcPr marL="91444" marR="91444" marT="45717" marB="45717"/>
                </a:tc>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Times New Roman" pitchFamily="18" charset="0"/>
                          <a:cs typeface="Times New Roman" pitchFamily="18" charset="0"/>
                        </a:rPr>
                        <a:t>Title </a:t>
                      </a:r>
                    </a:p>
                    <a:p>
                      <a:pPr algn="ctr"/>
                      <a:endParaRPr lang="en-IN" sz="1600" dirty="0">
                        <a:latin typeface="Times New Roman" pitchFamily="18" charset="0"/>
                        <a:cs typeface="Times New Roman" pitchFamily="18" charset="0"/>
                      </a:endParaRPr>
                    </a:p>
                  </a:txBody>
                  <a:tcPr marL="91444" marR="91444" marT="45717" marB="45717"/>
                </a:tc>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Year of published</a:t>
                      </a:r>
                    </a:p>
                  </a:txBody>
                  <a:tcPr marL="91444" marR="91444" marT="45717" marB="45717"/>
                </a:tc>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Drawback</a:t>
                      </a:r>
                    </a:p>
                  </a:txBody>
                  <a:tcPr marL="91444" marR="91444" marT="45717" marB="45717"/>
                </a:tc>
                <a:extLst>
                  <a:ext uri="{0D108BD9-81ED-4DB2-BD59-A6C34878D82A}">
                    <a16:rowId xmlns:a16="http://schemas.microsoft.com/office/drawing/2014/main" val="10000"/>
                  </a:ext>
                </a:extLst>
              </a:tr>
              <a:tr h="1310724">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D. Qiao et al</a:t>
                      </a:r>
                    </a:p>
                  </a:txBody>
                  <a:tcPr marL="91444" marR="91444" marT="45717" marB="45717"/>
                </a:tc>
                <a:tc>
                  <a:txBody>
                    <a:bodyPr/>
                    <a:lstStyle/>
                    <a:p>
                      <a:r>
                        <a:rPr lang="en-US" sz="1600" dirty="0">
                          <a:latin typeface="Times New Roman" pitchFamily="18" charset="0"/>
                          <a:cs typeface="Times New Roman" pitchFamily="18" charset="0"/>
                        </a:rPr>
                        <a:t>"Quantitative Diagnosis of Internal Short Circuit for Lithium-Ion Batteries Using Relaxation Voltage"</a:t>
                      </a:r>
                      <a:endParaRPr lang="en-IN" sz="1600" dirty="0">
                        <a:latin typeface="Times New Roman" pitchFamily="18" charset="0"/>
                        <a:cs typeface="Times New Roman" pitchFamily="18" charset="0"/>
                      </a:endParaRPr>
                    </a:p>
                  </a:txBody>
                  <a:tcPr marL="91444" marR="91444" marT="45717" marB="45717"/>
                </a:tc>
                <a:tc>
                  <a:txBody>
                    <a:bodyPr/>
                    <a:lstStyle/>
                    <a:p>
                      <a:r>
                        <a:rPr lang="en-IN" sz="1600" kern="1200" dirty="0">
                          <a:solidFill>
                            <a:schemeClr val="dk1"/>
                          </a:solidFill>
                          <a:latin typeface="Times New Roman" pitchFamily="18" charset="0"/>
                          <a:ea typeface="+mn-ea"/>
                          <a:cs typeface="Times New Roman" pitchFamily="18" charset="0"/>
                        </a:rPr>
                        <a:t>2024, IEEE Transactions on Industrial Electronics</a:t>
                      </a:r>
                    </a:p>
                  </a:txBody>
                  <a:tcPr marL="91444" marR="91444" marT="45717" marB="45717"/>
                </a:tc>
                <a:tc>
                  <a:txBody>
                    <a:bodyPr/>
                    <a:lstStyle/>
                    <a:p>
                      <a:r>
                        <a:rPr lang="en-US" sz="1600" dirty="0">
                          <a:latin typeface="Times New Roman" pitchFamily="18" charset="0"/>
                          <a:cs typeface="Times New Roman" pitchFamily="18" charset="0"/>
                        </a:rPr>
                        <a:t>Focuses primarily on diagnosis without providing real-time mitigation strategies for detected faults.</a:t>
                      </a:r>
                      <a:endParaRPr lang="en-IN" sz="1600" dirty="0">
                        <a:latin typeface="Times New Roman" pitchFamily="18" charset="0"/>
                        <a:cs typeface="Times New Roman" pitchFamily="18" charset="0"/>
                      </a:endParaRPr>
                    </a:p>
                  </a:txBody>
                  <a:tcPr marL="91444" marR="91444" marT="45717" marB="45717"/>
                </a:tc>
                <a:extLst>
                  <a:ext uri="{0D108BD9-81ED-4DB2-BD59-A6C34878D82A}">
                    <a16:rowId xmlns:a16="http://schemas.microsoft.com/office/drawing/2014/main" val="10001"/>
                  </a:ext>
                </a:extLst>
              </a:tr>
              <a:tr h="1310724">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Z. Sun et al.</a:t>
                      </a:r>
                    </a:p>
                  </a:txBody>
                  <a:tcPr marL="91444" marR="91444" marT="45717" marB="45717"/>
                </a:tc>
                <a:tc>
                  <a:txBody>
                    <a:bodyPr/>
                    <a:lstStyle/>
                    <a:p>
                      <a:r>
                        <a:rPr lang="en-US" sz="1600" dirty="0">
                          <a:latin typeface="Times New Roman" pitchFamily="18" charset="0"/>
                          <a:cs typeface="Times New Roman" pitchFamily="18" charset="0"/>
                        </a:rPr>
                        <a:t>"An Online Data-Driven Fault Diagnosis and Thermal Runaway Early Warning for Electric Vehicle Batteries"</a:t>
                      </a:r>
                      <a:endParaRPr lang="en-IN" sz="1600" dirty="0">
                        <a:latin typeface="Times New Roman" pitchFamily="18" charset="0"/>
                        <a:cs typeface="Times New Roman" pitchFamily="18" charset="0"/>
                      </a:endParaRPr>
                    </a:p>
                  </a:txBody>
                  <a:tcPr marL="91444" marR="91444" marT="45717" marB="45717"/>
                </a:tc>
                <a:tc>
                  <a:txBody>
                    <a:bodyPr/>
                    <a:lstStyle/>
                    <a:p>
                      <a:r>
                        <a:rPr lang="en-US" sz="1600" kern="1200" dirty="0">
                          <a:solidFill>
                            <a:schemeClr val="dk1"/>
                          </a:solidFill>
                          <a:latin typeface="Times New Roman" pitchFamily="18" charset="0"/>
                          <a:ea typeface="+mn-ea"/>
                          <a:cs typeface="Times New Roman" pitchFamily="18" charset="0"/>
                        </a:rPr>
                        <a:t>2022, IEEE Transactions on Power Electronics</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tc>
                  <a:txBody>
                    <a:bodyPr/>
                    <a:lstStyle/>
                    <a:p>
                      <a:r>
                        <a:rPr lang="en-US" sz="1600" dirty="0">
                          <a:latin typeface="Times New Roman" pitchFamily="18" charset="0"/>
                          <a:cs typeface="Times New Roman" pitchFamily="18" charset="0"/>
                        </a:rPr>
                        <a:t>Limited to battery systems; lacks consideration of external factors like environmental conditions.</a:t>
                      </a:r>
                      <a:endParaRPr lang="en-IN" sz="1600" dirty="0">
                        <a:latin typeface="Times New Roman" pitchFamily="18" charset="0"/>
                        <a:cs typeface="Times New Roman" pitchFamily="18" charset="0"/>
                      </a:endParaRPr>
                    </a:p>
                  </a:txBody>
                  <a:tcPr marL="91444" marR="91444" marT="45717" marB="45717"/>
                </a:tc>
                <a:extLst>
                  <a:ext uri="{0D108BD9-81ED-4DB2-BD59-A6C34878D82A}">
                    <a16:rowId xmlns:a16="http://schemas.microsoft.com/office/drawing/2014/main" val="10002"/>
                  </a:ext>
                </a:extLst>
              </a:tr>
              <a:tr h="1310724">
                <a:tc>
                  <a:txBody>
                    <a:bodyPr/>
                    <a:lstStyle/>
                    <a:p>
                      <a:pPr algn="ctr"/>
                      <a:endParaRPr lang="sv-SE" sz="1600" dirty="0">
                        <a:latin typeface="Times New Roman" pitchFamily="18" charset="0"/>
                        <a:cs typeface="Times New Roman" pitchFamily="18" charset="0"/>
                      </a:endParaRPr>
                    </a:p>
                    <a:p>
                      <a:pPr algn="ctr"/>
                      <a:endParaRPr lang="sv-SE" sz="1600" dirty="0">
                        <a:latin typeface="Times New Roman" pitchFamily="18" charset="0"/>
                        <a:cs typeface="Times New Roman" pitchFamily="18" charset="0"/>
                      </a:endParaRPr>
                    </a:p>
                    <a:p>
                      <a:pPr algn="ctr"/>
                      <a:r>
                        <a:rPr lang="sv-SE" sz="1600" dirty="0">
                          <a:latin typeface="Times New Roman" pitchFamily="18" charset="0"/>
                          <a:cs typeface="Times New Roman" pitchFamily="18" charset="0"/>
                        </a:rPr>
                        <a:t>F. Kaya and O. Akar</a:t>
                      </a:r>
                      <a:endParaRPr lang="en-IN" sz="1600" dirty="0">
                        <a:latin typeface="Times New Roman" pitchFamily="18" charset="0"/>
                        <a:cs typeface="Times New Roman" pitchFamily="18" charset="0"/>
                      </a:endParaRPr>
                    </a:p>
                  </a:txBody>
                  <a:tcPr marL="91444" marR="91444" marT="45717" marB="45717"/>
                </a:tc>
                <a:tc>
                  <a:txBody>
                    <a:bodyPr/>
                    <a:lstStyle/>
                    <a:p>
                      <a:r>
                        <a:rPr lang="en-US" sz="1600" dirty="0">
                          <a:latin typeface="Times New Roman" pitchFamily="18" charset="0"/>
                          <a:cs typeface="Times New Roman" pitchFamily="18" charset="0"/>
                        </a:rPr>
                        <a:t>"Short Circuit Effects on HV Feeders of Optimally Located Electric Vehicle Fast Charging Stations"</a:t>
                      </a:r>
                      <a:endParaRPr lang="en-IN" sz="1600" dirty="0">
                        <a:latin typeface="Times New Roman" pitchFamily="18" charset="0"/>
                        <a:cs typeface="Times New Roman" pitchFamily="18" charset="0"/>
                      </a:endParaRPr>
                    </a:p>
                  </a:txBody>
                  <a:tcPr marL="91444" marR="91444" marT="45717" marB="45717"/>
                </a:tc>
                <a:tc>
                  <a:txBody>
                    <a:bodyPr/>
                    <a:lstStyle/>
                    <a:p>
                      <a:r>
                        <a:rPr lang="en-IN" sz="1600" kern="1200" dirty="0">
                          <a:solidFill>
                            <a:schemeClr val="dk1"/>
                          </a:solidFill>
                          <a:latin typeface="Times New Roman" pitchFamily="18" charset="0"/>
                          <a:ea typeface="+mn-ea"/>
                          <a:cs typeface="Times New Roman" pitchFamily="18" charset="0"/>
                        </a:rPr>
                        <a:t>2024, IEEE Access</a:t>
                      </a:r>
                    </a:p>
                  </a:txBody>
                  <a:tcPr marL="91444" marR="91444" marT="45717" marB="45717"/>
                </a:tc>
                <a:tc>
                  <a:txBody>
                    <a:bodyPr/>
                    <a:lstStyle/>
                    <a:p>
                      <a:r>
                        <a:rPr lang="en-US" sz="1600" dirty="0">
                          <a:latin typeface="Times New Roman" pitchFamily="18" charset="0"/>
                          <a:cs typeface="Times New Roman" pitchFamily="18" charset="0"/>
                        </a:rPr>
                        <a:t>Addresses stationary systems only; does not factor in dynamic or mobile EV charging scenarios.</a:t>
                      </a:r>
                      <a:endParaRPr lang="en-IN" sz="1600" dirty="0">
                        <a:latin typeface="Times New Roman" pitchFamily="18" charset="0"/>
                        <a:cs typeface="Times New Roman" pitchFamily="18" charset="0"/>
                      </a:endParaRPr>
                    </a:p>
                  </a:txBody>
                  <a:tcPr marL="91444" marR="91444" marT="45717" marB="45717"/>
                </a:tc>
                <a:extLst>
                  <a:ext uri="{0D108BD9-81ED-4DB2-BD59-A6C34878D82A}">
                    <a16:rowId xmlns:a16="http://schemas.microsoft.com/office/drawing/2014/main" val="10003"/>
                  </a:ext>
                </a:extLst>
              </a:tr>
            </a:tbl>
          </a:graphicData>
        </a:graphic>
      </p:graphicFrame>
      <p:pic>
        <p:nvPicPr>
          <p:cNvPr id="4126" name="Picture 6" descr="kr_logo">
            <a:extLst>
              <a:ext uri="{FF2B5EF4-FFF2-40B4-BE49-F238E27FC236}">
                <a16:creationId xmlns:a16="http://schemas.microsoft.com/office/drawing/2014/main" id="{5C81A047-26B5-C016-A741-4BAA21627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7" name="Picture 3">
            <a:extLst>
              <a:ext uri="{FF2B5EF4-FFF2-40B4-BE49-F238E27FC236}">
                <a16:creationId xmlns:a16="http://schemas.microsoft.com/office/drawing/2014/main" id="{5C9E48E6-0A3B-4354-C562-A403BD163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16598-FBF4-E7C5-DFAD-55BACBC4B40F}"/>
            </a:ext>
          </a:extLst>
        </p:cNvPr>
        <p:cNvGrpSpPr/>
        <p:nvPr/>
      </p:nvGrpSpPr>
      <p:grpSpPr>
        <a:xfrm>
          <a:off x="0" y="0"/>
          <a:ext cx="0" cy="0"/>
          <a:chOff x="0" y="0"/>
          <a:chExt cx="0" cy="0"/>
        </a:xfrm>
      </p:grpSpPr>
      <p:sp>
        <p:nvSpPr>
          <p:cNvPr id="4098" name="Title 1">
            <a:extLst>
              <a:ext uri="{FF2B5EF4-FFF2-40B4-BE49-F238E27FC236}">
                <a16:creationId xmlns:a16="http://schemas.microsoft.com/office/drawing/2014/main" id="{F5985142-28BE-598B-5E9C-962BDEE22F5A}"/>
              </a:ext>
            </a:extLst>
          </p:cNvPr>
          <p:cNvSpPr>
            <a:spLocks noGrp="1" noChangeArrowheads="1"/>
          </p:cNvSpPr>
          <p:nvPr>
            <p:ph type="title"/>
          </p:nvPr>
        </p:nvSpPr>
        <p:spPr>
          <a:xfrm>
            <a:off x="3463925" y="790575"/>
            <a:ext cx="10515600" cy="828675"/>
          </a:xfrm>
        </p:spPr>
        <p:txBody>
          <a:bodyPr/>
          <a:lstStyle/>
          <a:p>
            <a:pPr eaLnBrk="1" hangingPunct="1"/>
            <a:r>
              <a:rPr lang="en-GB" altLang="en-US" sz="2800" b="1">
                <a:latin typeface="Times New Roman" panose="02020603050405020304" pitchFamily="18" charset="0"/>
                <a:cs typeface="Times New Roman" panose="02020603050405020304" pitchFamily="18" charset="0"/>
              </a:rPr>
              <a:t>Literature Review Table</a:t>
            </a:r>
            <a:endParaRPr lang="en-IN" altLang="en-US" sz="2800" b="1">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0B5464E9-EA5E-8FED-E76D-8C05C69DB1D7}"/>
              </a:ext>
            </a:extLst>
          </p:cNvPr>
          <p:cNvGraphicFramePr>
            <a:graphicFrameLocks noGrp="1"/>
          </p:cNvGraphicFramePr>
          <p:nvPr>
            <p:extLst>
              <p:ext uri="{D42A27DB-BD31-4B8C-83A1-F6EECF244321}">
                <p14:modId xmlns:p14="http://schemas.microsoft.com/office/powerpoint/2010/main" val="4238584188"/>
              </p:ext>
            </p:extLst>
          </p:nvPr>
        </p:nvGraphicFramePr>
        <p:xfrm>
          <a:off x="1174944" y="1619250"/>
          <a:ext cx="9512300" cy="4999038"/>
        </p:xfrm>
        <a:graphic>
          <a:graphicData uri="http://schemas.openxmlformats.org/drawingml/2006/table">
            <a:tbl>
              <a:tblPr firstRow="1" bandRow="1">
                <a:tableStyleId>{5C22544A-7EE6-4342-B048-85BDC9FD1C3A}</a:tableStyleId>
              </a:tblPr>
              <a:tblGrid>
                <a:gridCol w="2378075">
                  <a:extLst>
                    <a:ext uri="{9D8B030D-6E8A-4147-A177-3AD203B41FA5}">
                      <a16:colId xmlns:a16="http://schemas.microsoft.com/office/drawing/2014/main" val="20000"/>
                    </a:ext>
                  </a:extLst>
                </a:gridCol>
                <a:gridCol w="3258328">
                  <a:extLst>
                    <a:ext uri="{9D8B030D-6E8A-4147-A177-3AD203B41FA5}">
                      <a16:colId xmlns:a16="http://schemas.microsoft.com/office/drawing/2014/main" val="20001"/>
                    </a:ext>
                  </a:extLst>
                </a:gridCol>
                <a:gridCol w="1497822">
                  <a:extLst>
                    <a:ext uri="{9D8B030D-6E8A-4147-A177-3AD203B41FA5}">
                      <a16:colId xmlns:a16="http://schemas.microsoft.com/office/drawing/2014/main" val="20002"/>
                    </a:ext>
                  </a:extLst>
                </a:gridCol>
                <a:gridCol w="2378075">
                  <a:extLst>
                    <a:ext uri="{9D8B030D-6E8A-4147-A177-3AD203B41FA5}">
                      <a16:colId xmlns:a16="http://schemas.microsoft.com/office/drawing/2014/main" val="20003"/>
                    </a:ext>
                  </a:extLst>
                </a:gridCol>
              </a:tblGrid>
              <a:tr h="1066866">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Author</a:t>
                      </a:r>
                    </a:p>
                  </a:txBody>
                  <a:tcPr marL="91444" marR="91444" marT="45717" marB="45717"/>
                </a:tc>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Times New Roman" pitchFamily="18" charset="0"/>
                          <a:cs typeface="Times New Roman" pitchFamily="18" charset="0"/>
                        </a:rPr>
                        <a:t>Title </a:t>
                      </a:r>
                    </a:p>
                    <a:p>
                      <a:pPr algn="ctr"/>
                      <a:endParaRPr lang="en-IN" sz="1600" dirty="0">
                        <a:latin typeface="Times New Roman" pitchFamily="18" charset="0"/>
                        <a:cs typeface="Times New Roman" pitchFamily="18" charset="0"/>
                      </a:endParaRPr>
                    </a:p>
                  </a:txBody>
                  <a:tcPr marL="91444" marR="91444" marT="45717" marB="45717"/>
                </a:tc>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Year of published</a:t>
                      </a:r>
                    </a:p>
                  </a:txBody>
                  <a:tcPr marL="91444" marR="91444" marT="45717" marB="45717"/>
                </a:tc>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algn="ctr"/>
                      <a:r>
                        <a:rPr lang="en-IN" sz="1600" dirty="0">
                          <a:latin typeface="Times New Roman" pitchFamily="18" charset="0"/>
                          <a:cs typeface="Times New Roman" pitchFamily="18" charset="0"/>
                        </a:rPr>
                        <a:t>Drawback</a:t>
                      </a:r>
                    </a:p>
                  </a:txBody>
                  <a:tcPr marL="91444" marR="91444" marT="45717" marB="45717"/>
                </a:tc>
                <a:extLst>
                  <a:ext uri="{0D108BD9-81ED-4DB2-BD59-A6C34878D82A}">
                    <a16:rowId xmlns:a16="http://schemas.microsoft.com/office/drawing/2014/main" val="10000"/>
                  </a:ext>
                </a:extLst>
              </a:tr>
              <a:tr h="1310724">
                <a:tc>
                  <a:txBody>
                    <a:bodyPr/>
                    <a:lstStyle/>
                    <a:p>
                      <a:pPr algn="ctr"/>
                      <a:endParaRPr lang="en-IN" sz="1600" dirty="0">
                        <a:latin typeface="Times New Roman" pitchFamily="18" charset="0"/>
                        <a:cs typeface="Times New Roman" pitchFamily="18" charset="0"/>
                      </a:endParaRPr>
                    </a:p>
                    <a:p>
                      <a:pPr algn="ctr"/>
                      <a:endParaRPr lang="en-IN" sz="1600" dirty="0">
                        <a:latin typeface="Times New Roman" pitchFamily="18" charset="0"/>
                        <a:cs typeface="Times New Roman" pitchFamily="18" charset="0"/>
                      </a:endParaRPr>
                    </a:p>
                    <a:p>
                      <a:pPr marL="0" algn="ctr" defTabSz="914400" rtl="0" eaLnBrk="1" latinLnBrk="0" hangingPunct="1"/>
                      <a:r>
                        <a:rPr lang="en-IN" sz="1600" kern="1200" dirty="0">
                          <a:solidFill>
                            <a:schemeClr val="dk1"/>
                          </a:solidFill>
                          <a:latin typeface="Times New Roman" pitchFamily="18" charset="0"/>
                          <a:ea typeface="+mn-ea"/>
                          <a:cs typeface="Times New Roman" pitchFamily="18" charset="0"/>
                        </a:rPr>
                        <a:t>H.-C. Park et al.</a:t>
                      </a:r>
                    </a:p>
                  </a:txBody>
                  <a:tcPr marL="91444" marR="91444" marT="45717" marB="45717"/>
                </a:tc>
                <a:tc>
                  <a:txBody>
                    <a:bodyPr/>
                    <a:lstStyle/>
                    <a:p>
                      <a:pPr marL="0" algn="ctr" defTabSz="914400" rtl="0" eaLnBrk="1" latinLnBrk="0" hangingPunct="1"/>
                      <a:r>
                        <a:rPr lang="en-US" sz="1600" kern="1200" dirty="0">
                          <a:solidFill>
                            <a:schemeClr val="dk1"/>
                          </a:solidFill>
                          <a:latin typeface="Times New Roman" pitchFamily="18" charset="0"/>
                          <a:ea typeface="+mn-ea"/>
                          <a:cs typeface="Times New Roman" pitchFamily="18" charset="0"/>
                        </a:rPr>
                        <a:t>"Design and Evaluation of High-Speed Overcurrent and Short-Circuit Detection Circuits With High Noise Margin for WBG Power Semiconductor Devices"</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tc>
                  <a:txBody>
                    <a:bodyPr/>
                    <a:lstStyle/>
                    <a:p>
                      <a:pPr marL="0" algn="l" defTabSz="914400" rtl="0" eaLnBrk="1" latinLnBrk="0" hangingPunct="1"/>
                      <a:r>
                        <a:rPr lang="en-IN" sz="1600" kern="1200" dirty="0">
                          <a:solidFill>
                            <a:schemeClr val="dk1"/>
                          </a:solidFill>
                          <a:latin typeface="Times New Roman" pitchFamily="18" charset="0"/>
                          <a:ea typeface="+mn-ea"/>
                          <a:cs typeface="Times New Roman" pitchFamily="18" charset="0"/>
                        </a:rPr>
                        <a:t>2024, IEEE Access</a:t>
                      </a:r>
                    </a:p>
                  </a:txBody>
                  <a:tcPr marL="91444" marR="91444" marT="45717" marB="45717"/>
                </a:tc>
                <a:tc>
                  <a:txBody>
                    <a:bodyPr/>
                    <a:lstStyle/>
                    <a:p>
                      <a:pPr marL="0" algn="l" defTabSz="914400" rtl="0" eaLnBrk="1" latinLnBrk="0" hangingPunct="1"/>
                      <a:r>
                        <a:rPr lang="en-US" sz="1600" kern="1200" dirty="0">
                          <a:solidFill>
                            <a:schemeClr val="dk1"/>
                          </a:solidFill>
                          <a:latin typeface="Times New Roman" pitchFamily="18" charset="0"/>
                          <a:ea typeface="+mn-ea"/>
                          <a:cs typeface="Times New Roman" pitchFamily="18" charset="0"/>
                        </a:rPr>
                        <a:t>Focuses on device-level protection circuits lacks application to large-scale EV systems or grid-connected setups.</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extLst>
                  <a:ext uri="{0D108BD9-81ED-4DB2-BD59-A6C34878D82A}">
                    <a16:rowId xmlns:a16="http://schemas.microsoft.com/office/drawing/2014/main" val="10001"/>
                  </a:ext>
                </a:extLst>
              </a:tr>
              <a:tr h="1310724">
                <a:tc>
                  <a:txBody>
                    <a:bodyPr/>
                    <a:lstStyle/>
                    <a:p>
                      <a:pPr marL="0" algn="ctr" defTabSz="914400" rtl="0" eaLnBrk="1" latinLnBrk="0" hangingPunct="1"/>
                      <a:endParaRPr lang="en-IN" sz="1600" kern="1200" dirty="0">
                        <a:solidFill>
                          <a:schemeClr val="dk1"/>
                        </a:solidFill>
                        <a:latin typeface="Times New Roman" pitchFamily="18" charset="0"/>
                        <a:ea typeface="+mn-ea"/>
                        <a:cs typeface="Times New Roman" pitchFamily="18" charset="0"/>
                      </a:endParaRPr>
                    </a:p>
                    <a:p>
                      <a:pPr marL="0" algn="ctr" defTabSz="914400" rtl="0" eaLnBrk="1" latinLnBrk="0" hangingPunct="1"/>
                      <a:r>
                        <a:rPr lang="en-IN" sz="1600" kern="1200" dirty="0">
                          <a:solidFill>
                            <a:schemeClr val="dk1"/>
                          </a:solidFill>
                          <a:latin typeface="Times New Roman" pitchFamily="18" charset="0"/>
                          <a:ea typeface="+mn-ea"/>
                          <a:cs typeface="Times New Roman" pitchFamily="18" charset="0"/>
                        </a:rPr>
                        <a:t>D. Walch et al.</a:t>
                      </a:r>
                    </a:p>
                  </a:txBody>
                  <a:tcPr marL="91444" marR="91444" marT="45717" marB="45717"/>
                </a:tc>
                <a:tc>
                  <a:txBody>
                    <a:bodyPr/>
                    <a:lstStyle/>
                    <a:p>
                      <a:pPr marL="0" algn="l" defTabSz="914400" rtl="0" eaLnBrk="1" latinLnBrk="0" hangingPunct="1"/>
                      <a:r>
                        <a:rPr lang="en-US" sz="1600" kern="1200" dirty="0">
                          <a:solidFill>
                            <a:schemeClr val="dk1"/>
                          </a:solidFill>
                          <a:latin typeface="Times New Roman" pitchFamily="18" charset="0"/>
                          <a:ea typeface="+mn-ea"/>
                          <a:cs typeface="Times New Roman" pitchFamily="18" charset="0"/>
                        </a:rPr>
                        <a:t>"Inter-Turn Short Circuit Faults and Mitigation Measures for Dual-Three Phase Machines"</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tc>
                  <a:txBody>
                    <a:bodyPr/>
                    <a:lstStyle/>
                    <a:p>
                      <a:pPr marL="0" algn="l" defTabSz="914400" rtl="0" eaLnBrk="1" latinLnBrk="0" hangingPunct="1"/>
                      <a:r>
                        <a:rPr lang="en-IN" sz="1600" kern="1200" dirty="0">
                          <a:solidFill>
                            <a:schemeClr val="dk1"/>
                          </a:solidFill>
                          <a:latin typeface="Times New Roman" pitchFamily="18" charset="0"/>
                          <a:ea typeface="+mn-ea"/>
                          <a:cs typeface="Times New Roman" pitchFamily="18" charset="0"/>
                        </a:rPr>
                        <a:t>2024, ICEM Conference</a:t>
                      </a:r>
                    </a:p>
                  </a:txBody>
                  <a:tcPr marL="91444" marR="91444" marT="45717" marB="45717"/>
                </a:tc>
                <a:tc>
                  <a:txBody>
                    <a:bodyPr/>
                    <a:lstStyle/>
                    <a:p>
                      <a:pPr marL="0" algn="l" defTabSz="914400" rtl="0" eaLnBrk="1" latinLnBrk="0" hangingPunct="1"/>
                      <a:r>
                        <a:rPr lang="en-US" sz="1600" kern="1200" dirty="0">
                          <a:solidFill>
                            <a:schemeClr val="dk1"/>
                          </a:solidFill>
                          <a:latin typeface="Times New Roman" pitchFamily="18" charset="0"/>
                          <a:ea typeface="+mn-ea"/>
                          <a:cs typeface="Times New Roman" pitchFamily="18" charset="0"/>
                        </a:rPr>
                        <a:t>Limited to specific machine configurations applicability to other motor types or EV systems not explored.</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extLst>
                  <a:ext uri="{0D108BD9-81ED-4DB2-BD59-A6C34878D82A}">
                    <a16:rowId xmlns:a16="http://schemas.microsoft.com/office/drawing/2014/main" val="10002"/>
                  </a:ext>
                </a:extLst>
              </a:tr>
              <a:tr h="1310724">
                <a:tc>
                  <a:txBody>
                    <a:bodyPr/>
                    <a:lstStyle/>
                    <a:p>
                      <a:pPr algn="ctr"/>
                      <a:endParaRPr lang="sv-SE" sz="1600" dirty="0">
                        <a:latin typeface="Times New Roman" pitchFamily="18" charset="0"/>
                        <a:cs typeface="Times New Roman" pitchFamily="18" charset="0"/>
                      </a:endParaRPr>
                    </a:p>
                    <a:p>
                      <a:pPr algn="ctr"/>
                      <a:endParaRPr lang="sv-SE" sz="1600" dirty="0">
                        <a:latin typeface="Times New Roman" pitchFamily="18" charset="0"/>
                        <a:cs typeface="Times New Roman" pitchFamily="18" charset="0"/>
                      </a:endParaRPr>
                    </a:p>
                    <a:p>
                      <a:pPr marL="0" algn="ctr" defTabSz="914400" rtl="0" eaLnBrk="1" latinLnBrk="0" hangingPunct="1"/>
                      <a:r>
                        <a:rPr lang="en-IN" sz="1600" kern="1200" dirty="0">
                          <a:solidFill>
                            <a:schemeClr val="dk1"/>
                          </a:solidFill>
                          <a:latin typeface="Times New Roman" pitchFamily="18" charset="0"/>
                          <a:ea typeface="+mn-ea"/>
                          <a:cs typeface="Times New Roman" pitchFamily="18" charset="0"/>
                        </a:rPr>
                        <a:t>I. Husain et al.</a:t>
                      </a:r>
                    </a:p>
                  </a:txBody>
                  <a:tcPr marL="91444" marR="91444" marT="45717" marB="45717"/>
                </a:tc>
                <a:tc>
                  <a:txBody>
                    <a:bodyPr/>
                    <a:lstStyle/>
                    <a:p>
                      <a:pPr marL="0" algn="l" defTabSz="914400" rtl="0" eaLnBrk="1" latinLnBrk="0" hangingPunct="1"/>
                      <a:r>
                        <a:rPr lang="en-US" sz="1600" kern="1200" dirty="0">
                          <a:solidFill>
                            <a:schemeClr val="dk1"/>
                          </a:solidFill>
                          <a:latin typeface="Times New Roman" pitchFamily="18" charset="0"/>
                          <a:ea typeface="+mn-ea"/>
                          <a:cs typeface="Times New Roman" pitchFamily="18" charset="0"/>
                        </a:rPr>
                        <a:t>"Electric Drive Technology Trends, Challenges, and Opportunities for Future Electric Vehicles"</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tc>
                  <a:txBody>
                    <a:bodyPr/>
                    <a:lstStyle/>
                    <a:p>
                      <a:pPr marL="0" algn="l" defTabSz="914400" rtl="0" eaLnBrk="1" latinLnBrk="0" hangingPunct="1"/>
                      <a:r>
                        <a:rPr lang="en-US" sz="1600" kern="1200" dirty="0">
                          <a:solidFill>
                            <a:schemeClr val="dk1"/>
                          </a:solidFill>
                          <a:latin typeface="Times New Roman" pitchFamily="18" charset="0"/>
                          <a:ea typeface="+mn-ea"/>
                          <a:cs typeface="Times New Roman" pitchFamily="18" charset="0"/>
                        </a:rPr>
                        <a:t>2021, Proceedings of the IEEE</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tc>
                  <a:txBody>
                    <a:bodyPr/>
                    <a:lstStyle/>
                    <a:p>
                      <a:pPr marL="0" algn="l" defTabSz="914400" rtl="0" eaLnBrk="1" latinLnBrk="0" hangingPunct="1"/>
                      <a:r>
                        <a:rPr lang="en-US" sz="1600" kern="1200" dirty="0">
                          <a:solidFill>
                            <a:schemeClr val="dk1"/>
                          </a:solidFill>
                          <a:latin typeface="Times New Roman" pitchFamily="18" charset="0"/>
                          <a:ea typeface="+mn-ea"/>
                          <a:cs typeface="Times New Roman" pitchFamily="18" charset="0"/>
                        </a:rPr>
                        <a:t>Broad overview of trends does not provide deep technical insight into fault detection or mitigation strategies.</a:t>
                      </a:r>
                      <a:endParaRPr lang="en-IN" sz="1600" kern="1200" dirty="0">
                        <a:solidFill>
                          <a:schemeClr val="dk1"/>
                        </a:solidFill>
                        <a:latin typeface="Times New Roman" pitchFamily="18" charset="0"/>
                        <a:ea typeface="+mn-ea"/>
                        <a:cs typeface="Times New Roman" pitchFamily="18" charset="0"/>
                      </a:endParaRPr>
                    </a:p>
                  </a:txBody>
                  <a:tcPr marL="91444" marR="91444" marT="45717" marB="45717"/>
                </a:tc>
                <a:extLst>
                  <a:ext uri="{0D108BD9-81ED-4DB2-BD59-A6C34878D82A}">
                    <a16:rowId xmlns:a16="http://schemas.microsoft.com/office/drawing/2014/main" val="10003"/>
                  </a:ext>
                </a:extLst>
              </a:tr>
            </a:tbl>
          </a:graphicData>
        </a:graphic>
      </p:graphicFrame>
      <p:pic>
        <p:nvPicPr>
          <p:cNvPr id="4126" name="Picture 6" descr="kr_logo">
            <a:extLst>
              <a:ext uri="{FF2B5EF4-FFF2-40B4-BE49-F238E27FC236}">
                <a16:creationId xmlns:a16="http://schemas.microsoft.com/office/drawing/2014/main" id="{12846F75-106E-EFE7-3DA5-4AD7C3634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27" name="Picture 3">
            <a:extLst>
              <a:ext uri="{FF2B5EF4-FFF2-40B4-BE49-F238E27FC236}">
                <a16:creationId xmlns:a16="http://schemas.microsoft.com/office/drawing/2014/main" id="{B5DF8673-12FC-5B65-A6BF-DE7FE9157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1919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853927DA-E289-3EB4-9140-41D74FB2DF60}"/>
              </a:ext>
            </a:extLst>
          </p:cNvPr>
          <p:cNvSpPr>
            <a:spLocks noGrp="1" noChangeArrowheads="1"/>
          </p:cNvSpPr>
          <p:nvPr>
            <p:ph idx="1"/>
          </p:nvPr>
        </p:nvSpPr>
        <p:spPr>
          <a:xfrm>
            <a:off x="800100" y="1714500"/>
            <a:ext cx="3246438" cy="598488"/>
          </a:xfrm>
        </p:spPr>
        <p:txBody>
          <a:bodyPr/>
          <a:lstStyle/>
          <a:p>
            <a:pPr marL="0" indent="0" eaLnBrk="1" hangingPunct="1">
              <a:buFont typeface="Arial" panose="020B0604020202020204" pitchFamily="34" charset="0"/>
              <a:buNone/>
            </a:pPr>
            <a:r>
              <a:rPr lang="en-IN" altLang="en-US" sz="3200" b="1">
                <a:latin typeface="Times New Roman" panose="02020603050405020304" pitchFamily="18" charset="0"/>
                <a:cs typeface="Times New Roman" panose="02020603050405020304" pitchFamily="18" charset="0"/>
              </a:rPr>
              <a:t>Existing System</a:t>
            </a:r>
          </a:p>
          <a:p>
            <a:pPr marL="0" indent="0" eaLnBrk="1" hangingPunct="1">
              <a:buFont typeface="Arial" panose="020B0604020202020204" pitchFamily="34" charset="0"/>
              <a:buNone/>
            </a:pPr>
            <a:endParaRPr lang="en-IN" altLang="en-US" b="1">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endParaRPr lang="en-IN" altLang="en-US" sz="2000">
              <a:latin typeface="Times New Roman" panose="02020603050405020304" pitchFamily="18" charset="0"/>
              <a:cs typeface="Times New Roman" panose="02020603050405020304" pitchFamily="18" charset="0"/>
            </a:endParaRPr>
          </a:p>
        </p:txBody>
      </p:sp>
      <p:pic>
        <p:nvPicPr>
          <p:cNvPr id="5123" name="Picture 6" descr="kr_logo">
            <a:extLst>
              <a:ext uri="{FF2B5EF4-FFF2-40B4-BE49-F238E27FC236}">
                <a16:creationId xmlns:a16="http://schemas.microsoft.com/office/drawing/2014/main" id="{7234DBDA-77DC-B6A9-687A-FFDED579A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523875"/>
            <a:ext cx="827087"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3998AE3-7297-32E6-DF8C-7ABBF4DC611A}"/>
              </a:ext>
            </a:extLst>
          </p:cNvPr>
          <p:cNvSpPr txBox="1"/>
          <p:nvPr/>
        </p:nvSpPr>
        <p:spPr>
          <a:xfrm>
            <a:off x="588963" y="2624138"/>
            <a:ext cx="11186270" cy="2345322"/>
          </a:xfrm>
          <a:prstGeom prst="rect">
            <a:avLst/>
          </a:prstGeom>
          <a:noFill/>
        </p:spPr>
        <p:txBody>
          <a:bodyPr wrap="square">
            <a:spAutoFit/>
          </a:bodyPr>
          <a:lstStyle/>
          <a:p>
            <a:pPr marL="476250" indent="-342900" algn="just" eaLnBrk="1" hangingPunct="1">
              <a:lnSpc>
                <a:spcPct val="150000"/>
              </a:lnSpc>
              <a:buSzPts val="15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Existing system uses a basic power supply that sends electricity directly to the vehicle without checking for problems.</a:t>
            </a:r>
            <a:endParaRPr lang="en-IN" altLang="en-US" sz="2000" dirty="0">
              <a:latin typeface="Times New Roman" panose="02020603050405020304" pitchFamily="18" charset="0"/>
              <a:cs typeface="Times New Roman" panose="02020603050405020304" pitchFamily="18" charset="0"/>
            </a:endParaRPr>
          </a:p>
          <a:p>
            <a:pPr marL="476250" indent="-342900" algn="just" eaLnBrk="1" hangingPunct="1">
              <a:lnSpc>
                <a:spcPct val="150000"/>
              </a:lnSpc>
              <a:buSzPts val="15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Fuses and circuit breakers are used to stop power only after a short circuit happens.</a:t>
            </a:r>
            <a:endParaRPr lang="en-IN" altLang="en-US" sz="2000" dirty="0">
              <a:latin typeface="Times New Roman" panose="02020603050405020304" pitchFamily="18" charset="0"/>
              <a:cs typeface="Times New Roman" panose="02020603050405020304" pitchFamily="18" charset="0"/>
            </a:endParaRPr>
          </a:p>
          <a:p>
            <a:pPr marL="476250" indent="-342900" algn="just" eaLnBrk="1" hangingPunct="1">
              <a:lnSpc>
                <a:spcPct val="150000"/>
              </a:lnSpc>
              <a:buSzPts val="15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These safety parts work slowly and only react after damage may have already started.</a:t>
            </a:r>
            <a:endParaRPr lang="en-IN" altLang="en-US" sz="2000" dirty="0">
              <a:latin typeface="Times New Roman" panose="02020603050405020304" pitchFamily="18" charset="0"/>
              <a:cs typeface="Times New Roman" panose="02020603050405020304" pitchFamily="18" charset="0"/>
            </a:endParaRPr>
          </a:p>
          <a:p>
            <a:pPr marL="476250" indent="-342900" algn="just" eaLnBrk="1" hangingPunct="1">
              <a:lnSpc>
                <a:spcPct val="150000"/>
              </a:lnSpc>
              <a:buSzPts val="15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There is no smart control or real-time monitoring, which means the system cannot prevent faults early.</a:t>
            </a:r>
            <a:endParaRPr lang="en-IN" altLang="en-US" sz="2000" dirty="0">
              <a:latin typeface="Times New Roman" panose="02020603050405020304" pitchFamily="18" charset="0"/>
              <a:cs typeface="Times New Roman" panose="02020603050405020304" pitchFamily="18" charset="0"/>
            </a:endParaRPr>
          </a:p>
        </p:txBody>
      </p:sp>
      <p:pic>
        <p:nvPicPr>
          <p:cNvPr id="5125" name="Picture 3">
            <a:extLst>
              <a:ext uri="{FF2B5EF4-FFF2-40B4-BE49-F238E27FC236}">
                <a16:creationId xmlns:a16="http://schemas.microsoft.com/office/drawing/2014/main" id="{FD168F61-3D59-632C-96FE-514CFF8BF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30571-0755-9BF4-E8F5-FB18878E4516}"/>
            </a:ext>
          </a:extLst>
        </p:cNvPr>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085B2BD2-85BE-D375-55BF-1567FB93A855}"/>
              </a:ext>
            </a:extLst>
          </p:cNvPr>
          <p:cNvSpPr>
            <a:spLocks noGrp="1" noChangeArrowheads="1"/>
          </p:cNvSpPr>
          <p:nvPr>
            <p:ph idx="1"/>
          </p:nvPr>
        </p:nvSpPr>
        <p:spPr>
          <a:xfrm>
            <a:off x="800099" y="1714500"/>
            <a:ext cx="6683051" cy="598488"/>
          </a:xfrm>
        </p:spPr>
        <p:txBody>
          <a:bodyPr/>
          <a:lstStyle/>
          <a:p>
            <a:pPr marL="0" indent="0" eaLnBrk="1" hangingPunct="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Block Diagram of Existing System </a:t>
            </a:r>
          </a:p>
          <a:p>
            <a:pPr marL="0" indent="0" eaLnBrk="1" hangingPunct="1">
              <a:buFont typeface="Arial" panose="020B0604020202020204" pitchFamily="34" charset="0"/>
              <a:buNone/>
            </a:pPr>
            <a:endParaRPr lang="en-IN" altLang="en-US" b="1" dirty="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p:txBody>
      </p:sp>
      <p:pic>
        <p:nvPicPr>
          <p:cNvPr id="5123" name="Picture 6" descr="kr_logo">
            <a:extLst>
              <a:ext uri="{FF2B5EF4-FFF2-40B4-BE49-F238E27FC236}">
                <a16:creationId xmlns:a16="http://schemas.microsoft.com/office/drawing/2014/main" id="{607B3F25-023E-7EDD-7FF5-6DC3F21D9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523875"/>
            <a:ext cx="827087"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3">
            <a:extLst>
              <a:ext uri="{FF2B5EF4-FFF2-40B4-BE49-F238E27FC236}">
                <a16:creationId xmlns:a16="http://schemas.microsoft.com/office/drawing/2014/main" id="{52828B0E-8C7F-7E93-F49E-C32DAD44F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BDA6DED8-2B99-8BBB-7676-6F278A047AE5}"/>
              </a:ext>
            </a:extLst>
          </p:cNvPr>
          <p:cNvPicPr>
            <a:picLocks noChangeAspect="1"/>
          </p:cNvPicPr>
          <p:nvPr/>
        </p:nvPicPr>
        <p:blipFill>
          <a:blip r:embed="rId4"/>
          <a:stretch>
            <a:fillRect/>
          </a:stretch>
        </p:blipFill>
        <p:spPr>
          <a:xfrm>
            <a:off x="1817914" y="2312988"/>
            <a:ext cx="8556172" cy="4198096"/>
          </a:xfrm>
          <a:prstGeom prst="rect">
            <a:avLst/>
          </a:prstGeom>
        </p:spPr>
      </p:pic>
    </p:spTree>
    <p:extLst>
      <p:ext uri="{BB962C8B-B14F-4D97-AF65-F5344CB8AC3E}">
        <p14:creationId xmlns:p14="http://schemas.microsoft.com/office/powerpoint/2010/main" val="1423465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a:extLst>
              <a:ext uri="{FF2B5EF4-FFF2-40B4-BE49-F238E27FC236}">
                <a16:creationId xmlns:a16="http://schemas.microsoft.com/office/drawing/2014/main" id="{A5195780-CA7D-0076-E0B0-CE413A282E80}"/>
              </a:ext>
            </a:extLst>
          </p:cNvPr>
          <p:cNvSpPr>
            <a:spLocks noGrp="1" noChangeArrowheads="1"/>
          </p:cNvSpPr>
          <p:nvPr>
            <p:ph idx="1"/>
          </p:nvPr>
        </p:nvSpPr>
        <p:spPr>
          <a:xfrm>
            <a:off x="838200" y="1602582"/>
            <a:ext cx="4637088" cy="728663"/>
          </a:xfrm>
        </p:spPr>
        <p:txBody>
          <a:bodyPr/>
          <a:lstStyle/>
          <a:p>
            <a:pPr marL="0" indent="0" eaLnBrk="1" hangingPunct="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Problem Statement</a:t>
            </a:r>
          </a:p>
          <a:p>
            <a:pPr marL="0" indent="0" eaLnBrk="1" hangingPunct="1">
              <a:buFont typeface="Arial" panose="020B0604020202020204" pitchFamily="34" charset="0"/>
              <a:buNone/>
            </a:pPr>
            <a:endParaRPr lang="en-IN" altLang="en-US" b="1" dirty="0">
              <a:latin typeface="Times New Roman" panose="02020603050405020304" pitchFamily="18" charset="0"/>
              <a:cs typeface="Times New Roman" panose="02020603050405020304" pitchFamily="18" charset="0"/>
            </a:endParaRPr>
          </a:p>
        </p:txBody>
      </p:sp>
      <p:pic>
        <p:nvPicPr>
          <p:cNvPr id="6147" name="Picture 6" descr="kr_logo">
            <a:extLst>
              <a:ext uri="{FF2B5EF4-FFF2-40B4-BE49-F238E27FC236}">
                <a16:creationId xmlns:a16="http://schemas.microsoft.com/office/drawing/2014/main" id="{A3DDA6AF-0A2B-1E5F-FEEB-98EDC793A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TextBox 4">
            <a:extLst>
              <a:ext uri="{FF2B5EF4-FFF2-40B4-BE49-F238E27FC236}">
                <a16:creationId xmlns:a16="http://schemas.microsoft.com/office/drawing/2014/main" id="{85EBB1A1-FAE7-E005-4EB9-9207B9E2341A}"/>
              </a:ext>
            </a:extLst>
          </p:cNvPr>
          <p:cNvSpPr txBox="1">
            <a:spLocks noChangeArrowheads="1"/>
          </p:cNvSpPr>
          <p:nvPr/>
        </p:nvSpPr>
        <p:spPr bwMode="auto">
          <a:xfrm>
            <a:off x="838200" y="2540764"/>
            <a:ext cx="10619793" cy="271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476250" indent="-342900" algn="just" eaLnBrk="1" hangingPunct="1">
              <a:lnSpc>
                <a:spcPct val="150000"/>
              </a:lnSpc>
              <a:spcBef>
                <a:spcPct val="0"/>
              </a:spcBef>
              <a:buSzPts val="15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Electric vehicles are prone to short circuits due to cell imbalance, overcurrent, insulation failure, and thermal runaway.</a:t>
            </a:r>
          </a:p>
          <a:p>
            <a:pPr marL="476250" indent="-342900" algn="just" eaLnBrk="1" hangingPunct="1">
              <a:lnSpc>
                <a:spcPct val="150000"/>
              </a:lnSpc>
              <a:spcBef>
                <a:spcPct val="0"/>
              </a:spcBef>
              <a:buSzPts val="15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These faults can cause severe safety risks, system failures, and damage to components.</a:t>
            </a:r>
          </a:p>
          <a:p>
            <a:pPr marL="476250" indent="-342900" algn="just" eaLnBrk="1" hangingPunct="1">
              <a:lnSpc>
                <a:spcPct val="150000"/>
              </a:lnSpc>
              <a:spcBef>
                <a:spcPct val="0"/>
              </a:spcBef>
              <a:buSzPts val="1500"/>
              <a:buFont typeface="Wingdings" panose="05000000000000000000" pitchFamily="2" charset="2"/>
              <a:buChar char="q"/>
              <a:defRPr/>
            </a:pPr>
            <a:r>
              <a:rPr lang="en-US" sz="2000" dirty="0">
                <a:latin typeface="Times New Roman" panose="02020603050405020304" pitchFamily="18" charset="0"/>
                <a:cs typeface="Times New Roman" panose="02020603050405020304" pitchFamily="18" charset="0"/>
              </a:rPr>
              <a:t>Conventional methods like fuses and breakers react slowly and lack real-time fault detection.</a:t>
            </a:r>
          </a:p>
          <a:p>
            <a:pPr marL="476250" indent="-342900" algn="just" eaLnBrk="1" hangingPunct="1">
              <a:lnSpc>
                <a:spcPct val="150000"/>
              </a:lnSpc>
              <a:spcBef>
                <a:spcPct val="0"/>
              </a:spcBef>
              <a:buSzPts val="1500"/>
              <a:buFont typeface="Wingdings" panose="05000000000000000000" pitchFamily="2" charset="2"/>
              <a:buChar char="q"/>
              <a:defRPr/>
            </a:pPr>
            <a:r>
              <a:rPr lang="en-US" altLang="en-US" sz="2000" dirty="0">
                <a:latin typeface="Times New Roman" panose="02020603050405020304" pitchFamily="18" charset="0"/>
                <a:cs typeface="Times New Roman" panose="02020603050405020304" pitchFamily="18" charset="0"/>
              </a:rPr>
              <a:t> A smart, high-speed system is needed to pro actively detect and prevent short circuits in Evs.</a:t>
            </a:r>
            <a:endParaRPr lang="en-IN" altLang="en-US" sz="2000" dirty="0">
              <a:latin typeface="Times New Roman" panose="02020603050405020304" pitchFamily="18" charset="0"/>
              <a:cs typeface="Times New Roman" panose="02020603050405020304" pitchFamily="18" charset="0"/>
            </a:endParaRPr>
          </a:p>
          <a:p>
            <a:pPr algn="just" eaLnBrk="1" hangingPunct="1">
              <a:lnSpc>
                <a:spcPct val="110000"/>
              </a:lnSpc>
              <a:spcBef>
                <a:spcPct val="0"/>
              </a:spcBef>
              <a:buNone/>
            </a:pPr>
            <a:endParaRPr lang="en-IN" altLang="en-US" sz="2000" dirty="0">
              <a:latin typeface="Times New Roman" panose="02020603050405020304" pitchFamily="18" charset="0"/>
              <a:cs typeface="Times New Roman" panose="02020603050405020304" pitchFamily="18" charset="0"/>
            </a:endParaRPr>
          </a:p>
        </p:txBody>
      </p:sp>
      <p:pic>
        <p:nvPicPr>
          <p:cNvPr id="6149" name="Picture 3">
            <a:extLst>
              <a:ext uri="{FF2B5EF4-FFF2-40B4-BE49-F238E27FC236}">
                <a16:creationId xmlns:a16="http://schemas.microsoft.com/office/drawing/2014/main" id="{20582BB0-5AFA-548F-F99E-7F140203C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0E99F3-05E0-8180-5F86-D31801A83577}"/>
              </a:ext>
            </a:extLst>
          </p:cNvPr>
          <p:cNvSpPr>
            <a:spLocks noGrp="1"/>
          </p:cNvSpPr>
          <p:nvPr>
            <p:ph type="title"/>
          </p:nvPr>
        </p:nvSpPr>
        <p:spPr>
          <a:xfrm>
            <a:off x="838200" y="1601787"/>
            <a:ext cx="10515600" cy="900113"/>
          </a:xfrm>
        </p:spPr>
        <p:txBody>
          <a:bodyPr/>
          <a:lstStyle/>
          <a:p>
            <a:pPr eaLnBrk="1" hangingPunct="1">
              <a:spcBef>
                <a:spcPts val="1000"/>
              </a:spcBef>
            </a:pPr>
            <a:r>
              <a:rPr lang="en-IN" sz="3200" b="1" dirty="0">
                <a:latin typeface="Times New Roman" panose="02020603050405020304" pitchFamily="18" charset="0"/>
                <a:ea typeface="+mn-ea"/>
                <a:cs typeface="Times New Roman" panose="02020603050405020304" pitchFamily="18" charset="0"/>
              </a:rPr>
              <a:t>Objective</a:t>
            </a:r>
          </a:p>
        </p:txBody>
      </p:sp>
      <p:pic>
        <p:nvPicPr>
          <p:cNvPr id="7171" name="Picture 6" descr="kr_logo">
            <a:extLst>
              <a:ext uri="{FF2B5EF4-FFF2-40B4-BE49-F238E27FC236}">
                <a16:creationId xmlns:a16="http://schemas.microsoft.com/office/drawing/2014/main" id="{6ACE4DC8-311E-8B42-ADCE-827562160D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3">
            <a:extLst>
              <a:ext uri="{FF2B5EF4-FFF2-40B4-BE49-F238E27FC236}">
                <a16:creationId xmlns:a16="http://schemas.microsoft.com/office/drawing/2014/main" id="{C4412BE0-FB79-BE08-55F6-3CB697AF2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a:extLst>
              <a:ext uri="{FF2B5EF4-FFF2-40B4-BE49-F238E27FC236}">
                <a16:creationId xmlns:a16="http://schemas.microsoft.com/office/drawing/2014/main" id="{C1A7CE74-4D1B-A3AF-0CD0-9CB1342A2C54}"/>
              </a:ext>
            </a:extLst>
          </p:cNvPr>
          <p:cNvSpPr>
            <a:spLocks noGrp="1" noChangeArrowheads="1"/>
          </p:cNvSpPr>
          <p:nvPr>
            <p:ph idx="1"/>
          </p:nvPr>
        </p:nvSpPr>
        <p:spPr bwMode="auto">
          <a:xfrm>
            <a:off x="838200" y="2624138"/>
            <a:ext cx="10515600"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eaLnBrk="1" latinLnBrk="0" hangingPunct="1">
              <a:lnSpc>
                <a:spcPct val="150000"/>
              </a:lnSpc>
              <a:spcBef>
                <a:spcPct val="0"/>
              </a:spcBef>
              <a:buClrTx/>
              <a:buSzTx/>
              <a:buNone/>
              <a:tabLst/>
            </a:pPr>
            <a:r>
              <a:rPr lang="en-US" sz="2000" dirty="0">
                <a:latin typeface="Times New Roman" panose="02020603050405020304" pitchFamily="18" charset="0"/>
                <a:cs typeface="Times New Roman" panose="02020603050405020304" pitchFamily="18" charset="0"/>
              </a:rPr>
              <a:t>	Our project aims to develop a proactive safety system for electric vehicles (EVs) that detects and prevents short circuits using machine learning and high-speed monitoring. It focuses on addressing key issues such as cell imbalance, overcurrent, insulation failure, and thermal runaway. The goal is to enhance system performance and user safety while promoting sustainable EV adoption through advanced fault prevention. The system will replace conventional reactive methods with intelligent, adaptive control solutions tailored for modern EV platforms.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D2F8C-1F1C-E4B5-8BE4-E8A4683AA6C0}"/>
              </a:ext>
            </a:extLst>
          </p:cNvPr>
          <p:cNvSpPr>
            <a:spLocks noGrp="1"/>
          </p:cNvSpPr>
          <p:nvPr>
            <p:ph type="title"/>
          </p:nvPr>
        </p:nvSpPr>
        <p:spPr>
          <a:xfrm>
            <a:off x="685800" y="1530381"/>
            <a:ext cx="10515600" cy="1325563"/>
          </a:xfrm>
        </p:spPr>
        <p:txBody>
          <a:bodyPr/>
          <a:lstStyle/>
          <a:p>
            <a:r>
              <a:rPr lang="en-IN" altLang="en-US" sz="4400" b="1" dirty="0">
                <a:latin typeface="Times New Roman" panose="02020603050405020304" pitchFamily="18" charset="0"/>
                <a:cs typeface="Times New Roman" panose="02020603050405020304" pitchFamily="18" charset="0"/>
              </a:rPr>
              <a:t>Proposed Methodology</a:t>
            </a:r>
            <a:br>
              <a:rPr lang="en-IN" altLang="en-US" sz="4400" b="1" dirty="0">
                <a:latin typeface="Times New Roman" panose="02020603050405020304" pitchFamily="18" charset="0"/>
                <a:cs typeface="Times New Roman" panose="02020603050405020304" pitchFamily="18" charset="0"/>
              </a:rPr>
            </a:br>
            <a:endParaRPr lang="en-IN" dirty="0"/>
          </a:p>
        </p:txBody>
      </p:sp>
      <p:sp>
        <p:nvSpPr>
          <p:cNvPr id="8194" name="Content Placeholder 2">
            <a:extLst>
              <a:ext uri="{FF2B5EF4-FFF2-40B4-BE49-F238E27FC236}">
                <a16:creationId xmlns:a16="http://schemas.microsoft.com/office/drawing/2014/main" id="{7793B1C0-55F9-2D5F-B9C9-4886B9ABFF73}"/>
              </a:ext>
            </a:extLst>
          </p:cNvPr>
          <p:cNvSpPr>
            <a:spLocks noGrp="1" noChangeArrowheads="1"/>
          </p:cNvSpPr>
          <p:nvPr>
            <p:ph idx="1"/>
          </p:nvPr>
        </p:nvSpPr>
        <p:spPr>
          <a:xfrm>
            <a:off x="818989" y="2680314"/>
            <a:ext cx="9441024" cy="3741673"/>
          </a:xfrm>
        </p:spPr>
        <p:txBody>
          <a:bodyPr/>
          <a:lstStyle/>
          <a:p>
            <a:pPr eaLnBrk="1" hangingPunct="1">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Sensor Data Collection</a:t>
            </a:r>
          </a:p>
          <a:p>
            <a:pPr eaLnBrk="1" hangingPunct="1">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Cell Imbalance Detection</a:t>
            </a:r>
          </a:p>
          <a:p>
            <a:pPr eaLnBrk="1" hangingPunct="1">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AI-Based Predictive Analytics</a:t>
            </a:r>
          </a:p>
          <a:p>
            <a:pPr eaLnBrk="1" hangingPunct="1">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Automated Circuit Isolation Mechanism</a:t>
            </a:r>
          </a:p>
          <a:p>
            <a:pPr eaLnBrk="1" hangingPunct="1">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Real-Time Monitoring</a:t>
            </a:r>
          </a:p>
          <a:p>
            <a:pPr eaLnBrk="1" hangingPunct="1">
              <a:buFont typeface="Wingdings" panose="05000000000000000000" pitchFamily="2" charset="2"/>
              <a:buChar char="q"/>
            </a:pPr>
            <a:r>
              <a:rPr lang="en-IN" altLang="en-US" sz="2000" dirty="0">
                <a:latin typeface="Times New Roman" panose="02020603050405020304" pitchFamily="18" charset="0"/>
                <a:cs typeface="Times New Roman" panose="02020603050405020304" pitchFamily="18" charset="0"/>
              </a:rPr>
              <a:t> Cloud Storage</a:t>
            </a:r>
          </a:p>
          <a:p>
            <a:pPr eaLnBrk="1" hangingPunct="1">
              <a:buFont typeface="Wingdings" panose="05000000000000000000" pitchFamily="2" charset="2"/>
              <a:buChar char="q"/>
            </a:pPr>
            <a:r>
              <a:rPr lang="en-IN" altLang="en-US" sz="2000" dirty="0">
                <a:latin typeface="Times New Roman" panose="02020603050405020304" pitchFamily="18" charset="0"/>
                <a:cs typeface="Times New Roman" panose="02020603050405020304" pitchFamily="18" charset="0"/>
              </a:rPr>
              <a:t> Alert and Safety Mechanism</a:t>
            </a:r>
          </a:p>
        </p:txBody>
      </p:sp>
      <p:pic>
        <p:nvPicPr>
          <p:cNvPr id="8195" name="Picture 6" descr="kr_logo">
            <a:extLst>
              <a:ext uri="{FF2B5EF4-FFF2-40B4-BE49-F238E27FC236}">
                <a16:creationId xmlns:a16="http://schemas.microsoft.com/office/drawing/2014/main" id="{4FA21505-2EDA-3AF1-E01A-06F2AEB6D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Picture 3">
            <a:extLst>
              <a:ext uri="{FF2B5EF4-FFF2-40B4-BE49-F238E27FC236}">
                <a16:creationId xmlns:a16="http://schemas.microsoft.com/office/drawing/2014/main" id="{7BD559B4-131A-CF18-336E-BBD6574A82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AutoShape 7">
            <a:extLst>
              <a:ext uri="{FF2B5EF4-FFF2-40B4-BE49-F238E27FC236}">
                <a16:creationId xmlns:a16="http://schemas.microsoft.com/office/drawing/2014/main" id="{325FAF4B-196F-C32C-863A-BBD331FE2945}"/>
              </a:ext>
            </a:extLst>
          </p:cNvPr>
          <p:cNvSpPr>
            <a:spLocks noChangeAspect="1" noChangeArrowheads="1"/>
          </p:cNvSpPr>
          <p:nvPr/>
        </p:nvSpPr>
        <p:spPr bwMode="auto">
          <a:xfrm>
            <a:off x="5943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8198" name="AutoShape 11">
            <a:extLst>
              <a:ext uri="{FF2B5EF4-FFF2-40B4-BE49-F238E27FC236}">
                <a16:creationId xmlns:a16="http://schemas.microsoft.com/office/drawing/2014/main" id="{CE3E691C-E57B-89B2-6F94-595D86F5A738}"/>
              </a:ext>
            </a:extLst>
          </p:cNvPr>
          <p:cNvSpPr>
            <a:spLocks noChangeAspect="1" noChangeArrowheads="1"/>
          </p:cNvSpPr>
          <p:nvPr/>
        </p:nvSpPr>
        <p:spPr bwMode="auto">
          <a:xfrm>
            <a:off x="6096000" y="34290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8199" name="AutoShape 13">
            <a:extLst>
              <a:ext uri="{FF2B5EF4-FFF2-40B4-BE49-F238E27FC236}">
                <a16:creationId xmlns:a16="http://schemas.microsoft.com/office/drawing/2014/main" id="{38CA28E6-46DF-EB01-1160-77E724973CF9}"/>
              </a:ext>
            </a:extLst>
          </p:cNvPr>
          <p:cNvSpPr>
            <a:spLocks noChangeAspect="1" noChangeArrowheads="1"/>
          </p:cNvSpPr>
          <p:nvPr/>
        </p:nvSpPr>
        <p:spPr bwMode="auto">
          <a:xfrm>
            <a:off x="6248400" y="35814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DC2F1-477C-5822-15F7-D16760089D7B}"/>
              </a:ext>
            </a:extLst>
          </p:cNvPr>
          <p:cNvSpPr>
            <a:spLocks noGrp="1"/>
          </p:cNvSpPr>
          <p:nvPr>
            <p:ph type="title"/>
          </p:nvPr>
        </p:nvSpPr>
        <p:spPr>
          <a:xfrm>
            <a:off x="838200" y="1271588"/>
            <a:ext cx="10515600" cy="1325562"/>
          </a:xfrm>
        </p:spPr>
        <p:txBody>
          <a:bodyPr/>
          <a:lstStyle/>
          <a:p>
            <a:pPr eaLnBrk="1" hangingPunct="1">
              <a:spcBef>
                <a:spcPts val="1000"/>
              </a:spcBef>
              <a:defRPr/>
            </a:pPr>
            <a:r>
              <a:rPr lang="en-IN" sz="3200" b="1" dirty="0">
                <a:latin typeface="Times New Roman" panose="02020603050405020304" pitchFamily="18" charset="0"/>
                <a:ea typeface="+mn-ea"/>
                <a:cs typeface="Times New Roman" panose="02020603050405020304" pitchFamily="18" charset="0"/>
              </a:rPr>
              <a:t>Block Diagram of Proposed System</a:t>
            </a:r>
          </a:p>
        </p:txBody>
      </p:sp>
      <p:pic>
        <p:nvPicPr>
          <p:cNvPr id="9220" name="Picture 3">
            <a:extLst>
              <a:ext uri="{FF2B5EF4-FFF2-40B4-BE49-F238E27FC236}">
                <a16:creationId xmlns:a16="http://schemas.microsoft.com/office/drawing/2014/main" id="{785DA233-5BA1-84FF-E394-E71431090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6" descr="kr_logo">
            <a:extLst>
              <a:ext uri="{FF2B5EF4-FFF2-40B4-BE49-F238E27FC236}">
                <a16:creationId xmlns:a16="http://schemas.microsoft.com/office/drawing/2014/main" id="{1825BA4C-ED32-D063-FBF7-465A0C897C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Content Placeholder 7">
            <a:extLst>
              <a:ext uri="{FF2B5EF4-FFF2-40B4-BE49-F238E27FC236}">
                <a16:creationId xmlns:a16="http://schemas.microsoft.com/office/drawing/2014/main" id="{C6E69F0D-D42D-48B8-27F5-6BB01F104A0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946400" y="2348139"/>
            <a:ext cx="5893253" cy="4351338"/>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08B98-846F-45EF-9393-27FD7E9A2E78}"/>
              </a:ext>
            </a:extLst>
          </p:cNvPr>
          <p:cNvSpPr>
            <a:spLocks noGrp="1"/>
          </p:cNvSpPr>
          <p:nvPr>
            <p:ph type="title"/>
          </p:nvPr>
        </p:nvSpPr>
        <p:spPr>
          <a:xfrm>
            <a:off x="941388" y="1563688"/>
            <a:ext cx="10515600" cy="1325562"/>
          </a:xfrm>
        </p:spPr>
        <p:txBody>
          <a:bodyPr/>
          <a:lstStyle/>
          <a:p>
            <a:pPr eaLnBrk="1" hangingPunct="1">
              <a:spcBef>
                <a:spcPts val="1000"/>
              </a:spcBef>
              <a:defRPr/>
            </a:pPr>
            <a:r>
              <a:rPr lang="en-IN" sz="3200" b="1" dirty="0">
                <a:latin typeface="Times New Roman" panose="02020603050405020304" pitchFamily="18" charset="0"/>
                <a:ea typeface="+mn-ea"/>
                <a:cs typeface="Times New Roman" panose="02020603050405020304" pitchFamily="18" charset="0"/>
              </a:rPr>
              <a:t>Advantages</a:t>
            </a:r>
          </a:p>
        </p:txBody>
      </p:sp>
      <p:sp>
        <p:nvSpPr>
          <p:cNvPr id="10243" name="Content Placeholder 2">
            <a:extLst>
              <a:ext uri="{FF2B5EF4-FFF2-40B4-BE49-F238E27FC236}">
                <a16:creationId xmlns:a16="http://schemas.microsoft.com/office/drawing/2014/main" id="{7BD41DC6-B844-9BAA-5768-DF423B664BBB}"/>
              </a:ext>
            </a:extLst>
          </p:cNvPr>
          <p:cNvSpPr>
            <a:spLocks noGrp="1" noChangeArrowheads="1"/>
          </p:cNvSpPr>
          <p:nvPr>
            <p:ph idx="1"/>
          </p:nvPr>
        </p:nvSpPr>
        <p:spPr>
          <a:xfrm>
            <a:off x="1052513" y="2889250"/>
            <a:ext cx="8194675" cy="2951163"/>
          </a:xfrm>
        </p:spPr>
        <p:txBody>
          <a:bodyPr/>
          <a:lstStyle/>
          <a:p>
            <a:pPr eaLnBrk="1" hangingPunct="1">
              <a:spcBef>
                <a:spcPct val="0"/>
              </a:spcBef>
              <a:buFont typeface="Wingdings" panose="05000000000000000000" pitchFamily="2" charset="2"/>
              <a:buChar char="q"/>
            </a:pPr>
            <a:r>
              <a:rPr lang="en-US" altLang="en-US" sz="2000" dirty="0">
                <a:solidFill>
                  <a:srgbClr val="000000"/>
                </a:solidFill>
                <a:latin typeface="Times New Roman" panose="02020603050405020304" pitchFamily="18" charset="0"/>
                <a:cs typeface="Times New Roman" panose="02020603050405020304" pitchFamily="18" charset="0"/>
              </a:rPr>
              <a:t> Early Detection of Short Circuits</a:t>
            </a:r>
          </a:p>
          <a:p>
            <a:pPr eaLnBrk="1" hangingPunct="1">
              <a:spcBef>
                <a:spcPct val="0"/>
              </a:spcBef>
              <a:buFont typeface="Wingdings" panose="05000000000000000000" pitchFamily="2" charset="2"/>
              <a:buChar char="q"/>
            </a:pPr>
            <a:endParaRPr lang="en-US"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 Detects Cell Imbalance Accurately</a:t>
            </a:r>
          </a:p>
          <a:p>
            <a:pPr eaLnBrk="1" hangingPunct="1">
              <a:spcBef>
                <a:spcPct val="0"/>
              </a:spcBef>
              <a:buFont typeface="Wingdings" panose="05000000000000000000" pitchFamily="2" charset="2"/>
              <a:buChar char="q"/>
            </a:pPr>
            <a:endParaRPr lang="en-US"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 Automated circuit Isolation avoid damage</a:t>
            </a:r>
          </a:p>
          <a:p>
            <a:pPr eaLnBrk="1" hangingPunct="1">
              <a:spcBef>
                <a:spcPct val="0"/>
              </a:spcBef>
              <a:buFont typeface="Wingdings" panose="05000000000000000000" pitchFamily="2" charset="2"/>
              <a:buChar char="q"/>
            </a:pPr>
            <a:endParaRPr lang="en-US" altLang="en-US" sz="2000" dirty="0">
              <a:solidFill>
                <a:srgbClr val="000000"/>
              </a:solidFill>
              <a:latin typeface="Times New Roman" panose="02020603050405020304" pitchFamily="18" charset="0"/>
              <a:cs typeface="Times New Roman" panose="02020603050405020304" pitchFamily="18" charset="0"/>
            </a:endParaRPr>
          </a:p>
          <a:p>
            <a:pPr eaLnBrk="1" hangingPunct="1">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 Cloud storage enables remote monitoring</a:t>
            </a:r>
            <a:br>
              <a:rPr lang="en-IN" altLang="en-US" dirty="0"/>
            </a:br>
            <a:endParaRPr lang="en-IN" altLang="en-US" dirty="0"/>
          </a:p>
        </p:txBody>
      </p:sp>
      <p:pic>
        <p:nvPicPr>
          <p:cNvPr id="10244" name="Picture 3">
            <a:extLst>
              <a:ext uri="{FF2B5EF4-FFF2-40B4-BE49-F238E27FC236}">
                <a16:creationId xmlns:a16="http://schemas.microsoft.com/office/drawing/2014/main" id="{301A5B90-A362-E624-C491-2A9706E9A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Picture 6" descr="kr_logo">
            <a:extLst>
              <a:ext uri="{FF2B5EF4-FFF2-40B4-BE49-F238E27FC236}">
                <a16:creationId xmlns:a16="http://schemas.microsoft.com/office/drawing/2014/main" id="{96373A13-0987-22FB-161F-2E6779ED6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79C3F-FF96-61BF-D58E-26F90155FD2F}"/>
              </a:ext>
            </a:extLst>
          </p:cNvPr>
          <p:cNvSpPr>
            <a:spLocks noGrp="1"/>
          </p:cNvSpPr>
          <p:nvPr>
            <p:ph type="title"/>
          </p:nvPr>
        </p:nvSpPr>
        <p:spPr>
          <a:xfrm>
            <a:off x="1050730" y="1593981"/>
            <a:ext cx="10515600" cy="1325562"/>
          </a:xfrm>
        </p:spPr>
        <p:txBody>
          <a:bodyPr/>
          <a:lstStyle/>
          <a:p>
            <a:pPr eaLnBrk="1" hangingPunct="1">
              <a:spcBef>
                <a:spcPts val="1000"/>
              </a:spcBef>
              <a:defRPr/>
            </a:pPr>
            <a:r>
              <a:rPr lang="en-IN" sz="3200" b="1" dirty="0">
                <a:latin typeface="Times New Roman" panose="02020603050405020304" pitchFamily="18" charset="0"/>
                <a:ea typeface="+mn-ea"/>
                <a:cs typeface="Times New Roman" panose="02020603050405020304" pitchFamily="18" charset="0"/>
              </a:rPr>
              <a:t>Application</a:t>
            </a:r>
          </a:p>
        </p:txBody>
      </p:sp>
      <p:sp>
        <p:nvSpPr>
          <p:cNvPr id="11267" name="Content Placeholder 2">
            <a:extLst>
              <a:ext uri="{FF2B5EF4-FFF2-40B4-BE49-F238E27FC236}">
                <a16:creationId xmlns:a16="http://schemas.microsoft.com/office/drawing/2014/main" id="{459800FB-100C-B318-916F-4A19B5C5C126}"/>
              </a:ext>
            </a:extLst>
          </p:cNvPr>
          <p:cNvSpPr>
            <a:spLocks noGrp="1" noChangeArrowheads="1"/>
          </p:cNvSpPr>
          <p:nvPr>
            <p:ph idx="1"/>
          </p:nvPr>
        </p:nvSpPr>
        <p:spPr>
          <a:xfrm>
            <a:off x="996820" y="2919478"/>
            <a:ext cx="10515600" cy="4351338"/>
          </a:xfrm>
        </p:spPr>
        <p:txBody>
          <a:bodyPr/>
          <a:lstStyle/>
          <a:p>
            <a:pPr marL="285750" indent="-285750" eaLnBrk="1" hangingPunct="1">
              <a:lnSpc>
                <a:spcPct val="150000"/>
              </a:lnSpc>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Predictive Maintenance Platform</a:t>
            </a:r>
          </a:p>
          <a:p>
            <a:pPr marL="285750" indent="-285750" eaLnBrk="1" hangingPunct="1">
              <a:lnSpc>
                <a:spcPct val="150000"/>
              </a:lnSpc>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Battery Safety Solutions</a:t>
            </a:r>
          </a:p>
          <a:p>
            <a:pPr marL="285750" indent="-285750" eaLnBrk="1" hangingPunct="1">
              <a:lnSpc>
                <a:spcPct val="150000"/>
              </a:lnSpc>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Cloud Based Monitoring Systems</a:t>
            </a:r>
          </a:p>
          <a:p>
            <a:pPr marL="285750" indent="-285750" eaLnBrk="1" hangingPunct="1">
              <a:lnSpc>
                <a:spcPct val="150000"/>
              </a:lnSpc>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Autonomous and Connected Vehicles</a:t>
            </a:r>
          </a:p>
          <a:p>
            <a:pPr marL="285750" indent="-285750" eaLnBrk="1" hangingPunct="1">
              <a:lnSpc>
                <a:spcPct val="150000"/>
              </a:lnSpc>
              <a:spcBef>
                <a:spcPct val="0"/>
              </a:spcBef>
              <a:buFont typeface="Wingdings" panose="05000000000000000000" pitchFamily="2" charset="2"/>
              <a:buChar char="q"/>
            </a:pPr>
            <a:r>
              <a:rPr lang="en-IN" altLang="en-US" sz="2000" dirty="0">
                <a:solidFill>
                  <a:srgbClr val="000000"/>
                </a:solidFill>
                <a:latin typeface="Times New Roman" panose="02020603050405020304" pitchFamily="18" charset="0"/>
                <a:cs typeface="Times New Roman" panose="02020603050405020304" pitchFamily="18" charset="0"/>
              </a:rPr>
              <a:t>Battery Energy Storage System</a:t>
            </a:r>
          </a:p>
        </p:txBody>
      </p:sp>
      <p:pic>
        <p:nvPicPr>
          <p:cNvPr id="11268" name="Picture 3">
            <a:extLst>
              <a:ext uri="{FF2B5EF4-FFF2-40B4-BE49-F238E27FC236}">
                <a16:creationId xmlns:a16="http://schemas.microsoft.com/office/drawing/2014/main" id="{E5C3226C-D2A8-475A-8FC3-CED109512F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6" descr="kr_logo">
            <a:extLst>
              <a:ext uri="{FF2B5EF4-FFF2-40B4-BE49-F238E27FC236}">
                <a16:creationId xmlns:a16="http://schemas.microsoft.com/office/drawing/2014/main" id="{E834ECDC-A4BE-A248-01C5-9854A5F6C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8E0785-4845-AE1A-2389-F6E00D6F5A58}"/>
              </a:ext>
            </a:extLst>
          </p:cNvPr>
          <p:cNvSpPr>
            <a:spLocks noGrp="1"/>
          </p:cNvSpPr>
          <p:nvPr>
            <p:ph idx="1"/>
          </p:nvPr>
        </p:nvSpPr>
        <p:spPr>
          <a:xfrm>
            <a:off x="733425" y="1741488"/>
            <a:ext cx="8065342" cy="684212"/>
          </a:xfrm>
        </p:spPr>
        <p:txBody>
          <a:bodyPr rtlCol="0">
            <a:noAutofit/>
          </a:bodyPr>
          <a:lstStyle/>
          <a:p>
            <a:pPr marL="0" indent="0" eaLnBrk="1" fontAlgn="auto" hangingPunct="1">
              <a:spcAft>
                <a:spcPts val="0"/>
              </a:spcAft>
              <a:buFont typeface="Arial" panose="020B0604020202020204" pitchFamily="34" charset="0"/>
              <a:buNone/>
              <a:defRPr/>
            </a:pPr>
            <a:r>
              <a:rPr lang="en-IN" altLang="en-US" sz="3200" b="1" dirty="0">
                <a:latin typeface="Times New Roman" panose="02020603050405020304" charset="0"/>
                <a:cs typeface="Times New Roman" panose="02020603050405020304" charset="0"/>
              </a:rPr>
              <a:t>Results and Discussions</a:t>
            </a:r>
          </a:p>
          <a:p>
            <a:pPr marL="133350" indent="0" algn="just" eaLnBrk="1" fontAlgn="auto" hangingPunct="1">
              <a:lnSpc>
                <a:spcPct val="150000"/>
              </a:lnSpc>
              <a:spcBef>
                <a:spcPts val="0"/>
              </a:spcBef>
              <a:spcAft>
                <a:spcPts val="0"/>
              </a:spcAft>
              <a:buClr>
                <a:srgbClr val="000000"/>
              </a:buClr>
              <a:buSzPts val="1500"/>
              <a:buFont typeface="Arial" panose="020B0604020202020204" pitchFamily="34" charset="0"/>
              <a:buNone/>
              <a:defRPr/>
            </a:pPr>
            <a:endParaRPr lang="en-GB" sz="2200" dirty="0">
              <a:solidFill>
                <a:srgbClr val="000000"/>
              </a:solidFill>
              <a:latin typeface="Times New Roman" pitchFamily="18" charset="0"/>
              <a:cs typeface="Times New Roman" pitchFamily="18" charset="0"/>
            </a:endParaRPr>
          </a:p>
        </p:txBody>
      </p:sp>
      <p:pic>
        <p:nvPicPr>
          <p:cNvPr id="13315" name="Picture 6" descr="kr_logo">
            <a:extLst>
              <a:ext uri="{FF2B5EF4-FFF2-40B4-BE49-F238E27FC236}">
                <a16:creationId xmlns:a16="http://schemas.microsoft.com/office/drawing/2014/main" id="{89BD1F0E-DF18-D76D-6A3B-A21CB97D90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3">
            <a:extLst>
              <a:ext uri="{FF2B5EF4-FFF2-40B4-BE49-F238E27FC236}">
                <a16:creationId xmlns:a16="http://schemas.microsoft.com/office/drawing/2014/main" id="{58A25C44-E0F3-61E0-7F7A-82C0A15F76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88C95168-BB09-D74C-6829-400B1011F6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4089790" y="766535"/>
            <a:ext cx="4012422" cy="73307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643AA-C258-70F7-3A2A-3E7EB2BE81C0}"/>
            </a:ext>
          </a:extLst>
        </p:cNvPr>
        <p:cNvGrpSpPr/>
        <p:nvPr/>
      </p:nvGrpSpPr>
      <p:grpSpPr>
        <a:xfrm>
          <a:off x="0" y="0"/>
          <a:ext cx="0" cy="0"/>
          <a:chOff x="0" y="0"/>
          <a:chExt cx="0" cy="0"/>
        </a:xfrm>
      </p:grpSpPr>
      <p:pic>
        <p:nvPicPr>
          <p:cNvPr id="13315" name="Picture 6" descr="kr_logo">
            <a:extLst>
              <a:ext uri="{FF2B5EF4-FFF2-40B4-BE49-F238E27FC236}">
                <a16:creationId xmlns:a16="http://schemas.microsoft.com/office/drawing/2014/main" id="{20552108-C46F-3900-ED4D-CF4A1BC9C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3">
            <a:extLst>
              <a:ext uri="{FF2B5EF4-FFF2-40B4-BE49-F238E27FC236}">
                <a16:creationId xmlns:a16="http://schemas.microsoft.com/office/drawing/2014/main" id="{E7762662-6E23-4343-DAE0-CE83A6661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271259E9-7A4A-C837-A9AE-46813784F6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7440098" y="1216152"/>
            <a:ext cx="1931436" cy="4108439"/>
          </a:xfrm>
          <a:prstGeom prst="rect">
            <a:avLst/>
          </a:prstGeom>
        </p:spPr>
      </p:pic>
      <p:pic>
        <p:nvPicPr>
          <p:cNvPr id="7" name="Picture 6">
            <a:extLst>
              <a:ext uri="{FF2B5EF4-FFF2-40B4-BE49-F238E27FC236}">
                <a16:creationId xmlns:a16="http://schemas.microsoft.com/office/drawing/2014/main" id="{6E979C19-6659-EEE3-0D3D-F932328062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1762176" y="3488481"/>
            <a:ext cx="2102932" cy="4232648"/>
          </a:xfrm>
          <a:prstGeom prst="rect">
            <a:avLst/>
          </a:prstGeom>
        </p:spPr>
      </p:pic>
      <p:pic>
        <p:nvPicPr>
          <p:cNvPr id="9" name="Picture 8">
            <a:extLst>
              <a:ext uri="{FF2B5EF4-FFF2-40B4-BE49-F238E27FC236}">
                <a16:creationId xmlns:a16="http://schemas.microsoft.com/office/drawing/2014/main" id="{F87C50C4-5B6A-F023-B5C9-92BE5689E3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200000">
            <a:off x="7380119" y="3524816"/>
            <a:ext cx="2051396" cy="4108439"/>
          </a:xfrm>
          <a:prstGeom prst="rect">
            <a:avLst/>
          </a:prstGeom>
        </p:spPr>
      </p:pic>
      <p:pic>
        <p:nvPicPr>
          <p:cNvPr id="11" name="Picture 10">
            <a:extLst>
              <a:ext uri="{FF2B5EF4-FFF2-40B4-BE49-F238E27FC236}">
                <a16:creationId xmlns:a16="http://schemas.microsoft.com/office/drawing/2014/main" id="{19F5EF4F-C369-BC5A-679E-6C4C2BF1FDE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a:off x="1829871" y="1135997"/>
            <a:ext cx="1931437" cy="4268755"/>
          </a:xfrm>
          <a:prstGeom prst="rect">
            <a:avLst/>
          </a:prstGeom>
        </p:spPr>
      </p:pic>
      <p:sp>
        <p:nvSpPr>
          <p:cNvPr id="15" name="Title 14">
            <a:extLst>
              <a:ext uri="{FF2B5EF4-FFF2-40B4-BE49-F238E27FC236}">
                <a16:creationId xmlns:a16="http://schemas.microsoft.com/office/drawing/2014/main" id="{7FB1B107-5F0E-920B-2983-B15EE0502D20}"/>
              </a:ext>
            </a:extLst>
          </p:cNvPr>
          <p:cNvSpPr>
            <a:spLocks noGrp="1"/>
          </p:cNvSpPr>
          <p:nvPr>
            <p:ph type="title"/>
          </p:nvPr>
        </p:nvSpPr>
        <p:spPr>
          <a:xfrm>
            <a:off x="838200" y="1479550"/>
            <a:ext cx="10515600" cy="825106"/>
          </a:xfrm>
        </p:spPr>
        <p:txBody>
          <a:bodyPr/>
          <a:lstStyle/>
          <a:p>
            <a:r>
              <a:rPr lang="en-IN" sz="3200" b="1" dirty="0">
                <a:latin typeface="Times New Roman" panose="02020603050405020304" charset="0"/>
                <a:ea typeface="+mn-ea"/>
                <a:cs typeface="Times New Roman" panose="02020603050405020304" charset="0"/>
              </a:rPr>
              <a:t>Battery</a:t>
            </a:r>
            <a:r>
              <a:rPr lang="en-IN" dirty="0"/>
              <a:t> </a:t>
            </a:r>
            <a:r>
              <a:rPr lang="en-IN" sz="3200" b="1" dirty="0">
                <a:latin typeface="Times New Roman" panose="02020603050405020304" charset="0"/>
                <a:ea typeface="+mn-ea"/>
                <a:cs typeface="Times New Roman" panose="02020603050405020304" charset="0"/>
              </a:rPr>
              <a:t>Performance Monitoring </a:t>
            </a:r>
          </a:p>
        </p:txBody>
      </p:sp>
    </p:spTree>
    <p:extLst>
      <p:ext uri="{BB962C8B-B14F-4D97-AF65-F5344CB8AC3E}">
        <p14:creationId xmlns:p14="http://schemas.microsoft.com/office/powerpoint/2010/main" val="254202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BFE34D2E-1C74-9329-73C1-DCD78D0536E8}"/>
              </a:ext>
            </a:extLst>
          </p:cNvPr>
          <p:cNvSpPr>
            <a:spLocks noGrp="1" noChangeArrowheads="1"/>
          </p:cNvSpPr>
          <p:nvPr>
            <p:ph idx="1"/>
          </p:nvPr>
        </p:nvSpPr>
        <p:spPr>
          <a:xfrm>
            <a:off x="838200" y="1825625"/>
            <a:ext cx="2462213" cy="612775"/>
          </a:xfrm>
        </p:spPr>
        <p:txBody>
          <a:bodyPr/>
          <a:lstStyle/>
          <a:p>
            <a:pPr marL="0" indent="0" eaLnBrk="1" hangingPunct="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Conclusion</a:t>
            </a:r>
          </a:p>
          <a:p>
            <a:pPr marL="0" indent="0" eaLnBrk="1" hangingPunct="1">
              <a:buFont typeface="Arial" panose="020B0604020202020204" pitchFamily="34" charset="0"/>
              <a:buNone/>
            </a:pPr>
            <a:endParaRPr lang="en-IN" altLang="en-US" b="1" dirty="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p:txBody>
      </p:sp>
      <p:pic>
        <p:nvPicPr>
          <p:cNvPr id="14339" name="Picture 6" descr="kr_logo">
            <a:extLst>
              <a:ext uri="{FF2B5EF4-FFF2-40B4-BE49-F238E27FC236}">
                <a16:creationId xmlns:a16="http://schemas.microsoft.com/office/drawing/2014/main" id="{BD73A6F9-9A15-4F6F-3BBF-278637CBEB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TextBox 4">
            <a:extLst>
              <a:ext uri="{FF2B5EF4-FFF2-40B4-BE49-F238E27FC236}">
                <a16:creationId xmlns:a16="http://schemas.microsoft.com/office/drawing/2014/main" id="{496CCB7D-32E1-B00F-2D90-7485746F35AD}"/>
              </a:ext>
            </a:extLst>
          </p:cNvPr>
          <p:cNvSpPr txBox="1">
            <a:spLocks noChangeArrowheads="1"/>
          </p:cNvSpPr>
          <p:nvPr/>
        </p:nvSpPr>
        <p:spPr bwMode="auto">
          <a:xfrm>
            <a:off x="959498" y="2689225"/>
            <a:ext cx="9734550" cy="3268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50000"/>
              </a:lnSpc>
              <a:spcBef>
                <a:spcPct val="0"/>
              </a:spcBef>
              <a:buNone/>
            </a:pPr>
            <a:r>
              <a:rPr lang="en-US" sz="2000" dirty="0">
                <a:solidFill>
                  <a:srgbClr val="000000"/>
                </a:solidFill>
                <a:latin typeface="Times New Roman" panose="02020603050405020304" pitchFamily="18" charset="0"/>
                <a:cs typeface="Times New Roman" panose="02020603050405020304" pitchFamily="18" charset="0"/>
              </a:rPr>
              <a:t>	Our project presents an intelligent and proactive safety mechanism for electrical systems, utilizing AI-based predictive analytics and real-time monitoring to detect and prevent short circuits effectively. By addressing key issues like cell imbalance, overcurrent, and thermal risks, the system ensures enhanced safety, reliability, and efficiency. With automated control and cloud-based data handling, this solution marks a significant step towards smarter and safer energy systems, supporting the future of sustainable electric mobility.</a:t>
            </a:r>
            <a:endParaRPr lang="en-US" altLang="en-US" sz="2000" dirty="0">
              <a:solidFill>
                <a:srgbClr val="000000"/>
              </a:solidFill>
              <a:latin typeface="Times New Roman" panose="02020603050405020304" pitchFamily="18" charset="0"/>
              <a:cs typeface="Times New Roman" panose="02020603050405020304" pitchFamily="18" charset="0"/>
            </a:endParaRPr>
          </a:p>
        </p:txBody>
      </p:sp>
      <p:pic>
        <p:nvPicPr>
          <p:cNvPr id="14341" name="Picture 3">
            <a:extLst>
              <a:ext uri="{FF2B5EF4-FFF2-40B4-BE49-F238E27FC236}">
                <a16:creationId xmlns:a16="http://schemas.microsoft.com/office/drawing/2014/main" id="{D2F9D768-E9CF-A1FA-F78B-673B86B667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A0E3EF14-16B7-6E75-989B-ECEE275EC04D}"/>
              </a:ext>
            </a:extLst>
          </p:cNvPr>
          <p:cNvSpPr>
            <a:spLocks noGrp="1" noChangeArrowheads="1"/>
          </p:cNvSpPr>
          <p:nvPr>
            <p:ph idx="1"/>
          </p:nvPr>
        </p:nvSpPr>
        <p:spPr/>
        <p:txBody>
          <a:bodyPr/>
          <a:lstStyle/>
          <a:p>
            <a:pPr marL="0" indent="0" eaLnBrk="1" hangingPunct="1">
              <a:buFont typeface="Arial" panose="020B0604020202020204" pitchFamily="34" charset="0"/>
              <a:buNone/>
            </a:pPr>
            <a:r>
              <a:rPr lang="en-IN" altLang="en-US" sz="3200" b="1" dirty="0">
                <a:latin typeface="Times New Roman" panose="02020603050405020304" pitchFamily="18" charset="0"/>
                <a:cs typeface="Times New Roman" panose="02020603050405020304" pitchFamily="18" charset="0"/>
              </a:rPr>
              <a:t>Reference</a:t>
            </a:r>
          </a:p>
          <a:p>
            <a:pPr marL="0" indent="0" eaLnBrk="1" hangingPunct="1">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[1] D. Qiao et al., "Quantitative Diagnosis of Internal Short Circuit for Lithium-Ion Batteries Using Relaxation Voltage," in IEEE Transactions on Industrial Electronics, vol. 71, no. 10, pp. 13201-13210, Oct. 2024,doi: 10.1109/TIE.2023.3342289.</a:t>
            </a:r>
          </a:p>
          <a:p>
            <a:pPr marL="0" indent="0" eaLnBrk="1" hangingPunct="1">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[2] D. Walch, A. Geiger and C. Sültrop, "Inter-Turn Short Circuit Faults and Mitigation Measures for Dual-Three Phase Machines," 2024 International Conference on Electrical Machines (ICEM), Torino, Italy, 2024, pp. 1-7, doi: 10.1109/ICEM60801.2024.10700240.</a:t>
            </a:r>
          </a:p>
          <a:p>
            <a:pPr marL="0" indent="0" eaLnBrk="1" hangingPunct="1">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[3] I. Husain et al., "Electric Drive Technology Trends, Challenges, and Opportunities for Future Electric Vehicles," in Proceedings of the IEEE, vol. 109, no. 6, pp. 1039-1059, June 2021,doi: 10.1109/JPROC.2020.3046112.</a:t>
            </a:r>
          </a:p>
          <a:p>
            <a:pPr marL="0" indent="0" eaLnBrk="1" hangingPunct="1">
              <a:buFont typeface="Arial" panose="020B0604020202020204" pitchFamily="34" charset="0"/>
              <a:buNone/>
            </a:pPr>
            <a:r>
              <a:rPr lang="en-US" altLang="en-US" sz="2000" dirty="0">
                <a:solidFill>
                  <a:srgbClr val="000000"/>
                </a:solidFill>
                <a:latin typeface="Times New Roman" panose="02020603050405020304" pitchFamily="18" charset="0"/>
                <a:cs typeface="Times New Roman" panose="02020603050405020304" pitchFamily="18" charset="0"/>
              </a:rPr>
              <a:t>[4] A. Jose, A. M. Varghese, F. E. Jenson, P. Jacob, D. M. Anumod and D. Thomas, "Solid-State Circuit Breaker based Smart Distribution Board with IoT Integration," 2020 Third International Conference on Smart Systems and Inventive Technology (ICSSIT), Tirunelveli, India, 2020, pp. 54-61, doi: 10.1109/ICSSIT48917.2020.9214172.</a:t>
            </a:r>
          </a:p>
          <a:p>
            <a:pPr marL="0" indent="0" eaLnBrk="1" hangingPunct="1">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a:p>
            <a:pPr marL="0" indent="0" eaLnBrk="1" hangingPunct="1">
              <a:buFont typeface="Arial" panose="020B0604020202020204" pitchFamily="34" charset="0"/>
              <a:buNone/>
            </a:pPr>
            <a:endParaRPr lang="en-IN" altLang="en-US" b="1" dirty="0">
              <a:latin typeface="Times New Roman" panose="02020603050405020304" pitchFamily="18" charset="0"/>
              <a:cs typeface="Times New Roman" panose="02020603050405020304" pitchFamily="18" charset="0"/>
            </a:endParaRPr>
          </a:p>
        </p:txBody>
      </p:sp>
      <p:pic>
        <p:nvPicPr>
          <p:cNvPr id="20483" name="Picture 6" descr="kr_logo">
            <a:extLst>
              <a:ext uri="{FF2B5EF4-FFF2-40B4-BE49-F238E27FC236}">
                <a16:creationId xmlns:a16="http://schemas.microsoft.com/office/drawing/2014/main" id="{B9B455A8-DDDD-7C12-A717-FE834D5CF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3">
            <a:extLst>
              <a:ext uri="{FF2B5EF4-FFF2-40B4-BE49-F238E27FC236}">
                <a16:creationId xmlns:a16="http://schemas.microsoft.com/office/drawing/2014/main" id="{838D84F8-2850-1F7C-8A22-93C14BCEF9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2036B16-EB14-EC5A-E3B1-C78905C30E07}"/>
              </a:ext>
            </a:extLst>
          </p:cNvPr>
          <p:cNvSpPr>
            <a:spLocks noGrp="1"/>
          </p:cNvSpPr>
          <p:nvPr>
            <p:ph type="title"/>
          </p:nvPr>
        </p:nvSpPr>
        <p:spPr>
          <a:xfrm>
            <a:off x="670249" y="1388723"/>
            <a:ext cx="10515600" cy="1055897"/>
          </a:xfrm>
        </p:spPr>
        <p:txBody>
          <a:bodyPr/>
          <a:lstStyle/>
          <a:p>
            <a:r>
              <a:rPr lang="en-IN" altLang="en-US" sz="3200" b="1" dirty="0">
                <a:latin typeface="Times New Roman" panose="02020603050405020304" charset="0"/>
                <a:cs typeface="Times New Roman" panose="02020603050405020304" charset="0"/>
              </a:rPr>
              <a:t>Conference Details</a:t>
            </a:r>
            <a:br>
              <a:rPr lang="en-IN" altLang="en-US" sz="3200" b="1" dirty="0">
                <a:latin typeface="Times New Roman" panose="02020603050405020304" charset="0"/>
                <a:cs typeface="Times New Roman" panose="02020603050405020304" charset="0"/>
              </a:rPr>
            </a:br>
            <a:endParaRPr lang="en-IN" sz="3200" dirty="0"/>
          </a:p>
        </p:txBody>
      </p:sp>
      <p:pic>
        <p:nvPicPr>
          <p:cNvPr id="4099" name="Picture 6" descr="kr_logo"/>
          <p:cNvPicPr>
            <a:picLocks noChangeAspect="1"/>
          </p:cNvPicPr>
          <p:nvPr/>
        </p:nvPicPr>
        <p:blipFill>
          <a:blip r:embed="rId2"/>
          <a:stretch>
            <a:fillRect/>
          </a:stretch>
        </p:blipFill>
        <p:spPr>
          <a:xfrm>
            <a:off x="10260330" y="304165"/>
            <a:ext cx="1093470" cy="900430"/>
          </a:xfrm>
          <a:prstGeom prst="rect">
            <a:avLst/>
          </a:prstGeom>
          <a:noFill/>
          <a:ln w="9525">
            <a:noFill/>
          </a:ln>
        </p:spPr>
      </p:pic>
      <p:pic>
        <p:nvPicPr>
          <p:cNvPr id="4" name="Picture 3"/>
          <p:cNvPicPr>
            <a:picLocks noChangeAspect="1"/>
          </p:cNvPicPr>
          <p:nvPr/>
        </p:nvPicPr>
        <p:blipFill>
          <a:blip r:embed="rId3"/>
          <a:srcRect l="2062" t="1083"/>
          <a:stretch>
            <a:fillRect/>
          </a:stretch>
        </p:blipFill>
        <p:spPr>
          <a:xfrm>
            <a:off x="320040" y="215900"/>
            <a:ext cx="2606675" cy="1245235"/>
          </a:xfrm>
          <a:prstGeom prst="rect">
            <a:avLst/>
          </a:prstGeom>
          <a:noFill/>
          <a:ln w="9525">
            <a:noFill/>
          </a:ln>
        </p:spPr>
      </p:pic>
      <p:pic>
        <p:nvPicPr>
          <p:cNvPr id="7" name="Picture 6">
            <a:extLst>
              <a:ext uri="{FF2B5EF4-FFF2-40B4-BE49-F238E27FC236}">
                <a16:creationId xmlns:a16="http://schemas.microsoft.com/office/drawing/2014/main" id="{D5973B9B-A018-2FE4-C4EB-A39D4CADD5A1}"/>
              </a:ext>
            </a:extLst>
          </p:cNvPr>
          <p:cNvPicPr>
            <a:picLocks noChangeAspect="1"/>
          </p:cNvPicPr>
          <p:nvPr/>
        </p:nvPicPr>
        <p:blipFill>
          <a:blip r:embed="rId4"/>
          <a:stretch>
            <a:fillRect/>
          </a:stretch>
        </p:blipFill>
        <p:spPr>
          <a:xfrm>
            <a:off x="2595368" y="2118048"/>
            <a:ext cx="6534733" cy="452405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2036B16-EB14-EC5A-E3B1-C78905C30E07}"/>
              </a:ext>
            </a:extLst>
          </p:cNvPr>
          <p:cNvSpPr>
            <a:spLocks noGrp="1"/>
          </p:cNvSpPr>
          <p:nvPr>
            <p:ph type="title"/>
          </p:nvPr>
        </p:nvSpPr>
        <p:spPr>
          <a:xfrm>
            <a:off x="670249" y="1388723"/>
            <a:ext cx="10515600" cy="1325563"/>
          </a:xfrm>
        </p:spPr>
        <p:txBody>
          <a:bodyPr/>
          <a:lstStyle/>
          <a:p>
            <a:r>
              <a:rPr lang="en-IN" altLang="en-US" b="1" dirty="0">
                <a:latin typeface="Times New Roman" panose="02020603050405020304" charset="0"/>
                <a:cs typeface="Times New Roman" panose="02020603050405020304" charset="0"/>
              </a:rPr>
              <a:t>Conference Details</a:t>
            </a:r>
            <a:br>
              <a:rPr lang="en-IN" altLang="en-US" b="1" dirty="0">
                <a:latin typeface="Times New Roman" panose="02020603050405020304" charset="0"/>
                <a:cs typeface="Times New Roman" panose="02020603050405020304" charset="0"/>
              </a:rPr>
            </a:br>
            <a:endParaRPr lang="en-IN" dirty="0"/>
          </a:p>
        </p:txBody>
      </p:sp>
      <p:pic>
        <p:nvPicPr>
          <p:cNvPr id="4099" name="Picture 6" descr="kr_logo"/>
          <p:cNvPicPr>
            <a:picLocks noChangeAspect="1"/>
          </p:cNvPicPr>
          <p:nvPr/>
        </p:nvPicPr>
        <p:blipFill>
          <a:blip r:embed="rId2"/>
          <a:stretch>
            <a:fillRect/>
          </a:stretch>
        </p:blipFill>
        <p:spPr>
          <a:xfrm>
            <a:off x="10260330" y="304165"/>
            <a:ext cx="1093470" cy="900430"/>
          </a:xfrm>
          <a:prstGeom prst="rect">
            <a:avLst/>
          </a:prstGeom>
          <a:noFill/>
          <a:ln w="9525">
            <a:noFill/>
          </a:ln>
        </p:spPr>
      </p:pic>
      <p:pic>
        <p:nvPicPr>
          <p:cNvPr id="4" name="Picture 3"/>
          <p:cNvPicPr>
            <a:picLocks noChangeAspect="1"/>
          </p:cNvPicPr>
          <p:nvPr/>
        </p:nvPicPr>
        <p:blipFill>
          <a:blip r:embed="rId3"/>
          <a:srcRect l="2062" t="1083"/>
          <a:stretch>
            <a:fillRect/>
          </a:stretch>
        </p:blipFill>
        <p:spPr>
          <a:xfrm>
            <a:off x="320040" y="215900"/>
            <a:ext cx="2606675" cy="1245235"/>
          </a:xfrm>
          <a:prstGeom prst="rect">
            <a:avLst/>
          </a:prstGeom>
          <a:noFill/>
          <a:ln w="9525">
            <a:noFill/>
          </a:ln>
        </p:spPr>
      </p:pic>
      <p:pic>
        <p:nvPicPr>
          <p:cNvPr id="9" name="Picture 8">
            <a:extLst>
              <a:ext uri="{FF2B5EF4-FFF2-40B4-BE49-F238E27FC236}">
                <a16:creationId xmlns:a16="http://schemas.microsoft.com/office/drawing/2014/main" id="{94CE1C82-5EB8-3EE5-E54B-D589B896F671}"/>
              </a:ext>
            </a:extLst>
          </p:cNvPr>
          <p:cNvPicPr>
            <a:picLocks noChangeAspect="1"/>
          </p:cNvPicPr>
          <p:nvPr/>
        </p:nvPicPr>
        <p:blipFill>
          <a:blip r:embed="rId4"/>
          <a:stretch>
            <a:fillRect/>
          </a:stretch>
        </p:blipFill>
        <p:spPr>
          <a:xfrm>
            <a:off x="1615751" y="2119496"/>
            <a:ext cx="9570098" cy="460970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9">
            <a:extLst>
              <a:ext uri="{FF2B5EF4-FFF2-40B4-BE49-F238E27FC236}">
                <a16:creationId xmlns:a16="http://schemas.microsoft.com/office/drawing/2014/main" id="{9437EBB4-4A63-DAEA-33EA-09CDFC2B429D}"/>
              </a:ext>
            </a:extLst>
          </p:cNvPr>
          <p:cNvSpPr>
            <a:spLocks noGrp="1" noChangeArrowheads="1"/>
          </p:cNvSpPr>
          <p:nvPr>
            <p:ph type="subTitle" idx="1"/>
          </p:nvPr>
        </p:nvSpPr>
        <p:spPr/>
        <p:txBody>
          <a:bodyPr/>
          <a:lstStyle/>
          <a:p>
            <a:pPr eaLnBrk="1" hangingPunct="1"/>
            <a:r>
              <a:rPr lang="en-US" altLang="en-US" sz="100"/>
              <a:t>.</a:t>
            </a:r>
          </a:p>
        </p:txBody>
      </p:sp>
      <p:pic>
        <p:nvPicPr>
          <p:cNvPr id="15363" name="Picture 6" descr="kr_logo">
            <a:extLst>
              <a:ext uri="{FF2B5EF4-FFF2-40B4-BE49-F238E27FC236}">
                <a16:creationId xmlns:a16="http://schemas.microsoft.com/office/drawing/2014/main" id="{9531BE48-E430-654E-F4E9-A2E06191B7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Box 10">
            <a:extLst>
              <a:ext uri="{FF2B5EF4-FFF2-40B4-BE49-F238E27FC236}">
                <a16:creationId xmlns:a16="http://schemas.microsoft.com/office/drawing/2014/main" id="{D45B3A93-8046-F559-BA75-9D675D0C6AAB}"/>
              </a:ext>
            </a:extLst>
          </p:cNvPr>
          <p:cNvSpPr txBox="1">
            <a:spLocks noChangeArrowheads="1"/>
          </p:cNvSpPr>
          <p:nvPr/>
        </p:nvSpPr>
        <p:spPr bwMode="auto">
          <a:xfrm>
            <a:off x="101600" y="-2455863"/>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p>
        </p:txBody>
      </p:sp>
      <p:pic>
        <p:nvPicPr>
          <p:cNvPr id="15365" name="Picture 3">
            <a:extLst>
              <a:ext uri="{FF2B5EF4-FFF2-40B4-BE49-F238E27FC236}">
                <a16:creationId xmlns:a16="http://schemas.microsoft.com/office/drawing/2014/main" id="{37D5E3E1-5F1C-BBC4-4660-B955783F7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1">
            <a:extLst>
              <a:ext uri="{FF2B5EF4-FFF2-40B4-BE49-F238E27FC236}">
                <a16:creationId xmlns:a16="http://schemas.microsoft.com/office/drawing/2014/main" id="{8BC50EA7-F3EE-66ED-747B-FD0D7CE5191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43063" y="1989138"/>
            <a:ext cx="9264650" cy="470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itle 3">
            <a:extLst>
              <a:ext uri="{FF2B5EF4-FFF2-40B4-BE49-F238E27FC236}">
                <a16:creationId xmlns:a16="http://schemas.microsoft.com/office/drawing/2014/main" id="{E41DC7F7-3765-3CC9-744B-8240A07303AA}"/>
              </a:ext>
            </a:extLst>
          </p:cNvPr>
          <p:cNvSpPr>
            <a:spLocks noGrp="1" noChangeArrowheads="1"/>
          </p:cNvSpPr>
          <p:nvPr>
            <p:ph type="ctrTitle"/>
          </p:nvPr>
        </p:nvSpPr>
        <p:spPr>
          <a:xfrm>
            <a:off x="1758950" y="1012825"/>
            <a:ext cx="8959850" cy="933450"/>
          </a:xfrm>
        </p:spPr>
        <p:txBody>
          <a:bodyPr/>
          <a:lstStyle/>
          <a:p>
            <a:pPr eaLnBrk="1" hangingPunct="1"/>
            <a:r>
              <a:rPr lang="en-IN" altLang="en-US" sz="2800" b="1" dirty="0">
                <a:latin typeface="Times New Roman" panose="02020603050405020304" pitchFamily="18" charset="0"/>
                <a:cs typeface="Times New Roman" panose="02020603050405020304" pitchFamily="18" charset="0"/>
              </a:rPr>
              <a:t> Project Outcome Status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F40E9D2C-4F93-FF74-B9B8-0F7A666C233A}"/>
              </a:ext>
            </a:extLst>
          </p:cNvPr>
          <p:cNvSpPr txBox="1">
            <a:spLocks noChangeArrowheads="1"/>
          </p:cNvSpPr>
          <p:nvPr/>
        </p:nvSpPr>
        <p:spPr bwMode="auto">
          <a:xfrm flipH="1">
            <a:off x="-134938" y="-3089275"/>
            <a:ext cx="1362076"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buFontTx/>
              <a:buNone/>
            </a:pPr>
            <a:r>
              <a:rPr lang="en-US" altLang="en-US" sz="100">
                <a:latin typeface="Calibri Light" panose="020F0302020204030204" pitchFamily="34" charset="0"/>
              </a:rPr>
              <a:t>.</a:t>
            </a:r>
          </a:p>
        </p:txBody>
      </p:sp>
      <p:pic>
        <p:nvPicPr>
          <p:cNvPr id="16387" name="Picture 6" descr="kr_logo">
            <a:extLst>
              <a:ext uri="{FF2B5EF4-FFF2-40B4-BE49-F238E27FC236}">
                <a16:creationId xmlns:a16="http://schemas.microsoft.com/office/drawing/2014/main" id="{61E16999-AA4A-9DA0-73C4-9534B0FB30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Content Placeholder 9">
            <a:extLst>
              <a:ext uri="{FF2B5EF4-FFF2-40B4-BE49-F238E27FC236}">
                <a16:creationId xmlns:a16="http://schemas.microsoft.com/office/drawing/2014/main" id="{87E4E623-90C9-062B-21C0-F1230923FBF5}"/>
              </a:ext>
            </a:extLst>
          </p:cNvPr>
          <p:cNvSpPr txBox="1">
            <a:spLocks noChangeArrowheads="1"/>
          </p:cNvSpPr>
          <p:nvPr/>
        </p:nvSpPr>
        <p:spPr bwMode="auto">
          <a:xfrm flipV="1">
            <a:off x="1624013" y="-1993900"/>
            <a:ext cx="5468937"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00"/>
              <a:t>.</a:t>
            </a:r>
          </a:p>
        </p:txBody>
      </p:sp>
      <p:sp>
        <p:nvSpPr>
          <p:cNvPr id="16389" name="TextBox 10">
            <a:extLst>
              <a:ext uri="{FF2B5EF4-FFF2-40B4-BE49-F238E27FC236}">
                <a16:creationId xmlns:a16="http://schemas.microsoft.com/office/drawing/2014/main" id="{202FECE8-E5C9-10C0-F16B-051AB1059510}"/>
              </a:ext>
            </a:extLst>
          </p:cNvPr>
          <p:cNvSpPr txBox="1">
            <a:spLocks noChangeArrowheads="1"/>
          </p:cNvSpPr>
          <p:nvPr/>
        </p:nvSpPr>
        <p:spPr bwMode="auto">
          <a:xfrm>
            <a:off x="101600" y="-2455863"/>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p>
        </p:txBody>
      </p:sp>
      <p:pic>
        <p:nvPicPr>
          <p:cNvPr id="16390" name="Picture 3">
            <a:extLst>
              <a:ext uri="{FF2B5EF4-FFF2-40B4-BE49-F238E27FC236}">
                <a16:creationId xmlns:a16="http://schemas.microsoft.com/office/drawing/2014/main" id="{AA236267-BAF6-EBDB-9C83-25580B2BD1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12">
            <a:extLst>
              <a:ext uri="{FF2B5EF4-FFF2-40B4-BE49-F238E27FC236}">
                <a16:creationId xmlns:a16="http://schemas.microsoft.com/office/drawing/2014/main" id="{97E1EC12-2E73-EB63-DABC-42489ACC980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27163" y="1479550"/>
            <a:ext cx="9621837" cy="510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2CC1994-BF36-1F26-24B5-8B5DC7A4ED29}"/>
              </a:ext>
            </a:extLst>
          </p:cNvPr>
          <p:cNvSpPr txBox="1">
            <a:spLocks noChangeArrowheads="1"/>
          </p:cNvSpPr>
          <p:nvPr/>
        </p:nvSpPr>
        <p:spPr bwMode="auto">
          <a:xfrm flipH="1">
            <a:off x="-134938" y="-3089275"/>
            <a:ext cx="1362076"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buFontTx/>
              <a:buNone/>
            </a:pPr>
            <a:r>
              <a:rPr lang="en-US" altLang="en-US" sz="100">
                <a:latin typeface="Calibri Light" panose="020F0302020204030204" pitchFamily="34" charset="0"/>
              </a:rPr>
              <a:t>.</a:t>
            </a:r>
          </a:p>
        </p:txBody>
      </p:sp>
      <p:pic>
        <p:nvPicPr>
          <p:cNvPr id="17411" name="Picture 6" descr="kr_logo">
            <a:extLst>
              <a:ext uri="{FF2B5EF4-FFF2-40B4-BE49-F238E27FC236}">
                <a16:creationId xmlns:a16="http://schemas.microsoft.com/office/drawing/2014/main" id="{8D7737BE-085E-AEF2-7BE2-6EDD1EFA2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Content Placeholder 9">
            <a:extLst>
              <a:ext uri="{FF2B5EF4-FFF2-40B4-BE49-F238E27FC236}">
                <a16:creationId xmlns:a16="http://schemas.microsoft.com/office/drawing/2014/main" id="{21955FF0-892E-E8DE-E7D7-E6D44B8CE288}"/>
              </a:ext>
            </a:extLst>
          </p:cNvPr>
          <p:cNvSpPr txBox="1">
            <a:spLocks noChangeArrowheads="1"/>
          </p:cNvSpPr>
          <p:nvPr/>
        </p:nvSpPr>
        <p:spPr bwMode="auto">
          <a:xfrm flipV="1">
            <a:off x="1624013" y="-1993900"/>
            <a:ext cx="5468937"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00"/>
              <a:t>.</a:t>
            </a:r>
          </a:p>
        </p:txBody>
      </p:sp>
      <p:sp>
        <p:nvSpPr>
          <p:cNvPr id="17413" name="TextBox 10">
            <a:extLst>
              <a:ext uri="{FF2B5EF4-FFF2-40B4-BE49-F238E27FC236}">
                <a16:creationId xmlns:a16="http://schemas.microsoft.com/office/drawing/2014/main" id="{67D3C9C8-CB41-D304-A215-F7B230D88C6B}"/>
              </a:ext>
            </a:extLst>
          </p:cNvPr>
          <p:cNvSpPr txBox="1">
            <a:spLocks noChangeArrowheads="1"/>
          </p:cNvSpPr>
          <p:nvPr/>
        </p:nvSpPr>
        <p:spPr bwMode="auto">
          <a:xfrm>
            <a:off x="101600" y="-2455863"/>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p>
        </p:txBody>
      </p:sp>
      <p:pic>
        <p:nvPicPr>
          <p:cNvPr id="17414" name="Picture 3">
            <a:extLst>
              <a:ext uri="{FF2B5EF4-FFF2-40B4-BE49-F238E27FC236}">
                <a16:creationId xmlns:a16="http://schemas.microsoft.com/office/drawing/2014/main" id="{344EE275-73AE-50F0-33C8-FC81A4137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2">
            <a:extLst>
              <a:ext uri="{FF2B5EF4-FFF2-40B4-BE49-F238E27FC236}">
                <a16:creationId xmlns:a16="http://schemas.microsoft.com/office/drawing/2014/main" id="{2308104F-78D0-DD59-6FB7-0C2BAE37728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24013" y="1479550"/>
            <a:ext cx="9521825"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6BB0E5B5-A72C-1DD3-9090-52ECD32A7FCA}"/>
              </a:ext>
            </a:extLst>
          </p:cNvPr>
          <p:cNvSpPr txBox="1">
            <a:spLocks noChangeArrowheads="1"/>
          </p:cNvSpPr>
          <p:nvPr/>
        </p:nvSpPr>
        <p:spPr bwMode="auto">
          <a:xfrm flipH="1">
            <a:off x="-134938" y="-3089275"/>
            <a:ext cx="1362076"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buFontTx/>
              <a:buNone/>
            </a:pPr>
            <a:r>
              <a:rPr lang="en-US" altLang="en-US" sz="100">
                <a:latin typeface="Calibri Light" panose="020F0302020204030204" pitchFamily="34" charset="0"/>
              </a:rPr>
              <a:t>.</a:t>
            </a:r>
          </a:p>
        </p:txBody>
      </p:sp>
      <p:pic>
        <p:nvPicPr>
          <p:cNvPr id="18435" name="Picture 6" descr="kr_logo">
            <a:extLst>
              <a:ext uri="{FF2B5EF4-FFF2-40B4-BE49-F238E27FC236}">
                <a16:creationId xmlns:a16="http://schemas.microsoft.com/office/drawing/2014/main" id="{6B1B3D44-57E3-3A7F-B92B-398553EE6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Content Placeholder 9">
            <a:extLst>
              <a:ext uri="{FF2B5EF4-FFF2-40B4-BE49-F238E27FC236}">
                <a16:creationId xmlns:a16="http://schemas.microsoft.com/office/drawing/2014/main" id="{590289AC-34E9-63ED-84C6-1EBF35C67B23}"/>
              </a:ext>
            </a:extLst>
          </p:cNvPr>
          <p:cNvSpPr txBox="1">
            <a:spLocks noChangeArrowheads="1"/>
          </p:cNvSpPr>
          <p:nvPr/>
        </p:nvSpPr>
        <p:spPr bwMode="auto">
          <a:xfrm flipV="1">
            <a:off x="1624013" y="-1993900"/>
            <a:ext cx="5468937"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00"/>
              <a:t>.</a:t>
            </a:r>
          </a:p>
        </p:txBody>
      </p:sp>
      <p:sp>
        <p:nvSpPr>
          <p:cNvPr id="18437" name="TextBox 10">
            <a:extLst>
              <a:ext uri="{FF2B5EF4-FFF2-40B4-BE49-F238E27FC236}">
                <a16:creationId xmlns:a16="http://schemas.microsoft.com/office/drawing/2014/main" id="{C599BDB4-8544-5047-289D-063D7EA8ACA3}"/>
              </a:ext>
            </a:extLst>
          </p:cNvPr>
          <p:cNvSpPr txBox="1">
            <a:spLocks noChangeArrowheads="1"/>
          </p:cNvSpPr>
          <p:nvPr/>
        </p:nvSpPr>
        <p:spPr bwMode="auto">
          <a:xfrm>
            <a:off x="101600" y="-2455863"/>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p>
        </p:txBody>
      </p:sp>
      <p:pic>
        <p:nvPicPr>
          <p:cNvPr id="18438" name="Picture 3">
            <a:extLst>
              <a:ext uri="{FF2B5EF4-FFF2-40B4-BE49-F238E27FC236}">
                <a16:creationId xmlns:a16="http://schemas.microsoft.com/office/drawing/2014/main" id="{A3A53A89-9795-6DC4-2F4A-8890E9802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8">
            <a:extLst>
              <a:ext uri="{FF2B5EF4-FFF2-40B4-BE49-F238E27FC236}">
                <a16:creationId xmlns:a16="http://schemas.microsoft.com/office/drawing/2014/main" id="{C6F91099-E494-C1B2-E2E8-F9B01885E8D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28763" y="1389063"/>
            <a:ext cx="9621837" cy="513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6E2C78D4-B7B0-44CA-74E2-34A0D0BBE3E9}"/>
              </a:ext>
            </a:extLst>
          </p:cNvPr>
          <p:cNvSpPr txBox="1">
            <a:spLocks noChangeArrowheads="1"/>
          </p:cNvSpPr>
          <p:nvPr/>
        </p:nvSpPr>
        <p:spPr bwMode="auto">
          <a:xfrm flipH="1">
            <a:off x="-134938" y="-3089275"/>
            <a:ext cx="1362076"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buFontTx/>
              <a:buNone/>
            </a:pPr>
            <a:r>
              <a:rPr lang="en-US" altLang="en-US" sz="100">
                <a:latin typeface="Calibri Light" panose="020F0302020204030204" pitchFamily="34" charset="0"/>
              </a:rPr>
              <a:t>.</a:t>
            </a:r>
          </a:p>
        </p:txBody>
      </p:sp>
      <p:pic>
        <p:nvPicPr>
          <p:cNvPr id="19459" name="Picture 6" descr="kr_logo">
            <a:extLst>
              <a:ext uri="{FF2B5EF4-FFF2-40B4-BE49-F238E27FC236}">
                <a16:creationId xmlns:a16="http://schemas.microsoft.com/office/drawing/2014/main" id="{1EA5C06D-FBA5-0BC7-1DBF-8A318EFB6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0013" y="304800"/>
            <a:ext cx="109378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Content Placeholder 9">
            <a:extLst>
              <a:ext uri="{FF2B5EF4-FFF2-40B4-BE49-F238E27FC236}">
                <a16:creationId xmlns:a16="http://schemas.microsoft.com/office/drawing/2014/main" id="{5BF4AF79-A6E0-8D0D-82CE-87EADC2287C3}"/>
              </a:ext>
            </a:extLst>
          </p:cNvPr>
          <p:cNvSpPr txBox="1">
            <a:spLocks noChangeArrowheads="1"/>
          </p:cNvSpPr>
          <p:nvPr/>
        </p:nvSpPr>
        <p:spPr bwMode="auto">
          <a:xfrm flipV="1">
            <a:off x="1624013" y="-1993900"/>
            <a:ext cx="5468937"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buFont typeface="Arial" panose="020B0604020202020204" pitchFamily="34" charset="0"/>
              <a:buNone/>
            </a:pPr>
            <a:r>
              <a:rPr lang="en-US" altLang="en-US" sz="100"/>
              <a:t>.</a:t>
            </a:r>
          </a:p>
        </p:txBody>
      </p:sp>
      <p:sp>
        <p:nvSpPr>
          <p:cNvPr id="19461" name="TextBox 10">
            <a:extLst>
              <a:ext uri="{FF2B5EF4-FFF2-40B4-BE49-F238E27FC236}">
                <a16:creationId xmlns:a16="http://schemas.microsoft.com/office/drawing/2014/main" id="{4BB4DE12-85F7-2745-73A4-578FC99FEC14}"/>
              </a:ext>
            </a:extLst>
          </p:cNvPr>
          <p:cNvSpPr txBox="1">
            <a:spLocks noChangeArrowheads="1"/>
          </p:cNvSpPr>
          <p:nvPr/>
        </p:nvSpPr>
        <p:spPr bwMode="auto">
          <a:xfrm>
            <a:off x="101600" y="-2455863"/>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sz="1800"/>
          </a:p>
        </p:txBody>
      </p:sp>
      <p:pic>
        <p:nvPicPr>
          <p:cNvPr id="19462" name="Picture 3">
            <a:extLst>
              <a:ext uri="{FF2B5EF4-FFF2-40B4-BE49-F238E27FC236}">
                <a16:creationId xmlns:a16="http://schemas.microsoft.com/office/drawing/2014/main" id="{0E08F13C-DEA8-073B-1F50-B179126440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25" y="333375"/>
            <a:ext cx="260667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10">
            <a:extLst>
              <a:ext uri="{FF2B5EF4-FFF2-40B4-BE49-F238E27FC236}">
                <a16:creationId xmlns:a16="http://schemas.microsoft.com/office/drawing/2014/main" id="{9752AC7C-DC45-94E8-8A96-CCF1E2F19D0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17688" y="1468438"/>
            <a:ext cx="9185275" cy="509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485</TotalTime>
  <Words>1180</Words>
  <Application>Microsoft Office PowerPoint</Application>
  <PresentationFormat>Widescreen</PresentationFormat>
  <Paragraphs>137</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Office Theme</vt:lpstr>
      <vt:lpstr>Advanced Short Circuit Preventive Mechanism for Electric Vehicles </vt:lpstr>
      <vt:lpstr>PowerPoint Presentation</vt:lpstr>
      <vt:lpstr>PowerPoint Presentation</vt:lpstr>
      <vt:lpstr>Literature Review Table</vt:lpstr>
      <vt:lpstr>Literature Review Table</vt:lpstr>
      <vt:lpstr>PowerPoint Presentation</vt:lpstr>
      <vt:lpstr>PowerPoint Presentation</vt:lpstr>
      <vt:lpstr>PowerPoint Presentation</vt:lpstr>
      <vt:lpstr>Objective</vt:lpstr>
      <vt:lpstr>Proposed Methodology </vt:lpstr>
      <vt:lpstr>Block Diagram of Proposed System</vt:lpstr>
      <vt:lpstr>Advantages</vt:lpstr>
      <vt:lpstr>Application</vt:lpstr>
      <vt:lpstr>PowerPoint Presentation</vt:lpstr>
      <vt:lpstr>Battery Performance Monitoring </vt:lpstr>
      <vt:lpstr>PowerPoint Presentation</vt:lpstr>
      <vt:lpstr>PowerPoint Presentation</vt:lpstr>
      <vt:lpstr>Conference Details </vt:lpstr>
      <vt:lpstr>Conference Details </vt:lpstr>
      <vt:lpstr> Project Outcome Status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balaj</dc:creator>
  <cp:lastModifiedBy>SIVARAMAKRISHNAN M</cp:lastModifiedBy>
  <cp:revision>51</cp:revision>
  <dcterms:created xsi:type="dcterms:W3CDTF">2024-10-21T14:38:00Z</dcterms:created>
  <dcterms:modified xsi:type="dcterms:W3CDTF">2025-04-20T15:08:11Z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91C5288A5287486EB0F4C46EE51A2685_13</vt:lpwstr>
  </property>
  <property fmtid="{D5CDD505-2E9C-101B-9397-08002B2CF9AE}" pid="3" name="KSOProductBuildVer">
    <vt:lpwstr>1033-12.2.0.18607</vt:lpwstr>
  </property>
</Properties>
</file>
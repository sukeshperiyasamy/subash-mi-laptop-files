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9" r:id="rId11"/>
    <p:sldId id="263" r:id="rId12"/>
    <p:sldId id="270" r:id="rId13"/>
    <p:sldId id="271" r:id="rId14"/>
    <p:sldId id="264" r:id="rId15"/>
    <p:sldId id="265" r:id="rId16"/>
    <p:sldId id="266" r:id="rId17"/>
    <p:sldId id="267" r:id="rId18"/>
    <p:sldId id="268" r:id="rId19"/>
  </p:sldIdLst>
  <p:sldSz cx="9144000" cy="5143500"/>
  <p:notesSz cx="6858000" cy="9144000"/>
  <p:embeddedFontLst>
    <p:embeddedFont>
      <p:font typeface="Nunito"/>
      <p:regular r:id="rId23"/>
    </p:embeddedFont>
    <p:embeddedFont>
      <p:font typeface="Calibri" panose="020F0502020204030204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965c14ebb1_0_37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965c14ebb1_0_3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965c14ebb1_0_38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965c14ebb1_0_38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965c14ebb1_0_5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965c14ebb1_0_5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965c14ebb1_0_5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965c14ebb1_0_5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965c14ebb1_0_5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965c14ebb1_0_5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965c14ebb1_0_5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965c14ebb1_0_5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965c14ebb1_0_5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965c14ebb1_0_5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965c14ebb1_0_5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965c14ebb1_0_5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965c14ebb1_0_5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965c14ebb1_0_5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965c14ebb1_0_5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965c14ebb1_0_5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965c14ebb1_0_5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965c14ebb1_0_5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965c14ebb1_0_5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965c14ebb1_0_5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chemeClr val="accent6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chemeClr val="accent3"/>
        </a:solidFill>
        <a:effectLst/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bg>
      <p:bgPr>
        <a:solidFill>
          <a:schemeClr val="dk2"/>
        </a:solidFill>
        <a:effectLst/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bg>
      <p:bgPr>
        <a:solidFill>
          <a:schemeClr val="dk2"/>
        </a:solidFill>
        <a:effectLst/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bg>
      <p:bgPr>
        <a:solidFill>
          <a:schemeClr val="dk2"/>
        </a:solidFill>
        <a:effectLst/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" name="Google Shape;107;p10"/>
          <p:cNvSpPr txBox="1"/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9" name="Google Shape;119;p11"/>
          <p:cNvSpPr txBox="1"/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 panose="020F0502020204030204"/>
              <a:buChar char="●"/>
              <a:defRPr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○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■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●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○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■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●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○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■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WELCOME TO THE PRESENTATION</a:t>
            </a:r>
            <a:endParaRPr lang="en-GB" sz="4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0" name="Google Shape;130;p1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039450" y="394025"/>
            <a:ext cx="3916950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956400" y="273576"/>
            <a:ext cx="2647950" cy="119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604350" y="303125"/>
            <a:ext cx="1214901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" name="Subtitle 0"/>
          <p:cNvSpPr/>
          <p:nvPr>
            <p:ph type="subTitle" idx="1"/>
          </p:nvPr>
        </p:nvSpPr>
        <p:spPr/>
        <p:txBody>
          <a:bodyPr/>
          <a:p>
            <a:r>
              <a:rPr lang="en-IN" altLang="en-US"/>
              <a:t>.</a:t>
            </a:r>
            <a:endParaRPr lang="en-I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>
            <p:ph type="ctrTitle"/>
          </p:nvPr>
        </p:nvSpPr>
        <p:spPr>
          <a:xfrm>
            <a:off x="1168975" y="1181975"/>
            <a:ext cx="6884100" cy="25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Design and Numerical simulation of MEMS Microheater for Gas sensing</a:t>
            </a:r>
            <a:endParaRPr lang="en-GB"/>
          </a:p>
        </p:txBody>
      </p:sp>
      <p:sp>
        <p:nvSpPr>
          <p:cNvPr id="138" name="Google Shape;138;p14"/>
          <p:cNvSpPr txBox="1"/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                                               Using COMSOL 6.0</a:t>
            </a:r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/>
          <p:nvPr>
            <p:ph type="title"/>
          </p:nvPr>
        </p:nvSpPr>
        <p:spPr>
          <a:xfrm>
            <a:off x="571500" y="845600"/>
            <a:ext cx="77532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/>
              <a:t>WHAT IS MICRO HEATER ?</a:t>
            </a:r>
            <a:endParaRPr u="sng"/>
          </a:p>
        </p:txBody>
      </p:sp>
      <p:sp>
        <p:nvSpPr>
          <p:cNvPr id="144" name="Google Shape;144;p15"/>
          <p:cNvSpPr txBox="1"/>
          <p:nvPr>
            <p:ph type="body" idx="1"/>
          </p:nvPr>
        </p:nvSpPr>
        <p:spPr>
          <a:xfrm>
            <a:off x="571500" y="1990725"/>
            <a:ext cx="80922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1.</a:t>
            </a:r>
            <a:r>
              <a:rPr lang="en-GB"/>
              <a:t>.</a:t>
            </a:r>
            <a:r>
              <a:rPr lang="en-GB" sz="2200"/>
              <a:t>Micro heater is a miniaturized heating system </a:t>
            </a:r>
            <a:endParaRPr sz="2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2.Generates heat through joule heating,ultrasonic or radioactive heating.</a:t>
            </a:r>
            <a:endParaRPr sz="2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3.Temperature of the material depends upon material properties, geometric design.</a:t>
            </a:r>
            <a:endParaRPr sz="2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4.Offer Temperature in excess of 1000 C even upto 1900 C.</a:t>
            </a:r>
            <a:endParaRPr sz="22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200"/>
          </a:p>
        </p:txBody>
      </p:sp>
      <p:pic>
        <p:nvPicPr>
          <p:cNvPr id="145" name="Google Shape;145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039250" y="1112475"/>
            <a:ext cx="3325525" cy="265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819150" y="8585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/>
              <a:t>What is Gas Sensor?</a:t>
            </a:r>
            <a:endParaRPr u="sng"/>
          </a:p>
        </p:txBody>
      </p:sp>
      <p:sp>
        <p:nvSpPr>
          <p:cNvPr id="151" name="Google Shape;151;p16"/>
          <p:cNvSpPr txBox="1"/>
          <p:nvPr>
            <p:ph type="body" idx="1"/>
          </p:nvPr>
        </p:nvSpPr>
        <p:spPr>
          <a:xfrm>
            <a:off x="819150" y="1990725"/>
            <a:ext cx="58179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02124"/>
                </a:solidFill>
                <a:highlight>
                  <a:srgbClr val="FFFFFF"/>
                </a:highlight>
              </a:rPr>
              <a:t>1.Gas Sensors are devices that can detect the presence and concentration of various hazardous gases and Vapours.</a:t>
            </a:r>
            <a:endParaRPr sz="19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900">
                <a:solidFill>
                  <a:srgbClr val="202124"/>
                </a:solidFill>
                <a:highlight>
                  <a:srgbClr val="FFFFFF"/>
                </a:highlight>
              </a:rPr>
              <a:t>2.</a:t>
            </a:r>
            <a:r>
              <a:rPr lang="en-GB" sz="1200">
                <a:solidFill>
                  <a:srgbClr val="202124"/>
                </a:solidFill>
                <a:highlight>
                  <a:srgbClr val="FFFFFF"/>
                </a:highlight>
              </a:rPr>
              <a:t> </a:t>
            </a:r>
            <a:r>
              <a:rPr lang="en-GB" sz="1900">
                <a:solidFill>
                  <a:srgbClr val="202124"/>
                </a:solidFill>
                <a:highlight>
                  <a:srgbClr val="FFFFFF"/>
                </a:highlight>
              </a:rPr>
              <a:t>Gas sensors are employed in factories and manufacturing facilities to identify gas leaks, and to detect smoke and carbon monoxide in homes. </a:t>
            </a:r>
            <a:endParaRPr sz="26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pic>
        <p:nvPicPr>
          <p:cNvPr id="152" name="Google Shape;152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500813" y="2143150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/>
              <a:t>Working of MEMS Microheater</a:t>
            </a:r>
            <a:r>
              <a:rPr lang="en-GB"/>
              <a:t>.</a:t>
            </a:r>
            <a:endParaRPr lang="en-GB"/>
          </a:p>
        </p:txBody>
      </p:sp>
      <p:sp>
        <p:nvSpPr>
          <p:cNvPr id="158" name="Google Shape;158;p17"/>
          <p:cNvSpPr txBox="1"/>
          <p:nvPr>
            <p:ph type="body" idx="1"/>
          </p:nvPr>
        </p:nvSpPr>
        <p:spPr>
          <a:xfrm>
            <a:off x="819150" y="1990725"/>
            <a:ext cx="51945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1.Microheaters involves in conversion of electrical work to high density heat.</a:t>
            </a:r>
            <a:endParaRPr sz="2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400"/>
              <a:t>2.MEMS microheater are micro-sized heater hotplate.</a:t>
            </a:r>
            <a:endParaRPr sz="2400"/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204225" y="2234050"/>
            <a:ext cx="2476500" cy="205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/>
              <a:t>Design of Microheater</a:t>
            </a:r>
            <a:endParaRPr u="sng"/>
          </a:p>
        </p:txBody>
      </p:sp>
      <p:sp>
        <p:nvSpPr>
          <p:cNvPr id="165" name="Google Shape;165;p18"/>
          <p:cNvSpPr txBox="1"/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</a:p>
        </p:txBody>
      </p:sp>
      <p:pic>
        <p:nvPicPr>
          <p:cNvPr id="166" name="Google Shape;166;p1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47700" y="1714575"/>
            <a:ext cx="7694925" cy="27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819150" y="3000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/>
              <a:t>Temperature</a:t>
            </a:r>
            <a:r>
              <a:rPr lang="en-GB" u="sng"/>
              <a:t> Distribution</a:t>
            </a:r>
            <a:endParaRPr u="sng"/>
          </a:p>
        </p:txBody>
      </p:sp>
      <p:pic>
        <p:nvPicPr>
          <p:cNvPr id="172" name="Google Shape;172;p1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203750" y="845588"/>
            <a:ext cx="5372100" cy="40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IN" altLang="en-US" u="sng"/>
              <a:t>ISOTHERMAL CONTOUR</a:t>
            </a:r>
            <a:endParaRPr lang="en-IN" altLang="en-US" u="sng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3060" y="1312545"/>
            <a:ext cx="4363720" cy="32727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/>
              <a:t>Electric potential Distribution</a:t>
            </a:r>
            <a:endParaRPr u="sng"/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935300" y="1614050"/>
            <a:ext cx="5507200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IN" altLang="en-US" u="sng"/>
              <a:t>STRESS ANALYSIS</a:t>
            </a:r>
            <a:endParaRPr lang="en-IN" altLang="en-US" u="sng"/>
          </a:p>
        </p:txBody>
      </p:sp>
      <p:pic>
        <p:nvPicPr>
          <p:cNvPr id="84" name="Picture 8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8035" y="1483360"/>
            <a:ext cx="5580380" cy="296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IN" altLang="en-US" u="sng"/>
              <a:t>ELECTRIC FIELD  NORM(ec)</a:t>
            </a:r>
            <a:endParaRPr lang="en-IN" altLang="en-US" u="sng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7220" y="1386840"/>
            <a:ext cx="5369560" cy="31984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/>
              <a:t>Why we use Gold?</a:t>
            </a:r>
            <a:endParaRPr u="sng"/>
          </a:p>
        </p:txBody>
      </p:sp>
      <p:sp>
        <p:nvSpPr>
          <p:cNvPr id="184" name="Google Shape;184;p21"/>
          <p:cNvSpPr txBox="1"/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/>
              <a:t>1.Ambient Nature of gold</a:t>
            </a:r>
            <a:endParaRPr sz="2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500"/>
              <a:t>2.Have </a:t>
            </a:r>
            <a:r>
              <a:rPr lang="en-GB" sz="2500"/>
              <a:t>better</a:t>
            </a:r>
            <a:r>
              <a:rPr lang="en-GB" sz="2500"/>
              <a:t> Uniformity</a:t>
            </a:r>
            <a:endParaRPr sz="2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500"/>
              <a:t>3.Does not Oxide easily.</a:t>
            </a:r>
            <a:endParaRPr sz="25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500"/>
              <a:t>4.Good Specific heat capacity.</a:t>
            </a:r>
            <a:endParaRPr sz="2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/>
              <a:t>Advantages of MEMS microheater</a:t>
            </a:r>
            <a:endParaRPr u="sng"/>
          </a:p>
        </p:txBody>
      </p:sp>
      <p:sp>
        <p:nvSpPr>
          <p:cNvPr id="190" name="Google Shape;190;p22"/>
          <p:cNvSpPr txBox="1"/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1.Reduces power Consumption and Bulkiness.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2.Fast thermal response.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3.High mechanical strength.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4.Long term stability.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/>
              <a:t>5.Well Controlled temperature distribution.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/>
              <a:t>Disadvantages of Conventional Microheater</a:t>
            </a:r>
            <a:endParaRPr u="sng"/>
          </a:p>
        </p:txBody>
      </p:sp>
      <p:sp>
        <p:nvSpPr>
          <p:cNvPr id="196" name="Google Shape;196;p23"/>
          <p:cNvSpPr txBox="1"/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1.It consume more power.</a:t>
            </a:r>
            <a:endParaRPr sz="21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/>
              <a:t>2.It is big in size when compare to MEMS  microheater.</a:t>
            </a:r>
            <a:endParaRPr sz="21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100"/>
              <a:t>3.It Does not have Better heat uniformity.</a:t>
            </a:r>
            <a:endParaRPr sz="2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/>
              <a:t>Conclusion.</a:t>
            </a:r>
            <a:endParaRPr u="sng"/>
          </a:p>
        </p:txBody>
      </p:sp>
      <p:sp>
        <p:nvSpPr>
          <p:cNvPr id="202" name="Google Shape;202;p24"/>
          <p:cNvSpPr txBox="1"/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000"/>
              <a:t>Test and simulation were done for the MEMS microheater,Gold based Microheater provides better results such as Temperature uniformity,Immediate thermal response and it does not oxides.We attain 829 K by applying 1 V. We looking for </a:t>
            </a:r>
            <a:r>
              <a:rPr lang="en-GB" sz="2000"/>
              <a:t>fabrication this microheater and convert into Gas sensor in future.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52400"/>
            <a:ext cx="8809750" cy="457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1811</Words>
  <Application>WPS Presentation</Application>
  <PresentationFormat/>
  <Paragraphs>63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SimSun</vt:lpstr>
      <vt:lpstr>Wingdings</vt:lpstr>
      <vt:lpstr>Arial</vt:lpstr>
      <vt:lpstr>Nunito</vt:lpstr>
      <vt:lpstr>Calibri</vt:lpstr>
      <vt:lpstr>Microsoft YaHei</vt:lpstr>
      <vt:lpstr>Arial Unicode MS</vt:lpstr>
      <vt:lpstr>Shift</vt:lpstr>
      <vt:lpstr>WELCOME TO THE PRESENTATION</vt:lpstr>
      <vt:lpstr>Design and Numerical simulation of MEMS Microheater for Gas sensing</vt:lpstr>
      <vt:lpstr>WHAT IS MICRO HEATER ?</vt:lpstr>
      <vt:lpstr>What is Gas Sensor?</vt:lpstr>
      <vt:lpstr>Working of MEMS Microheater.</vt:lpstr>
      <vt:lpstr>Design of Microheater</vt:lpstr>
      <vt:lpstr>Temperature Distribution</vt:lpstr>
      <vt:lpstr>PowerPoint 演示文稿</vt:lpstr>
      <vt:lpstr>Electric potential Distribution</vt:lpstr>
      <vt:lpstr>PowerPoint 演示文稿</vt:lpstr>
      <vt:lpstr>PowerPoint 演示文稿</vt:lpstr>
      <vt:lpstr>Why we use Gold?</vt:lpstr>
      <vt:lpstr>Advantages of MEMS microheater</vt:lpstr>
      <vt:lpstr>Disadvantages of Conventional Microheater</vt:lpstr>
      <vt:lpstr>Conclusion.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PRESENTATION</dc:title>
  <dc:creator/>
  <cp:lastModifiedBy>19UCIT051 SUKESH P</cp:lastModifiedBy>
  <cp:revision>1</cp:revision>
  <dcterms:created xsi:type="dcterms:W3CDTF">2022-11-26T04:40:34Z</dcterms:created>
  <dcterms:modified xsi:type="dcterms:W3CDTF">2022-11-26T04:40:35Z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0EDBC4BE7B4F4DA8BA383541C7DE3CA3</vt:lpwstr>
  </property>
  <property fmtid="{D5CDD505-2E9C-101B-9397-08002B2CF9AE}" pid="3" name="KSOProductBuildVer">
    <vt:lpwstr>1033-11.2.0.11341</vt:lpwstr>
  </property>
</Properties>
</file>
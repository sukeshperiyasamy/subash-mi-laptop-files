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747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BABE-A468-7D08-2092-5EAC4EBC6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06CEE-3130-EC24-7AE0-30AA704CF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B9749-8B98-0D7F-F3DF-3F59D40F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2E16-270B-4DBD-B242-D657BB08B3F9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B0DD5-B544-4871-7C0D-5756BC4A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48D3D-3EC4-8222-7022-352F58E52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BDEC-A79C-4071-94A6-82F3285C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665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6E498-A7D8-6849-9261-61283D348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FB218-8474-6F20-786C-2A717C7A8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12787-45ED-4A8C-C169-4D91AD94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2E16-270B-4DBD-B242-D657BB08B3F9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512D2-BCD7-454F-D946-1287696A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DA3DD-CB62-6045-448E-4F22F565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BDEC-A79C-4071-94A6-82F3285C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005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D00B-E7B8-7D55-37C2-CBCB8B09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BADF0-0953-46F7-E64E-D0060A0D6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A757C-D235-0ABA-83FD-4D0512D8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2E16-270B-4DBD-B242-D657BB08B3F9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1D8AA-4702-5F48-7149-F77CA888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EC41C-B6A1-CB6B-F283-97FAD861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BDEC-A79C-4071-94A6-82F3285C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497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3E36-8F1D-6C39-EB27-6D1DDFF1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7484F-76DB-9221-0A27-B35226A67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5951F-13EB-A5A1-1439-635FBBF0C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692BC-49F5-98CA-D451-6CB97FCA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2E16-270B-4DBD-B242-D657BB08B3F9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C77A7-3531-B7FB-5444-6DBB8C118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8EA08-FAD1-9C44-3130-D60F39C1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BDEC-A79C-4071-94A6-82F3285C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755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7E4F-5EAF-F27E-5DFB-152EF6130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ED2E0-188C-B891-796D-2B3E79F2D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D578C-5C4B-572C-3CA1-5A2D4DE82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EF6687-44F1-2049-F8E9-0D1D29B4A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A8EBC-5EA5-2181-6FCD-406F4EEAE6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67FF1-C164-66AA-7D4F-9A5E1DB5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2E16-270B-4DBD-B242-D657BB08B3F9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949538-D936-1272-349F-222BCB7A9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23F595-9FAC-0B75-C248-265AC3C4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BDEC-A79C-4071-94A6-82F3285C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56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81F36-046E-6615-E087-36FAFB2D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1B92B6-E836-1F1A-2529-2CD7D3279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2E16-270B-4DBD-B242-D657BB08B3F9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8420BC-35C5-D0C1-0268-BA37D0AF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A2366-AFB1-4B31-6980-2E49AFDB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BDEC-A79C-4071-94A6-82F3285C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62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73E6E-1914-378E-EFE4-75DFA987F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2E16-270B-4DBD-B242-D657BB08B3F9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5A1BDB-7FFF-BB61-2F6E-5376A277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10030-1A60-B935-53A5-B7EC39A3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BDEC-A79C-4071-94A6-82F3285C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57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A33E-276B-1E89-6017-A31327DC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EDB1A-2CA1-771F-2A1D-C05341C38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9267B-3DF4-24AE-C6EF-E2F1C324F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72FB4-7547-5A13-3085-903CDB945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2E16-270B-4DBD-B242-D657BB08B3F9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5B707-630C-F8F7-8F0C-67D2EC19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00BA2-AFC3-0E80-ACE4-23B789C0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BDEC-A79C-4071-94A6-82F3285C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90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7AE0-765C-CB70-8C69-C7A30394F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2F86A2-466E-3635-2AB7-EBCFB68EA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4573A-053C-AB22-D985-A5ABA99F1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D7732-6882-9DE4-0F47-99C1BD95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2E16-270B-4DBD-B242-D657BB08B3F9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B0A09-6781-DCFF-18D0-F68C62A7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D37E7-8646-71AA-D991-1AE71A2D9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BDEC-A79C-4071-94A6-82F3285C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754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C4ADC-0928-B533-2331-1CFB05487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F1D81-D29C-85EA-6029-633C8ECD1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DE18C-340E-47A4-D1FB-A63CE543A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2E16-270B-4DBD-B242-D657BB08B3F9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8199B-4A26-405B-F3A3-B5026A234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49783-BA04-D82F-F510-ADD3F55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BDEC-A79C-4071-94A6-82F3285C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56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A49992-7219-35FC-4FE0-060725BE3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EC4A2-188F-AAF9-7C29-94BE4CC64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D7120-43D3-6AD1-96E9-5B779700A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2E16-270B-4DBD-B242-D657BB08B3F9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DBB7C-D1BF-A0C3-D5E0-FDC81B9B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8B75B-4F7B-7834-38A2-ECD71941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BDEC-A79C-4071-94A6-82F3285C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21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43AF6-951C-147E-72FC-D790A7CC1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E177E-144F-32A2-253A-910E27A28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BB63C-2938-8BF5-A9E9-9ACBBF2DE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C2E16-270B-4DBD-B242-D657BB08B3F9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CAEEC-C185-2D5E-B5C4-4A067816E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20E2B-D94F-EED9-7B70-3D2043BBC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7BDEC-A79C-4071-94A6-82F3285C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49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425864-93ED-1D39-4A28-3833761F96CE}"/>
              </a:ext>
            </a:extLst>
          </p:cNvPr>
          <p:cNvSpPr txBox="1"/>
          <p:nvPr/>
        </p:nvSpPr>
        <p:spPr>
          <a:xfrm>
            <a:off x="1066802" y="2635635"/>
            <a:ext cx="9785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NON-INVASIVE MICROWAVE SENSOR SYSTEM FOR REAL-TIME GLUCOSE LEVEL DETECTION</a:t>
            </a:r>
          </a:p>
        </p:txBody>
      </p:sp>
    </p:spTree>
    <p:extLst>
      <p:ext uri="{BB962C8B-B14F-4D97-AF65-F5344CB8AC3E}">
        <p14:creationId xmlns:p14="http://schemas.microsoft.com/office/powerpoint/2010/main" val="139599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636AD7-03FA-EA9C-360F-3E6D87CBA924}"/>
              </a:ext>
            </a:extLst>
          </p:cNvPr>
          <p:cNvSpPr txBox="1"/>
          <p:nvPr/>
        </p:nvSpPr>
        <p:spPr>
          <a:xfrm>
            <a:off x="2155804" y="1965174"/>
            <a:ext cx="76891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Effective management of blood glucose levels is crucial for individuals with diabetes.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GB" sz="2800" dirty="0">
              <a:solidFill>
                <a:srgbClr val="111B21"/>
              </a:solidFill>
              <a:latin typeface="Segoe UI" panose="020B050204020402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 It prevents serious complications such as heart attack, stroke, lower limb amputation, and kidney failure.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GB" sz="2800" dirty="0">
              <a:solidFill>
                <a:srgbClr val="111B21"/>
              </a:solidFill>
              <a:latin typeface="Segoe UI" panose="020B050204020402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2800" dirty="0">
                <a:solidFill>
                  <a:srgbClr val="111B21"/>
                </a:solidFill>
                <a:latin typeface="Segoe UI" panose="020B0502040204020203" pitchFamily="34" charset="0"/>
              </a:rPr>
              <a:t>G</a:t>
            </a: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lucose monitoring devices are used to monitor the glucose levels.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59F840-9D2C-FBC0-603B-486A3E984EDD}"/>
              </a:ext>
            </a:extLst>
          </p:cNvPr>
          <p:cNvSpPr txBox="1"/>
          <p:nvPr/>
        </p:nvSpPr>
        <p:spPr>
          <a:xfrm>
            <a:off x="1295904" y="1077902"/>
            <a:ext cx="2725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98638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CFF6CE-EB75-970D-473B-9FC48DAB0173}"/>
              </a:ext>
            </a:extLst>
          </p:cNvPr>
          <p:cNvSpPr txBox="1"/>
          <p:nvPr/>
        </p:nvSpPr>
        <p:spPr>
          <a:xfrm>
            <a:off x="763009" y="1005234"/>
            <a:ext cx="4129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Existing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65CFEE-EF7B-BDF2-C21E-D86DF60193A1}"/>
              </a:ext>
            </a:extLst>
          </p:cNvPr>
          <p:cNvSpPr txBox="1"/>
          <p:nvPr/>
        </p:nvSpPr>
        <p:spPr>
          <a:xfrm>
            <a:off x="2361695" y="2146064"/>
            <a:ext cx="73015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Most available glucose monitoring devices are invasive.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800" dirty="0">
              <a:solidFill>
                <a:srgbClr val="111B21"/>
              </a:solidFill>
              <a:latin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It involves painful and expensive finger-pricking procedures.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800" dirty="0">
              <a:solidFill>
                <a:srgbClr val="111B21"/>
              </a:solidFill>
              <a:latin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 There is a growing need for non-invasive and pain-free biosensors for glucose monitoring.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6531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4F24C9-60CE-0EF1-D446-5347E4082CE4}"/>
              </a:ext>
            </a:extLst>
          </p:cNvPr>
          <p:cNvSpPr txBox="1"/>
          <p:nvPr/>
        </p:nvSpPr>
        <p:spPr>
          <a:xfrm>
            <a:off x="853844" y="1065790"/>
            <a:ext cx="4148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Proposed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9CE96-7437-5F63-871B-6DB31C6E7BF5}"/>
              </a:ext>
            </a:extLst>
          </p:cNvPr>
          <p:cNvSpPr txBox="1"/>
          <p:nvPr/>
        </p:nvSpPr>
        <p:spPr>
          <a:xfrm>
            <a:off x="2114928" y="1996233"/>
            <a:ext cx="83310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Microwave sensing techniques are promising for non-invasive glucose monitoring as they can provide information on biological tissues with minimal or no contact.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GB" sz="2800" b="0" i="0" dirty="0">
              <a:solidFill>
                <a:srgbClr val="111B21"/>
              </a:solidFill>
              <a:effectLst/>
              <a:latin typeface="Segoe UI" panose="020B0502040204020203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 Microwaves can penetrate biological tissues without posing health risks, making them suitable for non-invasive monitoring.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08525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74DBD-2143-C0AB-E9EF-ED2F6C5C616C}"/>
              </a:ext>
            </a:extLst>
          </p:cNvPr>
          <p:cNvSpPr txBox="1"/>
          <p:nvPr/>
        </p:nvSpPr>
        <p:spPr>
          <a:xfrm>
            <a:off x="720620" y="1138458"/>
            <a:ext cx="3772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RF-Based Sensor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0009A-70D1-8B1B-B65D-96ABB62E9E0A}"/>
              </a:ext>
            </a:extLst>
          </p:cNvPr>
          <p:cNvSpPr txBox="1"/>
          <p:nvPr/>
        </p:nvSpPr>
        <p:spPr>
          <a:xfrm>
            <a:off x="1998358" y="1863790"/>
            <a:ext cx="90397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4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The proposed RF-based sensor operates at a frequency range of 1 - 2 GHz for non-invasive blood glucose level measurements.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2400" dirty="0">
              <a:solidFill>
                <a:srgbClr val="111B21"/>
              </a:solidFill>
              <a:latin typeface="Segoe UI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4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 The sensor is composed of four Octagonal-shaped complementary split-ring resonators arranged in a honeycomb structure.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2400" dirty="0">
              <a:solidFill>
                <a:srgbClr val="111B21"/>
              </a:solidFill>
              <a:latin typeface="Segoe UI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4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The design is sensitive to glucose samples at the level of interest, with a step resonance response of about -40 </a:t>
            </a:r>
            <a:r>
              <a:rPr lang="en-GB" sz="2400" b="0" i="0" dirty="0" err="1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dB.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0654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8F89F6-BC14-BA18-A6D9-07CB06C83724}"/>
              </a:ext>
            </a:extLst>
          </p:cNvPr>
          <p:cNvSpPr txBox="1"/>
          <p:nvPr/>
        </p:nvSpPr>
        <p:spPr>
          <a:xfrm>
            <a:off x="490506" y="744842"/>
            <a:ext cx="4614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Simulation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2EC753-00DD-C0FB-0365-4B6294A8AF41}"/>
              </a:ext>
            </a:extLst>
          </p:cNvPr>
          <p:cNvSpPr txBox="1"/>
          <p:nvPr/>
        </p:nvSpPr>
        <p:spPr>
          <a:xfrm>
            <a:off x="1124858" y="1506809"/>
            <a:ext cx="5588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Ansys </a:t>
            </a:r>
            <a:r>
              <a:rPr lang="en-GB" sz="2800" b="0" i="0" dirty="0" err="1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Hfss</a:t>
            </a: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 is used for modelling</a:t>
            </a:r>
            <a:r>
              <a:rPr lang="en-GB" sz="2800" dirty="0">
                <a:solidFill>
                  <a:srgbClr val="111B21"/>
                </a:solidFill>
                <a:latin typeface="Segoe UI" panose="020B0502040204020203" pitchFamily="34" charset="0"/>
              </a:rPr>
              <a:t> </a:t>
            </a: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and 3D electromagnetic simulations of the microwave sensor with a human fingertip inserted in the sensing region. </a:t>
            </a:r>
            <a:endParaRPr lang="en-GB" sz="2800" dirty="0">
              <a:solidFill>
                <a:srgbClr val="111B21"/>
              </a:solidFill>
              <a:latin typeface="Segoe UI" panose="020B050204020402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The simulations consider different finger layers' thicknesses, such as skin, fat, blood, and bone, and their influence on the microwave sensor.</a:t>
            </a:r>
            <a:endParaRPr lang="en-IN" sz="2800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2EF2EB4-68F9-6381-E430-D2A6685F7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32200" y="3276600"/>
            <a:ext cx="2616200" cy="261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83984F-9FBD-EEB2-CDB5-73F9F32CF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404" y="1800225"/>
            <a:ext cx="484822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81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014DDC-7BB7-5B5A-1E79-EAB0C7706065}"/>
              </a:ext>
            </a:extLst>
          </p:cNvPr>
          <p:cNvSpPr txBox="1"/>
          <p:nvPr/>
        </p:nvSpPr>
        <p:spPr>
          <a:xfrm>
            <a:off x="936171" y="827313"/>
            <a:ext cx="2213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DA3D3-6B2C-8055-83DD-68BE0E578864}"/>
              </a:ext>
            </a:extLst>
          </p:cNvPr>
          <p:cNvSpPr txBox="1"/>
          <p:nvPr/>
        </p:nvSpPr>
        <p:spPr>
          <a:xfrm>
            <a:off x="1792515" y="1797707"/>
            <a:ext cx="872308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Bio-impedance measurements are used for glucose monitoring, evaluating changes in blood impedance during the cardiac cycle.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2800" b="0" i="0" dirty="0">
              <a:solidFill>
                <a:srgbClr val="111B21"/>
              </a:solidFill>
              <a:effectLst/>
              <a:latin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Segoe UI" panose="020B0502040204020203" pitchFamily="34" charset="0"/>
              </a:rPr>
              <a:t> The study focuses on removing tissue influence on blood glucose concentration to enhance measurement accuracy.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3474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285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Periyasamy</dc:creator>
  <cp:lastModifiedBy>Sukesh Periyasamy</cp:lastModifiedBy>
  <cp:revision>1</cp:revision>
  <dcterms:created xsi:type="dcterms:W3CDTF">2023-10-05T00:51:36Z</dcterms:created>
  <dcterms:modified xsi:type="dcterms:W3CDTF">2023-10-05T01:19:41Z</dcterms:modified>
</cp:coreProperties>
</file>
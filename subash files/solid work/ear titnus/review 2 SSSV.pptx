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6" r:id="rId8"/>
    <p:sldId id="264" r:id="rId9"/>
    <p:sldId id="267" r:id="rId10"/>
    <p:sldId id="271" r:id="rId11"/>
    <p:sldId id="273" r:id="rId12"/>
    <p:sldId id="272" r:id="rId13"/>
    <p:sldId id="268"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857A36-8CA9-4A62-A174-B820CD60934F}" v="8" dt="2024-04-05T09:14:42.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938" autoAdjust="0"/>
    <p:restoredTop sz="94660"/>
  </p:normalViewPr>
  <p:slideViewPr>
    <p:cSldViewPr snapToGrid="0">
      <p:cViewPr varScale="1">
        <p:scale>
          <a:sx n="81" d="100"/>
          <a:sy n="81" d="100"/>
        </p:scale>
        <p:origin x="41"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2DD8D-1C92-6B7B-8EE3-80735D7A35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5339DD-326A-5FCC-20D1-99E65B352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5F05E3-A5B3-B438-236C-DC5E7B486EBD}"/>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5" name="Footer Placeholder 4">
            <a:extLst>
              <a:ext uri="{FF2B5EF4-FFF2-40B4-BE49-F238E27FC236}">
                <a16:creationId xmlns:a16="http://schemas.microsoft.com/office/drawing/2014/main" id="{1BB5EB04-9D30-B338-8729-36160BA921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61BE9E-429F-7540-9452-DEFE76E7F79F}"/>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1094721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D06D8-3754-FE14-7237-E8F4052571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C7D9ED-AF02-ECE6-F84C-B4D44D394E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B37D28-C9D5-C253-DD76-6F54513541BA}"/>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5" name="Footer Placeholder 4">
            <a:extLst>
              <a:ext uri="{FF2B5EF4-FFF2-40B4-BE49-F238E27FC236}">
                <a16:creationId xmlns:a16="http://schemas.microsoft.com/office/drawing/2014/main" id="{B1EEE9B5-894C-81FC-C1E1-28BBD5F3CE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2A041-E4D0-6FEA-2C34-BA11F8A5ED66}"/>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3160783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24E9-FE0B-2C73-59F6-CD7CB8C4B4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1C8613-1166-6130-AA15-C9948B9E2F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9747C1-858C-7FB4-5507-324886E345C9}"/>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5" name="Footer Placeholder 4">
            <a:extLst>
              <a:ext uri="{FF2B5EF4-FFF2-40B4-BE49-F238E27FC236}">
                <a16:creationId xmlns:a16="http://schemas.microsoft.com/office/drawing/2014/main" id="{F86B1E7F-76E5-2FE8-0C41-4E61959F3F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3CE58-13C1-C14D-7BBE-CDB8F4C9C8AF}"/>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347583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BD3D9-2165-4FAD-9F2C-F528FB614A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19F384-026D-5C2D-BB91-D3DFED072F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D4515DF-742F-A88B-8389-7A2C06BFB0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A3EEE3-AAD6-462A-04A1-D2D8B1958A7C}"/>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6" name="Footer Placeholder 5">
            <a:extLst>
              <a:ext uri="{FF2B5EF4-FFF2-40B4-BE49-F238E27FC236}">
                <a16:creationId xmlns:a16="http://schemas.microsoft.com/office/drawing/2014/main" id="{7A62388B-CE69-6975-F444-0DCB82DBED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3631E3-76C5-0BA4-BAB4-4663D865F7DE}"/>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564250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87ABE-3B70-83EF-A9CE-E462EBCC2E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E68CD9-EF99-FAE8-CB01-694E9FDE1A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E1D1BF-0ACB-51B1-BC85-6CAD814D79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72A5E3-339C-7DC9-8831-B99CEB6586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02266E-5199-D29F-D1F2-8F528C845E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D76D3-CE75-58F4-9A33-4BB7607F4818}"/>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8" name="Footer Placeholder 7">
            <a:extLst>
              <a:ext uri="{FF2B5EF4-FFF2-40B4-BE49-F238E27FC236}">
                <a16:creationId xmlns:a16="http://schemas.microsoft.com/office/drawing/2014/main" id="{DD254AA3-024A-8D51-F919-F062988E16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3B6F04-40AA-EEDD-5425-9D4BD3AA1BF5}"/>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4245012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BFB1A-4E4E-7741-2550-FB753FA9B5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D05171-DA9C-CA4A-B009-894F4727A107}"/>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4" name="Footer Placeholder 3">
            <a:extLst>
              <a:ext uri="{FF2B5EF4-FFF2-40B4-BE49-F238E27FC236}">
                <a16:creationId xmlns:a16="http://schemas.microsoft.com/office/drawing/2014/main" id="{24C37032-447E-A78D-B6AD-73DEB26F40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CD04C2-58E2-3C12-D6FE-5EBB4810CB81}"/>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554726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4DA00C-2332-8D26-3D51-4000D8760F63}"/>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3" name="Footer Placeholder 2">
            <a:extLst>
              <a:ext uri="{FF2B5EF4-FFF2-40B4-BE49-F238E27FC236}">
                <a16:creationId xmlns:a16="http://schemas.microsoft.com/office/drawing/2014/main" id="{FF16A986-B52F-746C-6802-8F19292DFD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16975A-EC35-491D-D438-46159D002DD3}"/>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817627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FBE55-6CB2-DB4A-1437-DD63ADBE1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AA6B98-415A-904A-CF02-90E6032CD1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E3A3C9-1BAB-3FBF-6749-484AEFF78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BBCAAF-D00C-44E1-36C7-080B21C8C488}"/>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6" name="Footer Placeholder 5">
            <a:extLst>
              <a:ext uri="{FF2B5EF4-FFF2-40B4-BE49-F238E27FC236}">
                <a16:creationId xmlns:a16="http://schemas.microsoft.com/office/drawing/2014/main" id="{DFEC11D8-A18F-8BA4-39B0-81D80FD426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D21C87-B86D-D8A4-1BC4-3154DF9E87CC}"/>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198758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9B25-201E-13D9-9CF4-7DF617F4C7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9B05EE-067E-B67A-8F8C-00B60E28C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B82940-7F21-94C5-1702-6B5E5E8F76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E38B67-7E99-A69B-C538-6E5AC00764AF}"/>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6" name="Footer Placeholder 5">
            <a:extLst>
              <a:ext uri="{FF2B5EF4-FFF2-40B4-BE49-F238E27FC236}">
                <a16:creationId xmlns:a16="http://schemas.microsoft.com/office/drawing/2014/main" id="{DB1CB1A7-0842-D73E-D5BF-32600CD5E9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7D9AF2-8D39-80D2-5056-79CD116887D1}"/>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188569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26E0A-18D0-BC8C-8628-5F5B393217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0FC908-5BC7-0EC6-6A33-068F464FDA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A1D148-27F1-2EAF-2046-8EDD7B5C0CD5}"/>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5" name="Footer Placeholder 4">
            <a:extLst>
              <a:ext uri="{FF2B5EF4-FFF2-40B4-BE49-F238E27FC236}">
                <a16:creationId xmlns:a16="http://schemas.microsoft.com/office/drawing/2014/main" id="{132B286A-9198-3DB2-8167-4C4B9056ED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7E9743-D63E-0A52-26B8-5DF1849D0215}"/>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146391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00C76-CF1B-EC76-C310-09ACE3354E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6650DA-9E5C-AD7C-0F9A-16494C5B1D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984F27-BEBC-3ABB-DCA2-274DDB3D3DA3}"/>
              </a:ext>
            </a:extLst>
          </p:cNvPr>
          <p:cNvSpPr>
            <a:spLocks noGrp="1"/>
          </p:cNvSpPr>
          <p:nvPr>
            <p:ph type="dt" sz="half" idx="10"/>
          </p:nvPr>
        </p:nvSpPr>
        <p:spPr/>
        <p:txBody>
          <a:bodyPr/>
          <a:lstStyle/>
          <a:p>
            <a:fld id="{27783897-3E4B-45B8-9EB0-ADA6920DE5A9}" type="datetimeFigureOut">
              <a:rPr lang="en-IN" smtClean="0"/>
              <a:t>02-05-2024</a:t>
            </a:fld>
            <a:endParaRPr lang="en-IN"/>
          </a:p>
        </p:txBody>
      </p:sp>
      <p:sp>
        <p:nvSpPr>
          <p:cNvPr id="5" name="Footer Placeholder 4">
            <a:extLst>
              <a:ext uri="{FF2B5EF4-FFF2-40B4-BE49-F238E27FC236}">
                <a16:creationId xmlns:a16="http://schemas.microsoft.com/office/drawing/2014/main" id="{80595501-0907-86D2-0F99-15D2A0B75E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86DFF5-CA01-BE03-7765-5506FB3A71E2}"/>
              </a:ext>
            </a:extLst>
          </p:cNvPr>
          <p:cNvSpPr>
            <a:spLocks noGrp="1"/>
          </p:cNvSpPr>
          <p:nvPr>
            <p:ph type="sldNum" sz="quarter" idx="12"/>
          </p:nvPr>
        </p:nvSpPr>
        <p:spPr/>
        <p:txBody>
          <a:bodyPr/>
          <a:lstStyle/>
          <a:p>
            <a:fld id="{AEA05357-D1B7-4EB4-A56E-9D68CBD324CD}" type="slidenum">
              <a:rPr lang="en-IN" smtClean="0"/>
              <a:t>‹#›</a:t>
            </a:fld>
            <a:endParaRPr lang="en-IN"/>
          </a:p>
        </p:txBody>
      </p:sp>
    </p:spTree>
    <p:extLst>
      <p:ext uri="{BB962C8B-B14F-4D97-AF65-F5344CB8AC3E}">
        <p14:creationId xmlns:p14="http://schemas.microsoft.com/office/powerpoint/2010/main" val="1878340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3B87C-050C-E69B-B5E8-682C182778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39ED02-F7F3-3CF1-3F09-CD86ADE0C8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008B95-743F-0B4E-9F0A-E4C2467D4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83897-3E4B-45B8-9EB0-ADA6920DE5A9}" type="datetimeFigureOut">
              <a:rPr lang="en-IN" smtClean="0"/>
              <a:t>02-05-2024</a:t>
            </a:fld>
            <a:endParaRPr lang="en-IN"/>
          </a:p>
        </p:txBody>
      </p:sp>
      <p:sp>
        <p:nvSpPr>
          <p:cNvPr id="5" name="Footer Placeholder 4">
            <a:extLst>
              <a:ext uri="{FF2B5EF4-FFF2-40B4-BE49-F238E27FC236}">
                <a16:creationId xmlns:a16="http://schemas.microsoft.com/office/drawing/2014/main" id="{0A9CE2AF-3C07-630C-79FD-02CEE059E7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67575F-FF62-0878-9724-5E906BB2C0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A05357-D1B7-4EB4-A56E-9D68CBD324CD}" type="slidenum">
              <a:rPr lang="en-IN" smtClean="0"/>
              <a:t>‹#›</a:t>
            </a:fld>
            <a:endParaRPr lang="en-IN"/>
          </a:p>
        </p:txBody>
      </p:sp>
    </p:spTree>
    <p:extLst>
      <p:ext uri="{BB962C8B-B14F-4D97-AF65-F5344CB8AC3E}">
        <p14:creationId xmlns:p14="http://schemas.microsoft.com/office/powerpoint/2010/main" val="4273315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8F087D-0A88-BBBF-F0EF-1E5E832E05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187" y="884185"/>
            <a:ext cx="3676650" cy="1238250"/>
          </a:xfrm>
          <a:prstGeom prst="rect">
            <a:avLst/>
          </a:prstGeom>
        </p:spPr>
      </p:pic>
      <p:pic>
        <p:nvPicPr>
          <p:cNvPr id="4" name="Picture 3">
            <a:extLst>
              <a:ext uri="{FF2B5EF4-FFF2-40B4-BE49-F238E27FC236}">
                <a16:creationId xmlns:a16="http://schemas.microsoft.com/office/drawing/2014/main" id="{714DF9AE-F5B8-4341-AD6B-779E4359645E}"/>
              </a:ext>
            </a:extLst>
          </p:cNvPr>
          <p:cNvPicPr>
            <a:picLocks noChangeAspect="1"/>
          </p:cNvPicPr>
          <p:nvPr/>
        </p:nvPicPr>
        <p:blipFill>
          <a:blip r:embed="rId3"/>
          <a:stretch>
            <a:fillRect/>
          </a:stretch>
        </p:blipFill>
        <p:spPr>
          <a:xfrm>
            <a:off x="9598754" y="771857"/>
            <a:ext cx="1987453" cy="1692784"/>
          </a:xfrm>
          <a:prstGeom prst="rect">
            <a:avLst/>
          </a:prstGeom>
        </p:spPr>
      </p:pic>
      <p:sp>
        <p:nvSpPr>
          <p:cNvPr id="5" name="TextBox 4">
            <a:extLst>
              <a:ext uri="{FF2B5EF4-FFF2-40B4-BE49-F238E27FC236}">
                <a16:creationId xmlns:a16="http://schemas.microsoft.com/office/drawing/2014/main" id="{9BB92E76-13C8-28C9-EC27-1F7B46C9F877}"/>
              </a:ext>
            </a:extLst>
          </p:cNvPr>
          <p:cNvSpPr txBox="1"/>
          <p:nvPr/>
        </p:nvSpPr>
        <p:spPr>
          <a:xfrm>
            <a:off x="2698791" y="2891875"/>
            <a:ext cx="6794418" cy="830997"/>
          </a:xfrm>
          <a:prstGeom prst="rect">
            <a:avLst/>
          </a:prstGeom>
          <a:noFill/>
        </p:spPr>
        <p:txBody>
          <a:bodyPr wrap="square" rtlCol="0">
            <a:spAutoFit/>
          </a:bodyPr>
          <a:lstStyle/>
          <a:p>
            <a:r>
              <a:rPr lang="en-IN" sz="4800" dirty="0">
                <a:latin typeface="Times New Roman" panose="02020603050405020304" pitchFamily="18" charset="0"/>
                <a:cs typeface="Times New Roman" panose="02020603050405020304" pitchFamily="18" charset="0"/>
              </a:rPr>
              <a:t>MINOR PROJECT-IV</a:t>
            </a:r>
          </a:p>
        </p:txBody>
      </p:sp>
      <p:sp>
        <p:nvSpPr>
          <p:cNvPr id="6" name="TextBox 5">
            <a:extLst>
              <a:ext uri="{FF2B5EF4-FFF2-40B4-BE49-F238E27FC236}">
                <a16:creationId xmlns:a16="http://schemas.microsoft.com/office/drawing/2014/main" id="{0C9848C0-437C-A23E-7E6D-6CA0B0AAB96F}"/>
              </a:ext>
            </a:extLst>
          </p:cNvPr>
          <p:cNvSpPr txBox="1"/>
          <p:nvPr/>
        </p:nvSpPr>
        <p:spPr>
          <a:xfrm>
            <a:off x="1120291" y="3966125"/>
            <a:ext cx="10125011" cy="769441"/>
          </a:xfrm>
          <a:prstGeom prst="rect">
            <a:avLst/>
          </a:prstGeom>
          <a:noFill/>
        </p:spPr>
        <p:txBody>
          <a:bodyPr wrap="square" rtlCol="0">
            <a:spAutoFit/>
          </a:bodyPr>
          <a:lstStyle/>
          <a:p>
            <a:r>
              <a:rPr lang="en-IN" sz="4400" dirty="0">
                <a:solidFill>
                  <a:srgbClr val="000000"/>
                </a:solidFill>
                <a:effectLst/>
                <a:latin typeface="Times-Roman"/>
              </a:rPr>
              <a:t>MINOR PROJECT SECOND REVIEW</a:t>
            </a:r>
            <a:endParaRPr lang="en-IN" sz="4400" dirty="0"/>
          </a:p>
        </p:txBody>
      </p:sp>
    </p:spTree>
    <p:extLst>
      <p:ext uri="{BB962C8B-B14F-4D97-AF65-F5344CB8AC3E}">
        <p14:creationId xmlns:p14="http://schemas.microsoft.com/office/powerpoint/2010/main" val="1766042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62BDB-5093-FE73-548C-390986A4A135}"/>
              </a:ext>
            </a:extLst>
          </p:cNvPr>
          <p:cNvSpPr txBox="1"/>
          <p:nvPr/>
        </p:nvSpPr>
        <p:spPr>
          <a:xfrm>
            <a:off x="569229" y="2282972"/>
            <a:ext cx="10966745" cy="2123658"/>
          </a:xfrm>
          <a:prstGeom prst="rect">
            <a:avLst/>
          </a:prstGeom>
          <a:noFill/>
        </p:spPr>
        <p:txBody>
          <a:bodyPr wrap="square" rtlCol="0">
            <a:spAutoFit/>
          </a:bodyPr>
          <a:lstStyle/>
          <a:p>
            <a:pPr algn="ctr"/>
            <a:r>
              <a:rPr lang="en-GB" sz="4400" b="0" i="0" dirty="0">
                <a:solidFill>
                  <a:srgbClr val="0F0F0F"/>
                </a:solidFill>
                <a:effectLst/>
                <a:latin typeface="Times New Roman" panose="02020603050405020304" pitchFamily="18" charset="0"/>
                <a:cs typeface="Times New Roman" panose="02020603050405020304" pitchFamily="18" charset="0"/>
              </a:rPr>
              <a:t>Design and development of Advanced Acoustic Metamaterials for tackling tinnitus and Urban Noise mitigations</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1318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C1920C-DF12-34FA-1784-7D8C4803F685}"/>
              </a:ext>
            </a:extLst>
          </p:cNvPr>
          <p:cNvSpPr txBox="1"/>
          <p:nvPr/>
        </p:nvSpPr>
        <p:spPr>
          <a:xfrm>
            <a:off x="944678" y="545007"/>
            <a:ext cx="2846146"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PRESENTED BY</a:t>
            </a:r>
          </a:p>
        </p:txBody>
      </p:sp>
      <p:sp>
        <p:nvSpPr>
          <p:cNvPr id="3" name="TextBox 2">
            <a:extLst>
              <a:ext uri="{FF2B5EF4-FFF2-40B4-BE49-F238E27FC236}">
                <a16:creationId xmlns:a16="http://schemas.microsoft.com/office/drawing/2014/main" id="{3FED10AF-A3D7-DA07-E648-E2953B13E4C7}"/>
              </a:ext>
            </a:extLst>
          </p:cNvPr>
          <p:cNvSpPr txBox="1"/>
          <p:nvPr/>
        </p:nvSpPr>
        <p:spPr>
          <a:xfrm>
            <a:off x="1083957" y="1628964"/>
            <a:ext cx="10161345" cy="2554545"/>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SHANJAY R K                      (927621BEC195)  </a:t>
            </a:r>
          </a:p>
          <a:p>
            <a:r>
              <a:rPr lang="en-IN" sz="4000" dirty="0">
                <a:latin typeface="Times New Roman" panose="02020603050405020304" pitchFamily="18" charset="0"/>
                <a:cs typeface="Times New Roman" panose="02020603050405020304" pitchFamily="18" charset="0"/>
              </a:rPr>
              <a:t>SIVARAMAKRISHNAN M (927621BEC201) </a:t>
            </a:r>
          </a:p>
          <a:p>
            <a:r>
              <a:rPr lang="en-IN" sz="4000" dirty="0">
                <a:latin typeface="Times New Roman" panose="02020603050405020304" pitchFamily="18" charset="0"/>
                <a:cs typeface="Times New Roman" panose="02020603050405020304" pitchFamily="18" charset="0"/>
              </a:rPr>
              <a:t>SUBASH P                            (927621BEC213) </a:t>
            </a:r>
          </a:p>
          <a:p>
            <a:r>
              <a:rPr lang="en-IN" sz="4000" dirty="0">
                <a:latin typeface="Times New Roman" panose="02020603050405020304" pitchFamily="18" charset="0"/>
                <a:cs typeface="Times New Roman" panose="02020603050405020304" pitchFamily="18" charset="0"/>
              </a:rPr>
              <a:t>VISHWA S                            (927621BEC243) </a:t>
            </a:r>
          </a:p>
        </p:txBody>
      </p:sp>
      <p:sp>
        <p:nvSpPr>
          <p:cNvPr id="6" name="TextBox 5">
            <a:extLst>
              <a:ext uri="{FF2B5EF4-FFF2-40B4-BE49-F238E27FC236}">
                <a16:creationId xmlns:a16="http://schemas.microsoft.com/office/drawing/2014/main" id="{7CB0405E-CA67-F043-B451-F5C05E26CDC6}"/>
              </a:ext>
            </a:extLst>
          </p:cNvPr>
          <p:cNvSpPr txBox="1"/>
          <p:nvPr/>
        </p:nvSpPr>
        <p:spPr>
          <a:xfrm>
            <a:off x="6806527" y="4946227"/>
            <a:ext cx="5201786" cy="2677656"/>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GUIDE BY</a:t>
            </a:r>
          </a:p>
          <a:p>
            <a:r>
              <a:rPr lang="en-IN" sz="2800" dirty="0" err="1">
                <a:latin typeface="Times New Roman" panose="02020603050405020304" pitchFamily="18" charset="0"/>
                <a:cs typeface="Times New Roman" panose="02020603050405020304" pitchFamily="18" charset="0"/>
              </a:rPr>
              <a:t>Dr.P.JEYAKUMAR</a:t>
            </a:r>
            <a:r>
              <a:rPr lang="en-IN" sz="2800" dirty="0">
                <a:latin typeface="Times New Roman" panose="02020603050405020304" pitchFamily="18" charset="0"/>
                <a:cs typeface="Times New Roman" panose="02020603050405020304" pitchFamily="18" charset="0"/>
              </a:rPr>
              <a:t>(AP/ECE)             </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3345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5B7E65-3691-B6D7-12E8-9AC5E41019F3}"/>
              </a:ext>
            </a:extLst>
          </p:cNvPr>
          <p:cNvSpPr txBox="1"/>
          <p:nvPr/>
        </p:nvSpPr>
        <p:spPr>
          <a:xfrm>
            <a:off x="835677" y="823565"/>
            <a:ext cx="2852201" cy="707886"/>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SYNOPSIS :</a:t>
            </a:r>
          </a:p>
        </p:txBody>
      </p:sp>
      <p:sp>
        <p:nvSpPr>
          <p:cNvPr id="4" name="TextBox 3">
            <a:extLst>
              <a:ext uri="{FF2B5EF4-FFF2-40B4-BE49-F238E27FC236}">
                <a16:creationId xmlns:a16="http://schemas.microsoft.com/office/drawing/2014/main" id="{628FE4EF-0CEB-6A5E-18AD-B9AEC0FF7304}"/>
              </a:ext>
            </a:extLst>
          </p:cNvPr>
          <p:cNvSpPr txBox="1"/>
          <p:nvPr/>
        </p:nvSpPr>
        <p:spPr>
          <a:xfrm>
            <a:off x="1962023" y="1919634"/>
            <a:ext cx="5171507" cy="3554819"/>
          </a:xfrm>
          <a:prstGeom prst="rect">
            <a:avLst/>
          </a:prstGeom>
          <a:noFill/>
        </p:spPr>
        <p:txBody>
          <a:bodyPr wrap="square" rtlCol="0">
            <a:spAutoFit/>
          </a:bodyPr>
          <a:lstStyle/>
          <a:p>
            <a:pPr marL="571500" indent="-571500">
              <a:buFont typeface="Wingdings" panose="05000000000000000000" pitchFamily="2" charset="2"/>
              <a:buChar char="Ø"/>
            </a:pPr>
            <a:r>
              <a:rPr lang="en-IN" sz="2500" dirty="0">
                <a:solidFill>
                  <a:srgbClr val="000000"/>
                </a:solidFill>
                <a:latin typeface="Times-Roman"/>
              </a:rPr>
              <a:t>Introduction</a:t>
            </a:r>
          </a:p>
          <a:p>
            <a:pPr marL="571500" indent="-571500">
              <a:buFont typeface="Wingdings" panose="05000000000000000000" pitchFamily="2" charset="2"/>
              <a:buChar char="Ø"/>
            </a:pPr>
            <a:r>
              <a:rPr lang="en-IN" sz="2500" dirty="0">
                <a:solidFill>
                  <a:srgbClr val="000000"/>
                </a:solidFill>
                <a:latin typeface="Times-Roman"/>
              </a:rPr>
              <a:t>Problem Statement</a:t>
            </a:r>
            <a:r>
              <a:rPr lang="en-IN" sz="2500" dirty="0">
                <a:solidFill>
                  <a:srgbClr val="000000"/>
                </a:solidFill>
                <a:effectLst/>
                <a:latin typeface="Times-Roman"/>
              </a:rPr>
              <a:t> </a:t>
            </a:r>
          </a:p>
          <a:p>
            <a:pPr marL="571500" indent="-571500">
              <a:buFont typeface="Wingdings" panose="05000000000000000000" pitchFamily="2" charset="2"/>
              <a:buChar char="Ø"/>
            </a:pPr>
            <a:r>
              <a:rPr lang="en-IN" sz="2500" dirty="0">
                <a:solidFill>
                  <a:srgbClr val="000000"/>
                </a:solidFill>
                <a:effectLst/>
                <a:latin typeface="Times-Roman"/>
              </a:rPr>
              <a:t>Objectives</a:t>
            </a:r>
            <a:endParaRPr lang="en-IN" sz="2500" dirty="0">
              <a:solidFill>
                <a:srgbClr val="000000"/>
              </a:solidFill>
              <a:latin typeface="Times-Roman"/>
            </a:endParaRPr>
          </a:p>
          <a:p>
            <a:pPr marL="571500" indent="-571500">
              <a:buFont typeface="Wingdings" panose="05000000000000000000" pitchFamily="2" charset="2"/>
              <a:buChar char="Ø"/>
            </a:pPr>
            <a:r>
              <a:rPr lang="en-IN" sz="2500" dirty="0">
                <a:solidFill>
                  <a:srgbClr val="000000"/>
                </a:solidFill>
                <a:effectLst/>
                <a:latin typeface="Times-Roman"/>
              </a:rPr>
              <a:t>Existing System </a:t>
            </a:r>
          </a:p>
          <a:p>
            <a:pPr marL="571500" indent="-571500">
              <a:buFont typeface="Wingdings" panose="05000000000000000000" pitchFamily="2" charset="2"/>
              <a:buChar char="Ø"/>
            </a:pPr>
            <a:r>
              <a:rPr lang="en-IN" sz="2500" dirty="0">
                <a:solidFill>
                  <a:srgbClr val="000000"/>
                </a:solidFill>
                <a:latin typeface="Times-Roman"/>
              </a:rPr>
              <a:t>Proposed System</a:t>
            </a:r>
          </a:p>
          <a:p>
            <a:pPr marL="571500" indent="-571500">
              <a:buFont typeface="Wingdings" panose="05000000000000000000" pitchFamily="2" charset="2"/>
              <a:buChar char="Ø"/>
            </a:pPr>
            <a:r>
              <a:rPr lang="en-IN" sz="2500" dirty="0">
                <a:solidFill>
                  <a:srgbClr val="000000"/>
                </a:solidFill>
                <a:latin typeface="Times-Roman"/>
              </a:rPr>
              <a:t>Conclusion</a:t>
            </a:r>
          </a:p>
          <a:p>
            <a:pPr marL="571500" indent="-571500">
              <a:buFont typeface="Wingdings" panose="05000000000000000000" pitchFamily="2" charset="2"/>
              <a:buChar char="Ø"/>
            </a:pPr>
            <a:r>
              <a:rPr lang="en-IN" sz="2500" dirty="0">
                <a:solidFill>
                  <a:srgbClr val="000000"/>
                </a:solidFill>
                <a:latin typeface="Times-Roman"/>
              </a:rPr>
              <a:t>References</a:t>
            </a:r>
          </a:p>
          <a:p>
            <a:pPr marL="571500" indent="-571500">
              <a:buFont typeface="Wingdings" panose="05000000000000000000" pitchFamily="2" charset="2"/>
              <a:buChar char="Ø"/>
            </a:pPr>
            <a:endParaRPr lang="en-IN" sz="2500" dirty="0">
              <a:solidFill>
                <a:srgbClr val="000000"/>
              </a:solidFill>
              <a:effectLst/>
              <a:latin typeface="Times-Roman"/>
            </a:endParaRPr>
          </a:p>
          <a:p>
            <a:pPr marL="571500" indent="-571500">
              <a:buFont typeface="Wingdings" panose="05000000000000000000" pitchFamily="2" charset="2"/>
              <a:buChar char="Ø"/>
            </a:pPr>
            <a:endParaRPr lang="en-IN" sz="2500" dirty="0"/>
          </a:p>
        </p:txBody>
      </p:sp>
    </p:spTree>
    <p:extLst>
      <p:ext uri="{BB962C8B-B14F-4D97-AF65-F5344CB8AC3E}">
        <p14:creationId xmlns:p14="http://schemas.microsoft.com/office/powerpoint/2010/main" val="1255694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88EF7D-386A-20FC-EE7A-17BDAC28D41F}"/>
              </a:ext>
            </a:extLst>
          </p:cNvPr>
          <p:cNvSpPr txBox="1"/>
          <p:nvPr/>
        </p:nvSpPr>
        <p:spPr>
          <a:xfrm>
            <a:off x="689429" y="574894"/>
            <a:ext cx="4122057" cy="1123384"/>
          </a:xfrm>
          <a:prstGeom prst="rect">
            <a:avLst/>
          </a:prstGeom>
          <a:noFill/>
        </p:spPr>
        <p:txBody>
          <a:bodyPr wrap="square" rtlCol="0">
            <a:spAutoFit/>
          </a:bodyPr>
          <a:lstStyle/>
          <a:p>
            <a:r>
              <a:rPr lang="en-IN" sz="3500" dirty="0">
                <a:latin typeface="Times New Roman" panose="02020603050405020304" pitchFamily="18" charset="0"/>
                <a:cs typeface="Times New Roman" panose="02020603050405020304" pitchFamily="18" charset="0"/>
              </a:rPr>
              <a:t>Introduction: </a:t>
            </a:r>
          </a:p>
          <a:p>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0693AEF-0987-DB88-DB73-FD9FD77760D7}"/>
              </a:ext>
            </a:extLst>
          </p:cNvPr>
          <p:cNvSpPr txBox="1"/>
          <p:nvPr/>
        </p:nvSpPr>
        <p:spPr>
          <a:xfrm>
            <a:off x="1520889" y="1240972"/>
            <a:ext cx="9981681" cy="4247317"/>
          </a:xfrm>
          <a:prstGeom prst="rect">
            <a:avLst/>
          </a:prstGeom>
          <a:noFill/>
        </p:spPr>
        <p:txBody>
          <a:bodyPr wrap="square">
            <a:spAutoFit/>
          </a:bodyPr>
          <a:lstStyle/>
          <a:p>
            <a:pPr marL="342900" indent="-342900">
              <a:buFont typeface="Wingdings" panose="05000000000000000000" pitchFamily="2" charset="2"/>
              <a:buChar char="Ø"/>
            </a:pPr>
            <a:r>
              <a:rPr lang="en-IN" sz="3000" dirty="0"/>
              <a:t>This project aims to pioneer the design and development of advanced acoustic metamaterials.</a:t>
            </a:r>
          </a:p>
          <a:p>
            <a:endParaRPr lang="en-IN" sz="3000" dirty="0"/>
          </a:p>
          <a:p>
            <a:pPr marL="342900" indent="-342900">
              <a:buFont typeface="Wingdings" panose="05000000000000000000" pitchFamily="2" charset="2"/>
              <a:buChar char="Ø"/>
            </a:pPr>
            <a:r>
              <a:rPr lang="en-IN" sz="3000" dirty="0"/>
              <a:t>O</a:t>
            </a:r>
            <a:r>
              <a:rPr lang="en-IN" sz="3000"/>
              <a:t>ffering </a:t>
            </a:r>
            <a:r>
              <a:rPr lang="en-IN" sz="3000" dirty="0"/>
              <a:t>innovative solutions to mitigate urban noise pollution and alleviate the symptoms of tinnitus, thus fostering healthier and quieter environments.</a:t>
            </a:r>
          </a:p>
          <a:p>
            <a:endParaRPr lang="en-IN" sz="3000" dirty="0"/>
          </a:p>
          <a:p>
            <a:pPr marL="342900" indent="-342900">
              <a:buFont typeface="Wingdings" panose="05000000000000000000" pitchFamily="2" charset="2"/>
              <a:buChar char="Ø"/>
            </a:pPr>
            <a:r>
              <a:rPr lang="en-US" sz="3000" dirty="0"/>
              <a:t>This project focuses on creating innovative materials to make cities quieter and help people with tinnitus feel better.</a:t>
            </a:r>
            <a:endParaRPr lang="en-IN" sz="3000" dirty="0"/>
          </a:p>
        </p:txBody>
      </p:sp>
    </p:spTree>
    <p:extLst>
      <p:ext uri="{BB962C8B-B14F-4D97-AF65-F5344CB8AC3E}">
        <p14:creationId xmlns:p14="http://schemas.microsoft.com/office/powerpoint/2010/main" val="3165553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BD010C-3674-E7FA-27E8-AB4DB60723FE}"/>
              </a:ext>
            </a:extLst>
          </p:cNvPr>
          <p:cNvSpPr txBox="1"/>
          <p:nvPr/>
        </p:nvSpPr>
        <p:spPr>
          <a:xfrm>
            <a:off x="740229" y="508000"/>
            <a:ext cx="3824514" cy="1077218"/>
          </a:xfrm>
          <a:prstGeom prst="rect">
            <a:avLst/>
          </a:prstGeom>
          <a:noFill/>
        </p:spPr>
        <p:txBody>
          <a:bodyPr wrap="square" rtlCol="0">
            <a:spAutoFit/>
          </a:bodyPr>
          <a:lstStyle/>
          <a:p>
            <a:r>
              <a:rPr lang="en-IN" sz="3200" dirty="0">
                <a:solidFill>
                  <a:srgbClr val="000000"/>
                </a:solidFill>
                <a:latin typeface="Times-Roman"/>
              </a:rPr>
              <a:t>Problem Statement</a:t>
            </a:r>
            <a:r>
              <a:rPr lang="en-IN" sz="3200" dirty="0">
                <a:solidFill>
                  <a:srgbClr val="000000"/>
                </a:solidFill>
                <a:effectLst/>
                <a:latin typeface="Times-Roman"/>
              </a:rPr>
              <a:t>:</a:t>
            </a:r>
          </a:p>
          <a:p>
            <a:endParaRPr lang="en-IN" sz="3200" dirty="0"/>
          </a:p>
        </p:txBody>
      </p:sp>
      <p:sp>
        <p:nvSpPr>
          <p:cNvPr id="4" name="TextBox 3">
            <a:extLst>
              <a:ext uri="{FF2B5EF4-FFF2-40B4-BE49-F238E27FC236}">
                <a16:creationId xmlns:a16="http://schemas.microsoft.com/office/drawing/2014/main" id="{ADF50B91-84CC-1AC9-E199-3E8F0F760891}"/>
              </a:ext>
            </a:extLst>
          </p:cNvPr>
          <p:cNvSpPr txBox="1"/>
          <p:nvPr/>
        </p:nvSpPr>
        <p:spPr>
          <a:xfrm>
            <a:off x="1529704" y="1297155"/>
            <a:ext cx="10049585" cy="3170099"/>
          </a:xfrm>
          <a:prstGeom prst="rect">
            <a:avLst/>
          </a:prstGeom>
          <a:noFill/>
        </p:spPr>
        <p:txBody>
          <a:bodyPr wrap="square">
            <a:spAutoFit/>
          </a:bodyPr>
          <a:lstStyle/>
          <a:p>
            <a:pPr marL="285750" indent="-285750">
              <a:buFont typeface="Wingdings" panose="05000000000000000000" pitchFamily="2" charset="2"/>
              <a:buChar char="Ø"/>
            </a:pPr>
            <a:r>
              <a:rPr lang="en-IN" sz="2500" dirty="0"/>
              <a:t>Many individuals experience tinnitus, a condition characterized by persistent ringing or buzzing sounds in the ears, which can significantly affect their quality of life.</a:t>
            </a:r>
          </a:p>
          <a:p>
            <a:pPr marL="285750" indent="-285750">
              <a:buFont typeface="Wingdings" panose="05000000000000000000" pitchFamily="2" charset="2"/>
              <a:buChar char="Ø"/>
            </a:pPr>
            <a:endParaRPr lang="en-IN" sz="2500" dirty="0"/>
          </a:p>
          <a:p>
            <a:pPr marL="285750" indent="-285750">
              <a:buFont typeface="Wingdings" panose="05000000000000000000" pitchFamily="2" charset="2"/>
              <a:buChar char="Ø"/>
            </a:pPr>
            <a:r>
              <a:rPr lang="en-US" sz="2500" dirty="0"/>
              <a:t>Urban areas are often plagued by excessive noise pollution </a:t>
            </a:r>
          </a:p>
          <a:p>
            <a:r>
              <a:rPr lang="en-US" sz="2500" dirty="0"/>
              <a:t>    from </a:t>
            </a:r>
            <a:r>
              <a:rPr lang="en-US" sz="2500" dirty="0" err="1"/>
              <a:t>traffic,construction</a:t>
            </a:r>
            <a:r>
              <a:rPr lang="en-US" sz="2500" dirty="0"/>
              <a:t>, and other sources, </a:t>
            </a:r>
          </a:p>
          <a:p>
            <a:r>
              <a:rPr lang="en-US" sz="2500" dirty="0"/>
              <a:t>    leading to stress, sleep </a:t>
            </a:r>
            <a:r>
              <a:rPr lang="en-US" sz="2500" dirty="0" err="1"/>
              <a:t>disturbances,and</a:t>
            </a:r>
            <a:r>
              <a:rPr lang="en-US" sz="2500" dirty="0"/>
              <a:t> </a:t>
            </a:r>
          </a:p>
          <a:p>
            <a:r>
              <a:rPr lang="en-US" sz="2500" dirty="0"/>
              <a:t>    potential health issues for residents.</a:t>
            </a:r>
            <a:endParaRPr lang="en-IN" sz="2500" dirty="0"/>
          </a:p>
        </p:txBody>
      </p:sp>
      <p:pic>
        <p:nvPicPr>
          <p:cNvPr id="6" name="Picture 5">
            <a:extLst>
              <a:ext uri="{FF2B5EF4-FFF2-40B4-BE49-F238E27FC236}">
                <a16:creationId xmlns:a16="http://schemas.microsoft.com/office/drawing/2014/main" id="{7BE7E984-ADB7-105B-EA52-E51342868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5514" y="3505197"/>
            <a:ext cx="3089089" cy="2055648"/>
          </a:xfrm>
          <a:prstGeom prst="rect">
            <a:avLst/>
          </a:prstGeom>
        </p:spPr>
      </p:pic>
    </p:spTree>
    <p:extLst>
      <p:ext uri="{BB962C8B-B14F-4D97-AF65-F5344CB8AC3E}">
        <p14:creationId xmlns:p14="http://schemas.microsoft.com/office/powerpoint/2010/main" val="2548186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BD010C-3674-E7FA-27E8-AB4DB60723FE}"/>
              </a:ext>
            </a:extLst>
          </p:cNvPr>
          <p:cNvSpPr txBox="1"/>
          <p:nvPr/>
        </p:nvSpPr>
        <p:spPr>
          <a:xfrm>
            <a:off x="740229" y="508000"/>
            <a:ext cx="3824514" cy="1077218"/>
          </a:xfrm>
          <a:prstGeom prst="rect">
            <a:avLst/>
          </a:prstGeom>
          <a:noFill/>
        </p:spPr>
        <p:txBody>
          <a:bodyPr wrap="square" rtlCol="0">
            <a:spAutoFit/>
          </a:bodyPr>
          <a:lstStyle/>
          <a:p>
            <a:r>
              <a:rPr lang="en-IN" sz="3200" dirty="0">
                <a:solidFill>
                  <a:srgbClr val="000000"/>
                </a:solidFill>
                <a:effectLst/>
                <a:latin typeface="Times-Roman"/>
              </a:rPr>
              <a:t>Existing System </a:t>
            </a:r>
          </a:p>
          <a:p>
            <a:endParaRPr lang="en-IN" sz="3200" dirty="0"/>
          </a:p>
        </p:txBody>
      </p:sp>
      <p:sp>
        <p:nvSpPr>
          <p:cNvPr id="4" name="TextBox 3">
            <a:extLst>
              <a:ext uri="{FF2B5EF4-FFF2-40B4-BE49-F238E27FC236}">
                <a16:creationId xmlns:a16="http://schemas.microsoft.com/office/drawing/2014/main" id="{21582DBE-0C5C-4EC2-E9C3-C2B25419191B}"/>
              </a:ext>
            </a:extLst>
          </p:cNvPr>
          <p:cNvSpPr txBox="1"/>
          <p:nvPr/>
        </p:nvSpPr>
        <p:spPr>
          <a:xfrm>
            <a:off x="263506" y="1557767"/>
            <a:ext cx="7186904" cy="4093428"/>
          </a:xfrm>
          <a:prstGeom prst="rect">
            <a:avLst/>
          </a:prstGeom>
          <a:noFill/>
        </p:spPr>
        <p:txBody>
          <a:bodyPr wrap="square">
            <a:spAutoFit/>
          </a:bodyPr>
          <a:lstStyle/>
          <a:p>
            <a:pPr marL="285750" indent="-285750">
              <a:buFont typeface="Wingdings" panose="05000000000000000000" pitchFamily="2" charset="2"/>
              <a:buChar char="Ø"/>
            </a:pPr>
            <a:r>
              <a:rPr lang="en-IN" sz="2200" dirty="0"/>
              <a:t>Current solutions for tinnitus management primarily focus on symptom masking through the use of white noise generators or hearing aids, which may provide temporary relief but often fail to address the underlying cause or provide long-term benefits.</a:t>
            </a:r>
          </a:p>
          <a:p>
            <a:pPr marL="285750" indent="-285750">
              <a:buFont typeface="Wingdings" panose="05000000000000000000" pitchFamily="2" charset="2"/>
              <a:buChar char="Ø"/>
            </a:pPr>
            <a:endParaRPr lang="en-IN" sz="2200" dirty="0"/>
          </a:p>
          <a:p>
            <a:pPr marL="285750" indent="-285750">
              <a:buFont typeface="Wingdings" panose="05000000000000000000" pitchFamily="2" charset="2"/>
              <a:buChar char="Ø"/>
            </a:pPr>
            <a:r>
              <a:rPr lang="en-US" sz="2200" dirty="0"/>
              <a:t>Existing acoustic metamaterials for noise control typically target specific frequency ranges or are designed for niche applications, lacking versatility and scalability for widespread adoption in addressing both tinnitus and urban noise challenges simultaneously.</a:t>
            </a:r>
            <a:endParaRPr lang="en-IN" sz="2200" dirty="0"/>
          </a:p>
          <a:p>
            <a:pPr marL="285750" indent="-285750">
              <a:buFont typeface="Wingdings" panose="05000000000000000000" pitchFamily="2" charset="2"/>
              <a:buChar char="Ø"/>
            </a:pPr>
            <a:endParaRPr lang="en-IN" dirty="0"/>
          </a:p>
        </p:txBody>
      </p:sp>
      <p:pic>
        <p:nvPicPr>
          <p:cNvPr id="6" name="Picture 5">
            <a:extLst>
              <a:ext uri="{FF2B5EF4-FFF2-40B4-BE49-F238E27FC236}">
                <a16:creationId xmlns:a16="http://schemas.microsoft.com/office/drawing/2014/main" id="{BA0A2772-E0CC-60AF-1A37-A236C66A58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0410" y="2094807"/>
            <a:ext cx="4183439" cy="2295989"/>
          </a:xfrm>
          <a:prstGeom prst="rect">
            <a:avLst/>
          </a:prstGeom>
        </p:spPr>
      </p:pic>
    </p:spTree>
    <p:extLst>
      <p:ext uri="{BB962C8B-B14F-4D97-AF65-F5344CB8AC3E}">
        <p14:creationId xmlns:p14="http://schemas.microsoft.com/office/powerpoint/2010/main" val="3233380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8E232D-C4C1-E44C-E99F-964006757048}"/>
              </a:ext>
            </a:extLst>
          </p:cNvPr>
          <p:cNvSpPr txBox="1"/>
          <p:nvPr/>
        </p:nvSpPr>
        <p:spPr>
          <a:xfrm>
            <a:off x="899886" y="660791"/>
            <a:ext cx="4166636" cy="584775"/>
          </a:xfrm>
          <a:prstGeom prst="rect">
            <a:avLst/>
          </a:prstGeom>
          <a:noFill/>
        </p:spPr>
        <p:txBody>
          <a:bodyPr wrap="square">
            <a:spAutoFit/>
          </a:bodyPr>
          <a:lstStyle/>
          <a:p>
            <a:r>
              <a:rPr lang="en-IN" sz="3200" dirty="0">
                <a:solidFill>
                  <a:srgbClr val="000000"/>
                </a:solidFill>
                <a:latin typeface="Times-Roman"/>
              </a:rPr>
              <a:t>Proposed System</a:t>
            </a:r>
            <a:r>
              <a:rPr lang="en-IN" sz="3200" dirty="0">
                <a:solidFill>
                  <a:srgbClr val="000000"/>
                </a:solidFill>
                <a:effectLst/>
                <a:latin typeface="Times-Roman"/>
              </a:rPr>
              <a:t>  </a:t>
            </a:r>
            <a:endParaRPr lang="en-IN" sz="3200" dirty="0"/>
          </a:p>
        </p:txBody>
      </p:sp>
      <p:sp>
        <p:nvSpPr>
          <p:cNvPr id="4" name="TextBox 3">
            <a:extLst>
              <a:ext uri="{FF2B5EF4-FFF2-40B4-BE49-F238E27FC236}">
                <a16:creationId xmlns:a16="http://schemas.microsoft.com/office/drawing/2014/main" id="{93B26F39-C846-B8F4-5F0F-00DD12D5DE2D}"/>
              </a:ext>
            </a:extLst>
          </p:cNvPr>
          <p:cNvSpPr txBox="1"/>
          <p:nvPr/>
        </p:nvSpPr>
        <p:spPr>
          <a:xfrm>
            <a:off x="899887" y="1768080"/>
            <a:ext cx="9074538" cy="4708981"/>
          </a:xfrm>
          <a:prstGeom prst="rect">
            <a:avLst/>
          </a:prstGeom>
          <a:noFill/>
        </p:spPr>
        <p:txBody>
          <a:bodyPr wrap="square">
            <a:spAutoFit/>
          </a:bodyPr>
          <a:lstStyle/>
          <a:p>
            <a:pPr marL="342900" indent="-342900" algn="just">
              <a:buFont typeface="Wingdings" panose="05000000000000000000" pitchFamily="2" charset="2"/>
              <a:buChar char="Ø"/>
            </a:pPr>
            <a:r>
              <a:rPr lang="en-US" sz="2500" dirty="0"/>
              <a:t> Integration of acoustic metamaterials into hearing aid devices presents a novel approach for personalized urban noise mitigation, offering individuals with tinnitus not only enhanced auditory support but also effective reduction of external urban noise, thereby improving their overall listening experience and quality of life.</a:t>
            </a:r>
          </a:p>
          <a:p>
            <a:pPr marL="342900" indent="-342900" algn="just">
              <a:buFont typeface="Wingdings" panose="05000000000000000000" pitchFamily="2" charset="2"/>
              <a:buChar char="Ø"/>
            </a:pPr>
            <a:endParaRPr lang="en-US" sz="2500" dirty="0"/>
          </a:p>
          <a:p>
            <a:pPr marL="342900" indent="-342900" algn="just">
              <a:buFont typeface="Wingdings" panose="05000000000000000000" pitchFamily="2" charset="2"/>
              <a:buChar char="Ø"/>
            </a:pPr>
            <a:r>
              <a:rPr lang="en-US" sz="2500" dirty="0"/>
              <a:t>The incorporation of acoustic metamaterials into hearing aid designs enables the development of compact and discreet solutions that can adapt to varying environmental noise conditions, providing users with real-time noise cancellation tailored to their specific needs and preferences.</a:t>
            </a:r>
            <a:endParaRPr lang="en-IN" sz="2500" dirty="0"/>
          </a:p>
        </p:txBody>
      </p:sp>
      <p:pic>
        <p:nvPicPr>
          <p:cNvPr id="6" name="Picture 5">
            <a:extLst>
              <a:ext uri="{FF2B5EF4-FFF2-40B4-BE49-F238E27FC236}">
                <a16:creationId xmlns:a16="http://schemas.microsoft.com/office/drawing/2014/main" id="{F58BE328-E78A-1AFA-BD29-D481A5602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6943" y="2963927"/>
            <a:ext cx="1954861" cy="2143125"/>
          </a:xfrm>
          <a:prstGeom prst="rect">
            <a:avLst/>
          </a:prstGeom>
        </p:spPr>
      </p:pic>
    </p:spTree>
    <p:extLst>
      <p:ext uri="{BB962C8B-B14F-4D97-AF65-F5344CB8AC3E}">
        <p14:creationId xmlns:p14="http://schemas.microsoft.com/office/powerpoint/2010/main" val="1341244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8E232D-C4C1-E44C-E99F-964006757048}"/>
              </a:ext>
            </a:extLst>
          </p:cNvPr>
          <p:cNvSpPr txBox="1"/>
          <p:nvPr/>
        </p:nvSpPr>
        <p:spPr>
          <a:xfrm>
            <a:off x="899886" y="660791"/>
            <a:ext cx="2934996" cy="584775"/>
          </a:xfrm>
          <a:prstGeom prst="rect">
            <a:avLst/>
          </a:prstGeom>
          <a:noFill/>
        </p:spPr>
        <p:txBody>
          <a:bodyPr wrap="square">
            <a:spAutoFit/>
          </a:bodyPr>
          <a:lstStyle/>
          <a:p>
            <a:r>
              <a:rPr lang="en-IN" sz="3200" dirty="0">
                <a:solidFill>
                  <a:srgbClr val="000000"/>
                </a:solidFill>
                <a:latin typeface="Times-Roman"/>
              </a:rPr>
              <a:t>Conclusion</a:t>
            </a:r>
            <a:r>
              <a:rPr lang="en-IN" sz="3200" dirty="0">
                <a:solidFill>
                  <a:srgbClr val="000000"/>
                </a:solidFill>
                <a:effectLst/>
                <a:latin typeface="Times-Roman"/>
              </a:rPr>
              <a:t>  </a:t>
            </a:r>
            <a:endParaRPr lang="en-IN" sz="3200" dirty="0"/>
          </a:p>
        </p:txBody>
      </p:sp>
      <p:sp>
        <p:nvSpPr>
          <p:cNvPr id="4" name="TextBox 3">
            <a:extLst>
              <a:ext uri="{FF2B5EF4-FFF2-40B4-BE49-F238E27FC236}">
                <a16:creationId xmlns:a16="http://schemas.microsoft.com/office/drawing/2014/main" id="{A8AE95B8-88FB-2DC8-F6E4-3734BB9C0809}"/>
              </a:ext>
            </a:extLst>
          </p:cNvPr>
          <p:cNvSpPr txBox="1"/>
          <p:nvPr/>
        </p:nvSpPr>
        <p:spPr>
          <a:xfrm>
            <a:off x="1548882" y="1726163"/>
            <a:ext cx="7735077" cy="3939540"/>
          </a:xfrm>
          <a:prstGeom prst="rect">
            <a:avLst/>
          </a:prstGeom>
          <a:noFill/>
        </p:spPr>
        <p:txBody>
          <a:bodyPr wrap="square">
            <a:spAutoFit/>
          </a:bodyPr>
          <a:lstStyle/>
          <a:p>
            <a:pPr marL="285750" indent="-285750">
              <a:buFont typeface="Wingdings" panose="05000000000000000000" pitchFamily="2" charset="2"/>
              <a:buChar char="Ø"/>
            </a:pPr>
            <a:r>
              <a:rPr lang="en-IN" sz="2200" dirty="0"/>
              <a:t>Through the design and development of advanced acoustic metamaterials, this project holds promise in providing effective, scalable, and cost-efficient strategies for mitigating both tinnitus-related discomfort and urban noise disturbances, thereby enhancing quality of life for individuals and communities.</a:t>
            </a:r>
          </a:p>
          <a:p>
            <a:endParaRPr lang="en-IN" sz="2200" dirty="0"/>
          </a:p>
          <a:p>
            <a:pPr marL="285750" indent="-285750">
              <a:buFont typeface="Wingdings" panose="05000000000000000000" pitchFamily="2" charset="2"/>
              <a:buChar char="Ø"/>
            </a:pPr>
            <a:r>
              <a:rPr lang="en-US" sz="2400" dirty="0"/>
              <a:t>Utilizing advanced acoustic metamaterials offers a promising avenue for precisely manipulating sound waves, enabling targeted attenuation of tinnitus frequencies and effective reduction of urban noise pollution.</a:t>
            </a:r>
            <a:endParaRPr lang="en-IN" sz="2200" dirty="0"/>
          </a:p>
        </p:txBody>
      </p:sp>
    </p:spTree>
    <p:extLst>
      <p:ext uri="{BB962C8B-B14F-4D97-AF65-F5344CB8AC3E}">
        <p14:creationId xmlns:p14="http://schemas.microsoft.com/office/powerpoint/2010/main" val="1156351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CF7256-DFC5-103B-A413-30F025A2831E}"/>
              </a:ext>
            </a:extLst>
          </p:cNvPr>
          <p:cNvSpPr txBox="1"/>
          <p:nvPr/>
        </p:nvSpPr>
        <p:spPr>
          <a:xfrm>
            <a:off x="1108181" y="744842"/>
            <a:ext cx="1441420" cy="523220"/>
          </a:xfrm>
          <a:prstGeom prst="rect">
            <a:avLst/>
          </a:prstGeom>
          <a:noFill/>
        </p:spPr>
        <p:txBody>
          <a:bodyPr wrap="none" rtlCol="0">
            <a:spAutoFit/>
          </a:bodyPr>
          <a:lstStyle/>
          <a:p>
            <a:r>
              <a:rPr lang="en-IN" sz="2800" b="1" dirty="0"/>
              <a:t>OUTPUT</a:t>
            </a:r>
          </a:p>
        </p:txBody>
      </p:sp>
      <p:pic>
        <p:nvPicPr>
          <p:cNvPr id="4" name="Picture 3">
            <a:extLst>
              <a:ext uri="{FF2B5EF4-FFF2-40B4-BE49-F238E27FC236}">
                <a16:creationId xmlns:a16="http://schemas.microsoft.com/office/drawing/2014/main" id="{D7D5A6A7-29BD-F4BF-85B9-D141FDC67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149" y="1801929"/>
            <a:ext cx="3073956" cy="2905297"/>
          </a:xfrm>
          <a:prstGeom prst="rect">
            <a:avLst/>
          </a:prstGeom>
        </p:spPr>
      </p:pic>
      <p:pic>
        <p:nvPicPr>
          <p:cNvPr id="6" name="Picture 5">
            <a:extLst>
              <a:ext uri="{FF2B5EF4-FFF2-40B4-BE49-F238E27FC236}">
                <a16:creationId xmlns:a16="http://schemas.microsoft.com/office/drawing/2014/main" id="{890E0B97-037B-7D5D-4936-BE8C05A9A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6775" y="1640430"/>
            <a:ext cx="2489374" cy="3143516"/>
          </a:xfrm>
          <a:prstGeom prst="rect">
            <a:avLst/>
          </a:prstGeom>
        </p:spPr>
      </p:pic>
      <p:pic>
        <p:nvPicPr>
          <p:cNvPr id="8" name="Picture 7">
            <a:extLst>
              <a:ext uri="{FF2B5EF4-FFF2-40B4-BE49-F238E27FC236}">
                <a16:creationId xmlns:a16="http://schemas.microsoft.com/office/drawing/2014/main" id="{03F8C9B8-E873-C264-BA20-71F5015A78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9747" y="2237797"/>
            <a:ext cx="3399879" cy="2225202"/>
          </a:xfrm>
          <a:prstGeom prst="rect">
            <a:avLst/>
          </a:prstGeom>
        </p:spPr>
      </p:pic>
    </p:spTree>
    <p:extLst>
      <p:ext uri="{BB962C8B-B14F-4D97-AF65-F5344CB8AC3E}">
        <p14:creationId xmlns:p14="http://schemas.microsoft.com/office/powerpoint/2010/main" val="1289946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FD9C305-B382-383E-C7E2-841B0F12E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4339" y="1712709"/>
            <a:ext cx="6553808" cy="4164101"/>
          </a:xfrm>
          <a:prstGeom prst="rect">
            <a:avLst/>
          </a:prstGeom>
        </p:spPr>
      </p:pic>
      <p:sp>
        <p:nvSpPr>
          <p:cNvPr id="2" name="TextBox 1">
            <a:extLst>
              <a:ext uri="{FF2B5EF4-FFF2-40B4-BE49-F238E27FC236}">
                <a16:creationId xmlns:a16="http://schemas.microsoft.com/office/drawing/2014/main" id="{8AE925BB-6CB3-FC06-C9C9-8ED72BD6D2DA}"/>
              </a:ext>
            </a:extLst>
          </p:cNvPr>
          <p:cNvSpPr txBox="1"/>
          <p:nvPr/>
        </p:nvSpPr>
        <p:spPr>
          <a:xfrm>
            <a:off x="482138" y="357448"/>
            <a:ext cx="3583032" cy="646331"/>
          </a:xfrm>
          <a:prstGeom prst="rect">
            <a:avLst/>
          </a:prstGeom>
          <a:noFill/>
        </p:spPr>
        <p:txBody>
          <a:bodyPr wrap="none" rtlCol="0">
            <a:spAutoFit/>
          </a:bodyPr>
          <a:lstStyle/>
          <a:p>
            <a:r>
              <a:rPr lang="en-IN" sz="3600" b="1" dirty="0">
                <a:latin typeface="Times New Roman" panose="02020603050405020304" pitchFamily="18" charset="0"/>
                <a:cs typeface="Times New Roman" panose="02020603050405020304" pitchFamily="18" charset="0"/>
              </a:rPr>
              <a:t>ANSYS DESIGN</a:t>
            </a:r>
          </a:p>
        </p:txBody>
      </p:sp>
    </p:spTree>
    <p:extLst>
      <p:ext uri="{BB962C8B-B14F-4D97-AF65-F5344CB8AC3E}">
        <p14:creationId xmlns:p14="http://schemas.microsoft.com/office/powerpoint/2010/main" val="1345087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73A896-C5CD-2641-A6AE-25A175321D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641" y="75671"/>
            <a:ext cx="5144598" cy="3654439"/>
          </a:xfrm>
          <a:prstGeom prst="rect">
            <a:avLst/>
          </a:prstGeom>
        </p:spPr>
      </p:pic>
      <p:pic>
        <p:nvPicPr>
          <p:cNvPr id="7" name="Picture 6">
            <a:extLst>
              <a:ext uri="{FF2B5EF4-FFF2-40B4-BE49-F238E27FC236}">
                <a16:creationId xmlns:a16="http://schemas.microsoft.com/office/drawing/2014/main" id="{12C9CF6A-DC7D-EE80-F1D2-BCC18C6C4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6762" y="160471"/>
            <a:ext cx="5144598" cy="3268529"/>
          </a:xfrm>
          <a:prstGeom prst="rect">
            <a:avLst/>
          </a:prstGeom>
        </p:spPr>
      </p:pic>
      <p:pic>
        <p:nvPicPr>
          <p:cNvPr id="11" name="Picture 10">
            <a:extLst>
              <a:ext uri="{FF2B5EF4-FFF2-40B4-BE49-F238E27FC236}">
                <a16:creationId xmlns:a16="http://schemas.microsoft.com/office/drawing/2014/main" id="{EC2B7F61-49F8-35DB-C598-8E790F3A7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4313" y="3621954"/>
            <a:ext cx="4392241" cy="3160375"/>
          </a:xfrm>
          <a:prstGeom prst="rect">
            <a:avLst/>
          </a:prstGeom>
        </p:spPr>
      </p:pic>
      <p:pic>
        <p:nvPicPr>
          <p:cNvPr id="13" name="Picture 12">
            <a:extLst>
              <a:ext uri="{FF2B5EF4-FFF2-40B4-BE49-F238E27FC236}">
                <a16:creationId xmlns:a16="http://schemas.microsoft.com/office/drawing/2014/main" id="{A762CAF2-9020-5A75-8E3D-3DA70F9A32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6522" y="3915295"/>
            <a:ext cx="4865078" cy="2584178"/>
          </a:xfrm>
          <a:prstGeom prst="rect">
            <a:avLst/>
          </a:prstGeom>
        </p:spPr>
      </p:pic>
    </p:spTree>
    <p:extLst>
      <p:ext uri="{BB962C8B-B14F-4D97-AF65-F5344CB8AC3E}">
        <p14:creationId xmlns:p14="http://schemas.microsoft.com/office/powerpoint/2010/main" val="3652247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8E232D-C4C1-E44C-E99F-964006757048}"/>
              </a:ext>
            </a:extLst>
          </p:cNvPr>
          <p:cNvSpPr txBox="1"/>
          <p:nvPr/>
        </p:nvSpPr>
        <p:spPr>
          <a:xfrm>
            <a:off x="899886" y="660791"/>
            <a:ext cx="2235200" cy="584775"/>
          </a:xfrm>
          <a:prstGeom prst="rect">
            <a:avLst/>
          </a:prstGeom>
          <a:noFill/>
        </p:spPr>
        <p:txBody>
          <a:bodyPr wrap="square">
            <a:spAutoFit/>
          </a:bodyPr>
          <a:lstStyle/>
          <a:p>
            <a:r>
              <a:rPr lang="en-IN" sz="3200" dirty="0">
                <a:solidFill>
                  <a:srgbClr val="000000"/>
                </a:solidFill>
                <a:effectLst/>
                <a:latin typeface="Times-Roman"/>
              </a:rPr>
              <a:t>References : </a:t>
            </a:r>
            <a:endParaRPr lang="en-IN" sz="3200" dirty="0"/>
          </a:p>
        </p:txBody>
      </p:sp>
      <p:sp>
        <p:nvSpPr>
          <p:cNvPr id="4" name="TextBox 3">
            <a:extLst>
              <a:ext uri="{FF2B5EF4-FFF2-40B4-BE49-F238E27FC236}">
                <a16:creationId xmlns:a16="http://schemas.microsoft.com/office/drawing/2014/main" id="{457ACD97-3DAB-06AE-C18E-A2EAE491C5F9}"/>
              </a:ext>
            </a:extLst>
          </p:cNvPr>
          <p:cNvSpPr txBox="1"/>
          <p:nvPr/>
        </p:nvSpPr>
        <p:spPr>
          <a:xfrm>
            <a:off x="1667846" y="1752897"/>
            <a:ext cx="8119965" cy="3816429"/>
          </a:xfrm>
          <a:prstGeom prst="rect">
            <a:avLst/>
          </a:prstGeom>
          <a:noFill/>
        </p:spPr>
        <p:txBody>
          <a:bodyPr wrap="square">
            <a:spAutoFit/>
          </a:bodyPr>
          <a:lstStyle/>
          <a:p>
            <a:pPr marL="285750" indent="-285750">
              <a:buFont typeface="Wingdings" panose="05000000000000000000" pitchFamily="2" charset="2"/>
              <a:buChar char="Ø"/>
            </a:pPr>
            <a:r>
              <a:rPr lang="en-US" sz="2200" dirty="0"/>
              <a:t>E. </a:t>
            </a:r>
            <a:r>
              <a:rPr lang="en-US" sz="2200" dirty="0" err="1"/>
              <a:t>Yablonovitch</a:t>
            </a:r>
            <a:r>
              <a:rPr lang="en-US" sz="2200" dirty="0"/>
              <a:t>, Inhibited spontaneous emission in solid-state </a:t>
            </a:r>
            <a:r>
              <a:rPr lang="en-US" sz="2200" dirty="0" err="1"/>
              <a:t>Ephysics</a:t>
            </a:r>
            <a:r>
              <a:rPr lang="en-US" sz="2200" dirty="0"/>
              <a:t> and electronics. </a:t>
            </a:r>
            <a:r>
              <a:rPr lang="en-US" sz="2200" i="1" dirty="0"/>
              <a:t>Phys. Rev. Lett.</a:t>
            </a:r>
            <a:r>
              <a:rPr lang="en-US" sz="2200" dirty="0"/>
              <a:t> </a:t>
            </a:r>
            <a:r>
              <a:rPr lang="en-US" sz="2200" b="1" dirty="0"/>
              <a:t>58</a:t>
            </a:r>
            <a:r>
              <a:rPr lang="en-US" sz="2200" dirty="0"/>
              <a:t>, 2059–2062.</a:t>
            </a:r>
          </a:p>
          <a:p>
            <a:endParaRPr lang="en-US" sz="2200" dirty="0"/>
          </a:p>
          <a:p>
            <a:pPr marL="285750" indent="-285750">
              <a:buFont typeface="Wingdings" panose="05000000000000000000" pitchFamily="2" charset="2"/>
              <a:buChar char="Ø"/>
            </a:pPr>
            <a:r>
              <a:rPr lang="en-US" sz="2200" dirty="0"/>
              <a:t>S. John, Strong localization of photons in certain disordered dielectric superlattices. </a:t>
            </a:r>
            <a:r>
              <a:rPr lang="en-US" sz="2200" i="1" dirty="0"/>
              <a:t>Phys. Rev. Lett.</a:t>
            </a:r>
            <a:r>
              <a:rPr lang="en-US" sz="2200" dirty="0"/>
              <a:t> </a:t>
            </a:r>
            <a:r>
              <a:rPr lang="en-US" sz="2200" b="1" dirty="0"/>
              <a:t>58</a:t>
            </a:r>
            <a:r>
              <a:rPr lang="en-US" sz="2200" dirty="0"/>
              <a:t>, 2486–2489.</a:t>
            </a:r>
          </a:p>
          <a:p>
            <a:pPr marL="285750" indent="-285750">
              <a:buFont typeface="Wingdings" panose="05000000000000000000" pitchFamily="2" charset="2"/>
              <a:buChar char="Ø"/>
            </a:pPr>
            <a:endParaRPr lang="en-US" sz="2200" dirty="0"/>
          </a:p>
          <a:p>
            <a:pPr marL="285750" indent="-285750">
              <a:buFont typeface="Wingdings" panose="05000000000000000000" pitchFamily="2" charset="2"/>
              <a:buChar char="Ø"/>
            </a:pPr>
            <a:r>
              <a:rPr lang="en-US" sz="2200" dirty="0"/>
              <a:t>M. Sigalas, E. N. Economou, Band structure of elastic waves in two dimensional systems. </a:t>
            </a:r>
            <a:r>
              <a:rPr lang="en-US" sz="2200" i="1" dirty="0"/>
              <a:t>Solid State </a:t>
            </a:r>
            <a:r>
              <a:rPr lang="en-US" sz="2200" i="1" dirty="0" err="1"/>
              <a:t>Commun</a:t>
            </a:r>
            <a:r>
              <a:rPr lang="en-US" sz="2200" i="1" dirty="0"/>
              <a:t>.</a:t>
            </a:r>
            <a:r>
              <a:rPr lang="en-US" sz="2200" dirty="0"/>
              <a:t> </a:t>
            </a:r>
            <a:r>
              <a:rPr lang="en-US" sz="2200" b="1" dirty="0"/>
              <a:t>86</a:t>
            </a:r>
            <a:r>
              <a:rPr lang="en-US" sz="2200" dirty="0"/>
              <a:t>, 141–143.</a:t>
            </a:r>
          </a:p>
          <a:p>
            <a:pPr marL="285750" indent="-285750">
              <a:buFont typeface="Wingdings" panose="05000000000000000000" pitchFamily="2" charset="2"/>
              <a:buChar char="Ø"/>
            </a:pPr>
            <a:endParaRPr lang="en-US" sz="2200" dirty="0"/>
          </a:p>
          <a:p>
            <a:pPr marL="285750" indent="-285750">
              <a:buFont typeface="Wingdings" panose="05000000000000000000" pitchFamily="2" charset="2"/>
              <a:buChar char="Ø"/>
            </a:pPr>
            <a:endParaRPr lang="en-US" sz="2200" dirty="0"/>
          </a:p>
          <a:p>
            <a:r>
              <a:rPr lang="en-IN" sz="2200" dirty="0"/>
              <a:t>  </a:t>
            </a:r>
          </a:p>
        </p:txBody>
      </p:sp>
    </p:spTree>
    <p:extLst>
      <p:ext uri="{BB962C8B-B14F-4D97-AF65-F5344CB8AC3E}">
        <p14:creationId xmlns:p14="http://schemas.microsoft.com/office/powerpoint/2010/main" val="2880615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2246B4-5EFC-F7E3-2075-0C76189CB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8572" y="912362"/>
            <a:ext cx="7427243" cy="5234437"/>
          </a:xfrm>
          <a:prstGeom prst="rect">
            <a:avLst/>
          </a:prstGeom>
        </p:spPr>
      </p:pic>
    </p:spTree>
    <p:extLst>
      <p:ext uri="{BB962C8B-B14F-4D97-AF65-F5344CB8AC3E}">
        <p14:creationId xmlns:p14="http://schemas.microsoft.com/office/powerpoint/2010/main" val="1207402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508</Words>
  <Application>Microsoft Office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Times New Roman</vt:lpstr>
      <vt:lpstr>Times-Roman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Sukesh Periyasamy</dc:creator>
  <cp:lastModifiedBy>Sukesh Periyasamy</cp:lastModifiedBy>
  <cp:revision>6</cp:revision>
  <dcterms:created xsi:type="dcterms:W3CDTF">2024-01-27T03:48:43Z</dcterms:created>
  <dcterms:modified xsi:type="dcterms:W3CDTF">2024-05-02T09:06:13Z</dcterms:modified>
</cp:coreProperties>
</file>
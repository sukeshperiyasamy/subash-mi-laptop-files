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9" r:id="rId10"/>
    <p:sldId id="265" r:id="rId11"/>
    <p:sldId id="267" r:id="rId12"/>
    <p:sldId id="270" r:id="rId13"/>
    <p:sldId id="271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202D-F062-3B0E-9515-3CB894E60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74892-FB91-9953-16D4-AA80F1E69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77EAD-3FAE-199D-1CCF-12623F5A6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D7A50-CED0-3C14-CF34-277A6EE9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4BE85-6FFF-2E6A-47E6-196BE6DB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8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CA78-C408-EBF5-B629-37F92776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CFAF1-2504-A559-04FE-BF51DA521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AE2B-24D5-BA81-BF46-DD5E73403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3EFB4-596F-FB0D-B4B6-8252D4950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76F42-3A20-B57D-B127-FB1FBDF57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833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F9F28-9504-5FFB-FED9-CE18EEF3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47BC1-004C-5D98-093C-97A6E2EA9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A71BB-BDFA-2D49-2940-2A3CD132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D16D8-2DA1-7115-E931-96E5017B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6153F-5AF6-AA3B-ED2F-390D55B9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1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9110-9A0D-7A41-72C7-E0FF1D53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315A8-2CCC-F876-3E99-0DD0F650C0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D08FC-6301-45A6-9D72-592C67306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CFB9A-ABFB-6C5C-8D7C-FD92E57C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B13C4F-45AC-1CB5-2380-6B67CAC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DC443-2D08-5A97-343F-8CBDC4484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696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16B7C-80BC-134A-6D5B-3A42AC0E9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68B2D-CBD2-6F27-E754-51A563B1D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6EF7E-3495-ED9F-BA6D-72BDEB331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4BB59-6C4F-E68A-4B0D-890F55152D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00105-6884-3026-0452-335DEDD10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060FF7-61F2-6166-837C-0CF01398A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26DACA-3B3F-1EE7-AD1B-C4D8A6E1A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B8BDB-FDBD-0E7B-70C1-953373004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11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9600-8BD9-3AB0-7485-0873B507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81044E-23A5-5E21-8BB5-0A21D6A5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0E411-6572-320B-A605-F64C6BB0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5AAAC-DA66-2301-0ADE-E7536EF5F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01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C9020-1710-9107-51E8-6872A1AF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31E6F-3B2E-53D8-D246-3292B73A2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208C-5FC5-2330-E807-CD973548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57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8C98F-1D20-0F51-8F7E-65A71BB7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08098-06B5-2FD2-9B38-801A520EA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823F3-4D19-EE0D-4F4F-22B51792E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A0B06-F335-28C3-7571-F0A9B2ED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C3D52-ECC6-9DA3-F1A3-69626F8CE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61B9A-A165-63B6-EF75-7906EF49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688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2D85C-9BE1-4730-1AF8-3C9125E9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A56101-E39C-57E4-F22F-483B464523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383D4-0422-C6B0-663E-28EC77DB9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E11E8-A429-D504-48B9-5AA887D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A8620-DDA5-E08A-1FC8-8AE8018CD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82CAA-D14C-5D65-F377-DBFCF8BB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67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6C94-E6D2-BAD6-9EDB-B370261E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C0B1C-65CB-1E46-0006-89F55A38F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272BC-E5B4-113B-18E5-FDD551E0B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ABBAA-D1F6-C4C3-AE93-B24B9BFA5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901F8-CC42-F9E4-A94D-A85E4C6F6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99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E9233B-42DC-DBD1-6DB8-B409AD05E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E49DD9-4425-3853-0B5E-8D1362FD0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2A129-2382-9FC3-5AFA-301D5BC7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D2C9-A044-B690-7636-8210C981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B8403-34CF-75B6-C27A-07D21DE5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389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B0A567-D6E5-970C-D221-A8F59CC8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F8C41-748F-86C4-F215-6870BF052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8DAA-1A23-05BF-D671-B87CC4C20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74944-0B41-4875-85C1-9F1672C73A0C}" type="datetimeFigureOut">
              <a:rPr lang="en-IN" smtClean="0"/>
              <a:t>23-04-2024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8D9AD-5741-17A0-C95D-8EDEB705F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76FAE-BEE5-24E0-1AB2-7217FD021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C7441-7193-41FA-8FE6-4BDB8142C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752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204B06-7372-AE4C-DCDE-BFFC48923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54" y="504258"/>
            <a:ext cx="3676650" cy="1238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F51A25-A094-3D80-60A7-9131B483D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3526" y="322067"/>
            <a:ext cx="1987453" cy="16927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7789B8-D1C4-475A-95DA-39ACD26A428F}"/>
              </a:ext>
            </a:extLst>
          </p:cNvPr>
          <p:cNvSpPr txBox="1"/>
          <p:nvPr/>
        </p:nvSpPr>
        <p:spPr>
          <a:xfrm>
            <a:off x="2679877" y="2601061"/>
            <a:ext cx="6832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A8CB59-984E-009C-425C-554EE659F8F5}"/>
              </a:ext>
            </a:extLst>
          </p:cNvPr>
          <p:cNvSpPr txBox="1"/>
          <p:nvPr/>
        </p:nvSpPr>
        <p:spPr>
          <a:xfrm>
            <a:off x="2628363" y="3677013"/>
            <a:ext cx="69352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Engineering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E52E85-D74F-8DEE-289E-F440E4234A46}"/>
              </a:ext>
            </a:extLst>
          </p:cNvPr>
          <p:cNvSpPr txBox="1"/>
          <p:nvPr/>
        </p:nvSpPr>
        <p:spPr>
          <a:xfrm>
            <a:off x="3664040" y="4811835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(18ECC305J)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649C23-1DD2-A98C-4B6E-FCE3BC996C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010" y="504258"/>
            <a:ext cx="1171978" cy="117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6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95F2AD-AD16-76E5-7C85-9147F38EEFFD}"/>
              </a:ext>
            </a:extLst>
          </p:cNvPr>
          <p:cNvSpPr txBox="1"/>
          <p:nvPr/>
        </p:nvSpPr>
        <p:spPr>
          <a:xfrm>
            <a:off x="953035" y="1996225"/>
            <a:ext cx="992961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Communication </a:t>
            </a:r>
          </a:p>
          <a:p>
            <a:pPr algn="ctr"/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</a:p>
        </p:txBody>
      </p:sp>
    </p:spTree>
    <p:extLst>
      <p:ext uri="{BB962C8B-B14F-4D97-AF65-F5344CB8AC3E}">
        <p14:creationId xmlns:p14="http://schemas.microsoft.com/office/powerpoint/2010/main" val="3518546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D4C23D-0F7D-084E-6282-B6ECAC3F5DD9}"/>
              </a:ext>
            </a:extLst>
          </p:cNvPr>
          <p:cNvSpPr txBox="1"/>
          <p:nvPr/>
        </p:nvSpPr>
        <p:spPr>
          <a:xfrm>
            <a:off x="798489" y="824248"/>
            <a:ext cx="29814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Synopsis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CC754-1DD9-9F92-9A22-A313478EB56E}"/>
              </a:ext>
            </a:extLst>
          </p:cNvPr>
          <p:cNvSpPr txBox="1"/>
          <p:nvPr/>
        </p:nvSpPr>
        <p:spPr>
          <a:xfrm>
            <a:off x="2799008" y="1403797"/>
            <a:ext cx="65939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Communication Systems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Terrestial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 diagram of a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Terrestial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systems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 band frequency limits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Refraction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41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C34312-C5EB-A615-38D6-6BF012B384CC}"/>
              </a:ext>
            </a:extLst>
          </p:cNvPr>
          <p:cNvSpPr txBox="1"/>
          <p:nvPr/>
        </p:nvSpPr>
        <p:spPr>
          <a:xfrm>
            <a:off x="291386" y="671728"/>
            <a:ext cx="71654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Microwave Communication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41158-2C2B-DF20-0A2C-CCF2CE9361BE}"/>
              </a:ext>
            </a:extLst>
          </p:cNvPr>
          <p:cNvSpPr txBox="1"/>
          <p:nvPr/>
        </p:nvSpPr>
        <p:spPr>
          <a:xfrm>
            <a:off x="1822361" y="1532586"/>
            <a:ext cx="77981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Microwaves are used in wireless communication to accommodate an increased number of channels with a high signal-to-noise power ratio.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GB" sz="2800" b="0" i="0" dirty="0">
              <a:solidFill>
                <a:srgbClr val="111B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GB" sz="28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the bandwidth can be a small fraction of the microwave carrier frequency fc, by using a higher carrier frequency, the overall system bandwidth can be increased, and more distinct channels can be transmitted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20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65BF96-6DDF-477B-B92A-0FF92AFDA47C}"/>
              </a:ext>
            </a:extLst>
          </p:cNvPr>
          <p:cNvSpPr txBox="1"/>
          <p:nvPr/>
        </p:nvSpPr>
        <p:spPr>
          <a:xfrm>
            <a:off x="682579" y="573110"/>
            <a:ext cx="52545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Terrestrial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D70A66-06B5-FB4B-4555-A50E386E1EBE}"/>
              </a:ext>
            </a:extLst>
          </p:cNvPr>
          <p:cNvSpPr txBox="1"/>
          <p:nvPr/>
        </p:nvSpPr>
        <p:spPr>
          <a:xfrm>
            <a:off x="1571223" y="1603420"/>
            <a:ext cx="906672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ground-based LOS distance is limited due to the attenuation of microwaves caused by the geographical profile, trees, buildings, etc., long-distance microwave communication is achieved through a </a:t>
            </a:r>
            <a:r>
              <a:rPr lang="en-GB" sz="2400" b="0" i="0" dirty="0" err="1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multisection</a:t>
            </a:r>
            <a:r>
              <a:rPr lang="en-GB" sz="24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radio relay system.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2400" b="0" i="0" dirty="0">
              <a:solidFill>
                <a:srgbClr val="111B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consists of two terminal stations and a number of repeater stations spaced at intervals of about 32-80 km, each of which amplifies the microwave signals to make up for transmission losses in space and retransmits again for the next stage.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2400" b="0" i="0" dirty="0">
              <a:solidFill>
                <a:srgbClr val="111B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basic block diagram of the terrestrial microwave communication system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06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CA20F7-E19C-B490-1013-C8439FC7521A}"/>
              </a:ext>
            </a:extLst>
          </p:cNvPr>
          <p:cNvSpPr txBox="1"/>
          <p:nvPr/>
        </p:nvSpPr>
        <p:spPr>
          <a:xfrm>
            <a:off x="2383664" y="4617076"/>
            <a:ext cx="7424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Block Diagram of a Terrestrial microwave communication systems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A8A3E1-207C-3542-A04C-F7F8CD08619B}"/>
              </a:ext>
            </a:extLst>
          </p:cNvPr>
          <p:cNvSpPr/>
          <p:nvPr/>
        </p:nvSpPr>
        <p:spPr>
          <a:xfrm>
            <a:off x="1203100" y="1982159"/>
            <a:ext cx="2106770" cy="1539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Multiplexed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base-band signal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FB46CF-C80C-F36C-C0BC-A095CE716A32}"/>
              </a:ext>
            </a:extLst>
          </p:cNvPr>
          <p:cNvSpPr/>
          <p:nvPr/>
        </p:nvSpPr>
        <p:spPr>
          <a:xfrm>
            <a:off x="5125791" y="2063840"/>
            <a:ext cx="1629178" cy="15036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Repeater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33263C-5E22-DE68-5D49-693203D0EDED}"/>
              </a:ext>
            </a:extLst>
          </p:cNvPr>
          <p:cNvSpPr/>
          <p:nvPr/>
        </p:nvSpPr>
        <p:spPr>
          <a:xfrm>
            <a:off x="8334780" y="2028423"/>
            <a:ext cx="2354686" cy="15390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chemeClr val="tx1"/>
                </a:solidFill>
              </a:rPr>
              <a:t>Multiplexed </a:t>
            </a:r>
          </a:p>
          <a:p>
            <a:pPr algn="ctr"/>
            <a:r>
              <a:rPr lang="en-IN">
                <a:solidFill>
                  <a:schemeClr val="tx1"/>
                </a:solidFill>
              </a:rPr>
              <a:t>base-band signal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9CF870-794B-14CA-6C51-CADD79455AAD}"/>
              </a:ext>
            </a:extLst>
          </p:cNvPr>
          <p:cNvCxnSpPr>
            <a:cxnSpLocks/>
          </p:cNvCxnSpPr>
          <p:nvPr/>
        </p:nvCxnSpPr>
        <p:spPr>
          <a:xfrm>
            <a:off x="573110" y="2459865"/>
            <a:ext cx="6299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83A8689-7A6E-4C68-ADAA-B2BCED8023C3}"/>
              </a:ext>
            </a:extLst>
          </p:cNvPr>
          <p:cNvCxnSpPr>
            <a:cxnSpLocks/>
          </p:cNvCxnSpPr>
          <p:nvPr/>
        </p:nvCxnSpPr>
        <p:spPr>
          <a:xfrm>
            <a:off x="3309870" y="2717442"/>
            <a:ext cx="4121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Left Bracket 15">
            <a:extLst>
              <a:ext uri="{FF2B5EF4-FFF2-40B4-BE49-F238E27FC236}">
                <a16:creationId xmlns:a16="http://schemas.microsoft.com/office/drawing/2014/main" id="{C82A2E08-98C0-51F5-457A-3EEC732BE37E}"/>
              </a:ext>
            </a:extLst>
          </p:cNvPr>
          <p:cNvSpPr/>
          <p:nvPr/>
        </p:nvSpPr>
        <p:spPr>
          <a:xfrm>
            <a:off x="3721994" y="2366493"/>
            <a:ext cx="276896" cy="701897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ight Bracket 17">
            <a:extLst>
              <a:ext uri="{FF2B5EF4-FFF2-40B4-BE49-F238E27FC236}">
                <a16:creationId xmlns:a16="http://schemas.microsoft.com/office/drawing/2014/main" id="{B2A8BEF6-7E64-0F78-CEDD-03F35F37131A}"/>
              </a:ext>
            </a:extLst>
          </p:cNvPr>
          <p:cNvSpPr/>
          <p:nvPr/>
        </p:nvSpPr>
        <p:spPr>
          <a:xfrm>
            <a:off x="7562959" y="2404593"/>
            <a:ext cx="276896" cy="701897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B6B7F99-2A53-BEE0-5941-A000DCA282DF}"/>
              </a:ext>
            </a:extLst>
          </p:cNvPr>
          <p:cNvCxnSpPr>
            <a:cxnSpLocks/>
          </p:cNvCxnSpPr>
          <p:nvPr/>
        </p:nvCxnSpPr>
        <p:spPr>
          <a:xfrm>
            <a:off x="7826829" y="2751671"/>
            <a:ext cx="507411" cy="38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75F3FA9-9747-8221-2D29-46FA8023D57B}"/>
              </a:ext>
            </a:extLst>
          </p:cNvPr>
          <p:cNvCxnSpPr>
            <a:cxnSpLocks/>
          </p:cNvCxnSpPr>
          <p:nvPr/>
        </p:nvCxnSpPr>
        <p:spPr>
          <a:xfrm>
            <a:off x="3721994" y="2547257"/>
            <a:ext cx="799027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51BC5D-7FFA-DA3C-FF57-3C99C8C5B5C6}"/>
              </a:ext>
            </a:extLst>
          </p:cNvPr>
          <p:cNvCxnSpPr>
            <a:cxnSpLocks/>
          </p:cNvCxnSpPr>
          <p:nvPr/>
        </p:nvCxnSpPr>
        <p:spPr>
          <a:xfrm>
            <a:off x="3721994" y="2911929"/>
            <a:ext cx="7990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6BEC3E22-3D27-5D0D-15B6-39F9A7D7D0AC}"/>
              </a:ext>
            </a:extLst>
          </p:cNvPr>
          <p:cNvSpPr/>
          <p:nvPr/>
        </p:nvSpPr>
        <p:spPr>
          <a:xfrm rot="5400000">
            <a:off x="3884175" y="2491803"/>
            <a:ext cx="209384" cy="11090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0570B545-8835-FBE5-7F16-0028AB4164AF}"/>
              </a:ext>
            </a:extLst>
          </p:cNvPr>
          <p:cNvSpPr/>
          <p:nvPr/>
        </p:nvSpPr>
        <p:spPr>
          <a:xfrm rot="16200000">
            <a:off x="4124025" y="2849499"/>
            <a:ext cx="149335" cy="12485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Left Bracket 32">
            <a:extLst>
              <a:ext uri="{FF2B5EF4-FFF2-40B4-BE49-F238E27FC236}">
                <a16:creationId xmlns:a16="http://schemas.microsoft.com/office/drawing/2014/main" id="{CA67416F-E607-9737-F061-C4E87986E4A3}"/>
              </a:ext>
            </a:extLst>
          </p:cNvPr>
          <p:cNvSpPr/>
          <p:nvPr/>
        </p:nvSpPr>
        <p:spPr>
          <a:xfrm>
            <a:off x="7154022" y="2404593"/>
            <a:ext cx="276896" cy="701897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ight Bracket 33">
            <a:extLst>
              <a:ext uri="{FF2B5EF4-FFF2-40B4-BE49-F238E27FC236}">
                <a16:creationId xmlns:a16="http://schemas.microsoft.com/office/drawing/2014/main" id="{42EDCD3E-AD1C-FD45-101B-BCAF021D7971}"/>
              </a:ext>
            </a:extLst>
          </p:cNvPr>
          <p:cNvSpPr/>
          <p:nvPr/>
        </p:nvSpPr>
        <p:spPr>
          <a:xfrm>
            <a:off x="4241677" y="2366493"/>
            <a:ext cx="276896" cy="701897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79DB62-B0CB-09B2-763B-FB0B350C1434}"/>
              </a:ext>
            </a:extLst>
          </p:cNvPr>
          <p:cNvCxnSpPr>
            <a:cxnSpLocks/>
          </p:cNvCxnSpPr>
          <p:nvPr/>
        </p:nvCxnSpPr>
        <p:spPr>
          <a:xfrm>
            <a:off x="7149919" y="2637323"/>
            <a:ext cx="676910" cy="7739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FEF7918-FA61-0B84-0B79-F03160FBE823}"/>
              </a:ext>
            </a:extLst>
          </p:cNvPr>
          <p:cNvCxnSpPr>
            <a:cxnSpLocks/>
          </p:cNvCxnSpPr>
          <p:nvPr/>
        </p:nvCxnSpPr>
        <p:spPr>
          <a:xfrm>
            <a:off x="7149919" y="2953821"/>
            <a:ext cx="68993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77798FDA-5B70-47A3-09B3-3953D301C0DC}"/>
              </a:ext>
            </a:extLst>
          </p:cNvPr>
          <p:cNvSpPr/>
          <p:nvPr/>
        </p:nvSpPr>
        <p:spPr>
          <a:xfrm rot="5400000">
            <a:off x="7277553" y="2581869"/>
            <a:ext cx="209384" cy="11090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7449B8CA-3F70-8553-D619-83C7C49AA953}"/>
              </a:ext>
            </a:extLst>
          </p:cNvPr>
          <p:cNvSpPr/>
          <p:nvPr/>
        </p:nvSpPr>
        <p:spPr>
          <a:xfrm rot="16200000">
            <a:off x="7387438" y="2882937"/>
            <a:ext cx="149335" cy="124859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5C6DE9C-0886-CC4E-F6E3-DF816179CCE4}"/>
              </a:ext>
            </a:extLst>
          </p:cNvPr>
          <p:cNvCxnSpPr>
            <a:cxnSpLocks/>
            <a:stCxn id="34" idx="2"/>
          </p:cNvCxnSpPr>
          <p:nvPr/>
        </p:nvCxnSpPr>
        <p:spPr>
          <a:xfrm flipV="1">
            <a:off x="4518573" y="2716619"/>
            <a:ext cx="604770" cy="82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1F69DFE-2EC3-67AE-82A5-A4E0534914E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6754969" y="2815644"/>
            <a:ext cx="4296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91BD328-23C1-6B51-AC07-BA8AED7B4A86}"/>
              </a:ext>
            </a:extLst>
          </p:cNvPr>
          <p:cNvCxnSpPr>
            <a:cxnSpLocks/>
          </p:cNvCxnSpPr>
          <p:nvPr/>
        </p:nvCxnSpPr>
        <p:spPr>
          <a:xfrm>
            <a:off x="573110" y="3106490"/>
            <a:ext cx="6299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70F40E11-1DEC-C579-9937-4C399D9055F0}"/>
              </a:ext>
            </a:extLst>
          </p:cNvPr>
          <p:cNvCxnSpPr>
            <a:cxnSpLocks/>
          </p:cNvCxnSpPr>
          <p:nvPr/>
        </p:nvCxnSpPr>
        <p:spPr>
          <a:xfrm>
            <a:off x="10689466" y="2366493"/>
            <a:ext cx="9916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2A7C130-63CE-F5DC-4214-9B620EAC982C}"/>
              </a:ext>
            </a:extLst>
          </p:cNvPr>
          <p:cNvCxnSpPr>
            <a:cxnSpLocks/>
          </p:cNvCxnSpPr>
          <p:nvPr/>
        </p:nvCxnSpPr>
        <p:spPr>
          <a:xfrm>
            <a:off x="10689466" y="3106490"/>
            <a:ext cx="9916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F226AF9F-B7DA-D848-9B1E-72F955760477}"/>
              </a:ext>
            </a:extLst>
          </p:cNvPr>
          <p:cNvSpPr/>
          <p:nvPr/>
        </p:nvSpPr>
        <p:spPr>
          <a:xfrm rot="5400000">
            <a:off x="669875" y="2421162"/>
            <a:ext cx="209384" cy="11090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B80BA426-3BF5-A775-341C-4A04303FC501}"/>
              </a:ext>
            </a:extLst>
          </p:cNvPr>
          <p:cNvSpPr/>
          <p:nvPr/>
        </p:nvSpPr>
        <p:spPr>
          <a:xfrm rot="5400000">
            <a:off x="10733589" y="3051036"/>
            <a:ext cx="209384" cy="11090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2D712097-C37A-05A8-CE6C-97A9E34E9CF1}"/>
              </a:ext>
            </a:extLst>
          </p:cNvPr>
          <p:cNvSpPr/>
          <p:nvPr/>
        </p:nvSpPr>
        <p:spPr>
          <a:xfrm rot="16200000">
            <a:off x="876285" y="3040839"/>
            <a:ext cx="209384" cy="11090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Isosceles Triangle 66">
            <a:extLst>
              <a:ext uri="{FF2B5EF4-FFF2-40B4-BE49-F238E27FC236}">
                <a16:creationId xmlns:a16="http://schemas.microsoft.com/office/drawing/2014/main" id="{08B18C08-93E4-C108-30A3-8E07522EFB74}"/>
              </a:ext>
            </a:extLst>
          </p:cNvPr>
          <p:cNvSpPr/>
          <p:nvPr/>
        </p:nvSpPr>
        <p:spPr>
          <a:xfrm rot="15927346">
            <a:off x="11304621" y="2311039"/>
            <a:ext cx="209384" cy="110908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A8C9A3-348C-4574-05C0-173BA2D37179}"/>
              </a:ext>
            </a:extLst>
          </p:cNvPr>
          <p:cNvSpPr txBox="1"/>
          <p:nvPr/>
        </p:nvSpPr>
        <p:spPr>
          <a:xfrm>
            <a:off x="541450" y="367224"/>
            <a:ext cx="40257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1352062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52993C-1DF9-36B1-876D-74C4F890FCC5}"/>
              </a:ext>
            </a:extLst>
          </p:cNvPr>
          <p:cNvSpPr txBox="1"/>
          <p:nvPr/>
        </p:nvSpPr>
        <p:spPr>
          <a:xfrm>
            <a:off x="465250" y="449618"/>
            <a:ext cx="7313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0126B-4F12-EE24-2503-56741403125C}"/>
              </a:ext>
            </a:extLst>
          </p:cNvPr>
          <p:cNvSpPr txBox="1"/>
          <p:nvPr/>
        </p:nvSpPr>
        <p:spPr>
          <a:xfrm>
            <a:off x="1700011" y="1867437"/>
            <a:ext cx="73860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FDM is more commonly used in that a number of telephone channels (300 Hz-3.4 kHz) are transmitted on the same microwave carrier by FM.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2400" b="0" i="0" dirty="0">
              <a:solidFill>
                <a:srgbClr val="111B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4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telephone channels are arranged side by side in a base band at intervals of 4 kHz </a:t>
            </a:r>
            <a:r>
              <a:rPr lang="en-GB" sz="2400" dirty="0">
                <a:solidFill>
                  <a:srgbClr val="111B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4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base-band frequency limits.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2400" dirty="0">
              <a:solidFill>
                <a:srgbClr val="111B2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1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A69ECE-9F99-B299-FF8D-8A62D8C5D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195" y="1248285"/>
            <a:ext cx="4220066" cy="49206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6713BE-1C47-39C9-FF67-4ED936C3FDD1}"/>
              </a:ext>
            </a:extLst>
          </p:cNvPr>
          <p:cNvSpPr txBox="1"/>
          <p:nvPr/>
        </p:nvSpPr>
        <p:spPr>
          <a:xfrm>
            <a:off x="714777" y="444321"/>
            <a:ext cx="6375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FDM multichannel telephone signals</a:t>
            </a:r>
          </a:p>
        </p:txBody>
      </p:sp>
    </p:spTree>
    <p:extLst>
      <p:ext uri="{BB962C8B-B14F-4D97-AF65-F5344CB8AC3E}">
        <p14:creationId xmlns:p14="http://schemas.microsoft.com/office/powerpoint/2010/main" val="512419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D87F68-DBE7-1C4E-C075-CE9CE120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599" y="2006407"/>
            <a:ext cx="8792802" cy="3077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52993C-1DF9-36B1-876D-74C4F890FCC5}"/>
              </a:ext>
            </a:extLst>
          </p:cNvPr>
          <p:cNvSpPr txBox="1"/>
          <p:nvPr/>
        </p:nvSpPr>
        <p:spPr>
          <a:xfrm>
            <a:off x="465250" y="449618"/>
            <a:ext cx="7313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 band frequency limits</a:t>
            </a:r>
          </a:p>
        </p:txBody>
      </p:sp>
    </p:spTree>
    <p:extLst>
      <p:ext uri="{BB962C8B-B14F-4D97-AF65-F5344CB8AC3E}">
        <p14:creationId xmlns:p14="http://schemas.microsoft.com/office/powerpoint/2010/main" val="3287347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3DE669-B816-5390-E584-04CA77BE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45" y="2989813"/>
            <a:ext cx="11610304" cy="112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99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80EB26-45E9-0050-3AE4-6E5AC819C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71" y="2423093"/>
            <a:ext cx="11250595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331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C0985E-DE8F-780D-B0AF-5008915A5926}"/>
              </a:ext>
            </a:extLst>
          </p:cNvPr>
          <p:cNvSpPr txBox="1"/>
          <p:nvPr/>
        </p:nvSpPr>
        <p:spPr>
          <a:xfrm>
            <a:off x="777025" y="341290"/>
            <a:ext cx="5318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Refraction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321EF-91C4-8F09-9A8F-7662C861F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989" y="1120324"/>
            <a:ext cx="6071871" cy="3945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61BF86-C354-80F8-B381-ED23B1E70B5C}"/>
              </a:ext>
            </a:extLst>
          </p:cNvPr>
          <p:cNvSpPr txBox="1"/>
          <p:nvPr/>
        </p:nvSpPr>
        <p:spPr>
          <a:xfrm>
            <a:off x="3288405" y="5570112"/>
            <a:ext cx="56151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atmospheric refraction</a:t>
            </a:r>
          </a:p>
        </p:txBody>
      </p:sp>
    </p:spTree>
    <p:extLst>
      <p:ext uri="{BB962C8B-B14F-4D97-AF65-F5344CB8AC3E}">
        <p14:creationId xmlns:p14="http://schemas.microsoft.com/office/powerpoint/2010/main" val="366252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FCF404-581F-3C82-9AD7-E893CE28439E}"/>
              </a:ext>
            </a:extLst>
          </p:cNvPr>
          <p:cNvSpPr txBox="1"/>
          <p:nvPr/>
        </p:nvSpPr>
        <p:spPr>
          <a:xfrm>
            <a:off x="495837" y="302654"/>
            <a:ext cx="38121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Continuation….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B4EB2-0586-C192-B254-3636D8AAAD2F}"/>
              </a:ext>
            </a:extLst>
          </p:cNvPr>
          <p:cNvSpPr txBox="1"/>
          <p:nvPr/>
        </p:nvSpPr>
        <p:spPr>
          <a:xfrm>
            <a:off x="1564783" y="1642056"/>
            <a:ext cx="886066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0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the dielectric constant of the atmosphere changes, the refractive index of the atmosphere decreases with increase in height above the earth's surface.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2000" b="0" i="0" dirty="0">
              <a:solidFill>
                <a:srgbClr val="111B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0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propagation path of microwaves, h_{t} </a:t>
            </a:r>
            <a:r>
              <a:rPr lang="en-GB" sz="2000" b="0" i="0" dirty="0" err="1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rangle</a:t>
            </a:r>
            <a:r>
              <a:rPr lang="en-GB" sz="20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therefore, bends towards the earth 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GB" sz="2000" b="0" i="0" dirty="0">
              <a:solidFill>
                <a:srgbClr val="111B2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GB" sz="2000" b="0" i="0" dirty="0">
                <a:solidFill>
                  <a:srgbClr val="111B2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Since the change in refractive index is very small, such a curved ray path can be modelled by an equivalent straight-ray path over a spherical earth of radius a' greater than radius a of the original earth producing same result, for the received signal, where a^ prime &gt;&gt; (4/3) * a With this model, the maximum distance R max between a transmitter and a receiver, is a function of antenna heights above ground when the ray path just grazes the equivalent earth's surface. This distance R max is called radio horizon.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239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Printable Thank You Cards | Funny ...">
            <a:extLst>
              <a:ext uri="{FF2B5EF4-FFF2-40B4-BE49-F238E27FC236}">
                <a16:creationId xmlns:a16="http://schemas.microsoft.com/office/drawing/2014/main" id="{10FF44BA-56D4-872A-33E8-642674190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494" y="77877"/>
            <a:ext cx="7455191" cy="745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27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419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Sukesh Periyasamy</dc:creator>
  <cp:lastModifiedBy>Sukesh Periyasamy</cp:lastModifiedBy>
  <cp:revision>4</cp:revision>
  <dcterms:created xsi:type="dcterms:W3CDTF">2024-04-23T05:52:29Z</dcterms:created>
  <dcterms:modified xsi:type="dcterms:W3CDTF">2024-04-23T09:18:41Z</dcterms:modified>
</cp:coreProperties>
</file>
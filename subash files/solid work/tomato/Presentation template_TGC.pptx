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61" r:id="rId5"/>
    <p:sldId id="264" r:id="rId6"/>
    <p:sldId id="265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0A42B-19DA-4FFE-9B21-C548940C198B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21957-6B15-417B-A8C0-AD072B0F674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21957-6B15-417B-A8C0-AD072B0F674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6879E-649E-4CEE-B24E-F90495BACADE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2080" y="276860"/>
            <a:ext cx="3873500" cy="716280"/>
          </a:xfrm>
        </p:spPr>
        <p:txBody>
          <a:bodyPr>
            <a:noAutofit/>
          </a:bodyPr>
          <a:lstStyle/>
          <a:p>
            <a:r>
              <a:rPr lang="en-US" sz="2800" u="sng" dirty="0">
                <a:latin typeface="+mn-lt"/>
              </a:rPr>
              <a:t>Tomato Grand Challenge</a:t>
            </a:r>
          </a:p>
        </p:txBody>
      </p:sp>
      <p:sp>
        <p:nvSpPr>
          <p:cNvPr id="7" name="Oval 6"/>
          <p:cNvSpPr/>
          <p:nvPr/>
        </p:nvSpPr>
        <p:spPr>
          <a:xfrm>
            <a:off x="202565" y="1388110"/>
            <a:ext cx="3400425" cy="24739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For development of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Comprehensive</a:t>
            </a:r>
            <a:r>
              <a:rPr lang="en-US" sz="2000" dirty="0">
                <a:solidFill>
                  <a:schemeClr val="tx1"/>
                </a:solidFill>
              </a:rPr>
              <a:t> and focused intervention in design of tomato value chain</a:t>
            </a:r>
          </a:p>
        </p:txBody>
      </p:sp>
      <p:graphicFrame>
        <p:nvGraphicFramePr>
          <p:cNvPr id="2" name="Table 1"/>
          <p:cNvGraphicFramePr/>
          <p:nvPr/>
        </p:nvGraphicFramePr>
        <p:xfrm>
          <a:off x="3883660" y="1116330"/>
          <a:ext cx="8072120" cy="5078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4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sym typeface="+mn-ea"/>
                        </a:rPr>
                        <a:t>Track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sym typeface="+mn-ea"/>
                        </a:rPr>
                        <a:t>POC to Product Development Stage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ym typeface="+mn-ea"/>
                        </a:rPr>
                        <a:t>Participant Category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sym typeface="+mn-ea"/>
                        </a:rPr>
                        <a:t>Vertical 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29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ym typeface="+mn-ea"/>
                        </a:rPr>
                        <a:t>Vertical Title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>
                          <a:sym typeface="+mn-ea"/>
                        </a:rPr>
                        <a:t>Innovative post-harvest treatments, packaging and technologies for long term storage to minimize post- harvest losses during transportation and storage to avoid panic selling due to perishability.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ym typeface="+mn-ea"/>
                        </a:rPr>
                        <a:t>Team 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Electro Astroids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ym typeface="+mn-ea"/>
                        </a:rPr>
                        <a:t>Team Leader 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sym typeface="+mn-ea"/>
                        </a:rPr>
                        <a:t>Vishwa 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ym typeface="+mn-ea"/>
                        </a:rPr>
                        <a:t>No. of Team Members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ym typeface="+mn-ea"/>
                        </a:rPr>
                        <a:t>No. of Team Mentor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62805" y="405130"/>
            <a:ext cx="6738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ym typeface="+mn-ea"/>
              </a:rPr>
              <a:t>Basic Details of the Team and Problem Statement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891" y="94248"/>
            <a:ext cx="408701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</a:rPr>
              <a:t>Idea / Approach Details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1755" y="857250"/>
            <a:ext cx="11755120" cy="967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>
                <a:sym typeface="+mn-ea"/>
              </a:rPr>
              <a:t>i) Evaporative Cooling System with galvanized steel and aluminum enhances tomato shelf life.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ym typeface="+mn-ea"/>
              </a:rPr>
              <a:t>ii) Eco-friendly papaya cardboard packaging reduces losses, providing biodegradable, and moisture-resistant solutions.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/>
              <a:t>Proteus Simulation: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0" y="4523105"/>
            <a:ext cx="68160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ym typeface="+mn-ea"/>
              </a:rPr>
              <a:t>:</a:t>
            </a:r>
            <a:r>
              <a:rPr lang="en-US" dirty="0">
                <a:sym typeface="+mn-ea"/>
              </a:rPr>
              <a:t> 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ym typeface="+mn-ea"/>
              </a:rPr>
              <a:t>:</a:t>
            </a:r>
            <a:r>
              <a:rPr lang="en-US" dirty="0">
                <a:sym typeface="+mn-ea"/>
              </a:rPr>
              <a:t> </a:t>
            </a:r>
            <a:endParaRPr 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6226175" y="2213610"/>
          <a:ext cx="5792470" cy="2287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CAD/CAE Software</a:t>
                      </a:r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sym typeface="+mn-ea"/>
                        </a:rPr>
                        <a:t>SolidWorks</a:t>
                      </a:r>
                      <a:endParaRPr lang="en-US" b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sym typeface="+mn-ea"/>
                        </a:rPr>
                        <a:t>Programming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C++, Python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sym typeface="+mn-ea"/>
                        </a:rPr>
                        <a:t>Manufacturing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Machining, fabrication, papaya cardboard production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sym typeface="+mn-ea"/>
                        </a:rPr>
                        <a:t>Quality Control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Material and packaging testing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sym typeface="+mn-ea"/>
                        </a:rPr>
                        <a:t>Environmental Test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Life cycle analysis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7809230" y="1824355"/>
            <a:ext cx="1801495" cy="3892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r>
              <a:rPr lang="en-US" b="1" dirty="0">
                <a:sym typeface="+mn-ea"/>
              </a:rPr>
              <a:t>Technology stack</a:t>
            </a:r>
            <a:endParaRPr lang="en-US"/>
          </a:p>
        </p:txBody>
      </p:sp>
      <p:graphicFrame>
        <p:nvGraphicFramePr>
          <p:cNvPr id="8" name="Table 7"/>
          <p:cNvGraphicFramePr/>
          <p:nvPr/>
        </p:nvGraphicFramePr>
        <p:xfrm>
          <a:off x="6226175" y="4500880"/>
          <a:ext cx="5792470" cy="2287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ym typeface="+mn-ea"/>
                        </a:rPr>
                        <a:t>Reduced post-harvest losses, increased profitability, sustainable resource use, and environmental benefits.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63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sym typeface="+mn-ea"/>
                        </a:rPr>
                        <a:t>Novelty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800" b="1" dirty="0">
                          <a:solidFill>
                            <a:schemeClr val="lt1"/>
                          </a:solidFill>
                          <a:sym typeface="+mn-ea"/>
                        </a:rPr>
                        <a:t>Compactable ECS design and innovative papaya-based packaging for transportation.</a:t>
                      </a:r>
                      <a:endParaRPr lang="en-US" b="1" dirty="0">
                        <a:solidFill>
                          <a:schemeClr val="lt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70" y="2418080"/>
            <a:ext cx="5414010" cy="4276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9643" y="239572"/>
            <a:ext cx="522515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</a:rPr>
              <a:t>Idea / Approach Details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553720" y="1276985"/>
          <a:ext cx="4902835" cy="5149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2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Use Cases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ECS for shelf life extension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Papaya packaging for transit freshness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ECS for cost-effective cooling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Papaya packaging for eco-friendliness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ECS and papaya for holistic solutions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Combined system for quality produce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Preservation for international standards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Solution for sustainable agriculture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/>
          <p:nvPr/>
        </p:nvGraphicFramePr>
        <p:xfrm>
          <a:off x="6476365" y="1276985"/>
          <a:ext cx="4411345" cy="5149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Dependencies/ Resources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Market Research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Government Support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Marketing and Sales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Financial Resources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Transportation and logistics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Collabration with Farmers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Tomato Production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Papaya Raw Material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487680"/>
            <a:ext cx="10743565" cy="1076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u="sng" dirty="0">
                <a:ln w="0"/>
              </a:rPr>
              <a:t>Proposal for Stage 1</a:t>
            </a:r>
            <a:r>
              <a:rPr lang="en-US" sz="3200" dirty="0">
                <a:ln w="0"/>
              </a:rPr>
              <a:t>: </a:t>
            </a:r>
            <a:r>
              <a:rPr lang="en-US" sz="3200" b="1" dirty="0">
                <a:ln w="0"/>
              </a:rPr>
              <a:t>Idea to Proof of Concept/ Prototype</a:t>
            </a:r>
            <a:endParaRPr lang="en-US" sz="3200" dirty="0">
              <a:ln w="0"/>
            </a:endParaRPr>
          </a:p>
          <a:p>
            <a:pPr algn="ctr"/>
            <a:r>
              <a:rPr lang="en-US" sz="3200" u="sng" dirty="0">
                <a:ln w="0"/>
              </a:rPr>
              <a:t> </a:t>
            </a:r>
            <a:endParaRPr lang="en-US" sz="3200" b="0" u="sng" cap="none" spc="0" dirty="0">
              <a:ln w="0"/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" y="1669415"/>
            <a:ext cx="6327775" cy="28162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13385" y="4777105"/>
            <a:ext cx="108191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ym typeface="+mn-ea"/>
              </a:rPr>
              <a:t>- Papaya has high tensile strength of 20 - 30 MPa when hydroxypropyl methylcellulose is used as a binding agent.</a:t>
            </a:r>
            <a:endParaRPr lang="en-US">
              <a:solidFill>
                <a:schemeClr val="tx1"/>
              </a:solidFill>
              <a:sym typeface="+mn-ea"/>
            </a:endParaRPr>
          </a:p>
          <a:p>
            <a:pPr algn="just"/>
            <a:endParaRPr lang="en-US">
              <a:solidFill>
                <a:schemeClr val="tx1"/>
              </a:solidFill>
              <a:sym typeface="+mn-ea"/>
            </a:endParaRPr>
          </a:p>
          <a:p>
            <a:pPr algn="just"/>
            <a:r>
              <a:rPr lang="en-US">
                <a:sym typeface="+mn-ea"/>
              </a:rPr>
              <a:t>- Tomato packaging materials with high methoxyl pectin binding agent exhibit 8.9 - 14.8 MPa of tensile strength</a:t>
            </a:r>
            <a:endParaRPr lang="en-US">
              <a:solidFill>
                <a:schemeClr val="tx1"/>
              </a:solidFill>
            </a:endParaRPr>
          </a:p>
          <a:p>
            <a:pPr algn="just"/>
            <a:endParaRPr lang="en-US">
              <a:solidFill>
                <a:schemeClr val="tx1"/>
              </a:solidFill>
            </a:endParaRPr>
          </a:p>
          <a:p>
            <a:pPr algn="just"/>
            <a:r>
              <a:rPr lang="en-US">
                <a:sym typeface="+mn-ea"/>
              </a:rPr>
              <a:t>- Cancer cells are significantly reduced when pectin collected at different stages of papaya ripening are applied</a:t>
            </a:r>
            <a:endParaRPr lang="en-US">
              <a:solidFill>
                <a:schemeClr val="tx1"/>
              </a:solidFill>
            </a:endParaRP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E2B3F7-723A-C68F-F71D-70D9B9EC9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381" y="1017346"/>
            <a:ext cx="3686134" cy="370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0020" y="177800"/>
            <a:ext cx="11624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ym typeface="+mn-ea"/>
              </a:rPr>
              <a:t>Data collection methods, and data analysis techniques, Research methodology, including research design</a:t>
            </a:r>
            <a:endParaRPr lang="en-US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546100"/>
            <a:ext cx="9753600" cy="6164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AF4CE8-E475-A993-7825-488DA4A6CB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96" y="799343"/>
            <a:ext cx="4232885" cy="4762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65780" y="104140"/>
            <a:ext cx="6257290" cy="3683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/>
              <a:t>Objectives and Outputs</a:t>
            </a:r>
            <a:r>
              <a:rPr lang="en-US" dirty="0"/>
              <a:t> 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093210" y="24803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ym typeface="+mn-ea"/>
              </a:rPr>
              <a:t>Development cost</a:t>
            </a:r>
            <a:endParaRPr lang="en-US" b="1"/>
          </a:p>
        </p:txBody>
      </p:sp>
      <p:graphicFrame>
        <p:nvGraphicFramePr>
          <p:cNvPr id="4" name="Table 3"/>
          <p:cNvGraphicFramePr/>
          <p:nvPr/>
        </p:nvGraphicFramePr>
        <p:xfrm>
          <a:off x="240665" y="544195"/>
          <a:ext cx="11769725" cy="1812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3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3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1st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2nd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3rd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4th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Objective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Prototype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Material Sourcing and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Papaya-Based Packaging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Regulatory Compliance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Outputs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Functional ECS 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Material Compatibility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Papaya-Based Packaging Prototypes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Regulatory Approval Submission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1927860" y="2848610"/>
          <a:ext cx="853313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Material Costs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₹30,000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Labor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Research and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Regulatory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Prototype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Testing and Quality Assurance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Market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Marketing and Promotion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₹1,65,000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1252835" cy="533400"/>
          </a:xfrm>
        </p:spPr>
        <p:txBody>
          <a:bodyPr>
            <a:normAutofit/>
          </a:bodyPr>
          <a:lstStyle/>
          <a:p>
            <a:r>
              <a:rPr lang="en-US" sz="3200" u="sng" dirty="0">
                <a:latin typeface="+mn-lt"/>
              </a:rPr>
              <a:t>Team Member and Mentor Details</a:t>
            </a:r>
            <a:r>
              <a:rPr lang="en-US" sz="32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(include name, email, contact no, photo) 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-5080" y="922655"/>
          <a:ext cx="12197080" cy="5287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8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3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2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17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en-US" sz="1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en-US" sz="18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sym typeface="+mn-ea"/>
                        </a:rPr>
                        <a:t>Photo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71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dirty="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Vishwa S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Subash P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Pradeep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Nikesh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Sanjai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B.S Murugan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Jeyakumar 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dirty="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Email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vishwa05054@gmail.com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subashsivamani9595@gmail.com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velpradeep.vp1@gmail.com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nikeshs3996@gmail.com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sanjaibalakrishnan15@gmail.com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principal@mkce.ac.in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jeyakumarp.ece@mkce.ac.in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dirty="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Contact no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9345190256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9943249594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9790366017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9360507224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sym typeface="+mn-ea"/>
                        </a:rPr>
                        <a:t>9025422429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9865230477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  <a:p>
                      <a:pPr algn="ctr">
                        <a:buNone/>
                      </a:pPr>
                      <a:r>
                        <a:rPr lang="en-US"/>
                        <a:t>9994723025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9" descr="WhatsApp Image 2024-01-19 at 1.40.02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10" y="922655"/>
            <a:ext cx="1393190" cy="1902460"/>
          </a:xfrm>
          <a:prstGeom prst="rect">
            <a:avLst/>
          </a:prstGeom>
        </p:spPr>
      </p:pic>
      <p:pic>
        <p:nvPicPr>
          <p:cNvPr id="11" name="Picture 10" descr="WhatsApp Image 2024-01-19 at 2.14.57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4020" y="922655"/>
            <a:ext cx="1617345" cy="1901825"/>
          </a:xfrm>
          <a:prstGeom prst="rect">
            <a:avLst/>
          </a:prstGeom>
        </p:spPr>
      </p:pic>
      <p:pic>
        <p:nvPicPr>
          <p:cNvPr id="13" name="Picture 12" descr="Screenshot (67)"/>
          <p:cNvPicPr>
            <a:picLocks noChangeAspect="1"/>
          </p:cNvPicPr>
          <p:nvPr/>
        </p:nvPicPr>
        <p:blipFill>
          <a:blip r:embed="rId4"/>
          <a:srcRect l="30510" t="37963" r="54901" b="28083"/>
          <a:stretch>
            <a:fillRect/>
          </a:stretch>
        </p:blipFill>
        <p:spPr>
          <a:xfrm>
            <a:off x="8989060" y="923290"/>
            <a:ext cx="1584960" cy="1901190"/>
          </a:xfrm>
          <a:prstGeom prst="rect">
            <a:avLst/>
          </a:prstGeom>
        </p:spPr>
      </p:pic>
      <p:pic>
        <p:nvPicPr>
          <p:cNvPr id="3" name="Picture 2" descr="WhatsApp Image 2024-01-19 at 2.23.38 P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975" y="917575"/>
            <a:ext cx="1517015" cy="19069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5730" y="923290"/>
            <a:ext cx="1571625" cy="1901190"/>
          </a:xfrm>
          <a:prstGeom prst="rect">
            <a:avLst/>
          </a:prstGeom>
        </p:spPr>
      </p:pic>
      <p:pic>
        <p:nvPicPr>
          <p:cNvPr id="5" name="Picture 4" descr="WhatsApp Image 2024-01-19 at 4.48.19 P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4095" y="923925"/>
            <a:ext cx="1604010" cy="19011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3580" y="917575"/>
            <a:ext cx="1558925" cy="19011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504</Words>
  <Application>Microsoft Office PowerPoint</Application>
  <PresentationFormat>Widescreen</PresentationFormat>
  <Paragraphs>159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Tomato Grand Challenge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and Mentor Details (include name, email, contact no, photo)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Grande Challenge</dc:title>
  <dc:creator>MHRD Innovation Cell</dc:creator>
  <cp:lastModifiedBy>Sukesh Periyasamy</cp:lastModifiedBy>
  <cp:revision>36</cp:revision>
  <dcterms:created xsi:type="dcterms:W3CDTF">2023-09-12T06:40:00Z</dcterms:created>
  <dcterms:modified xsi:type="dcterms:W3CDTF">2024-01-21T17:37:04Z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938BE15F3F7F476A9C73E8232BCDA4FF_12</vt:lpwstr>
  </property>
  <property fmtid="{D5CDD505-2E9C-101B-9397-08002B2CF9AE}" pid="3" name="KSOProductBuildVer">
    <vt:lpwstr>1033-12.2.0.13412</vt:lpwstr>
  </property>
</Properties>
</file>
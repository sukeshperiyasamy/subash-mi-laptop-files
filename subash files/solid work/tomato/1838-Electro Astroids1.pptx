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61" r:id="rId5"/>
    <p:sldId id="264" r:id="rId6"/>
    <p:sldId id="265" r:id="rId7"/>
    <p:sldId id="266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0A42B-19DA-4FFE-9B21-C548940C198B}" type="datetimeFigureOut">
              <a:rPr lang="en-US" smtClean="0"/>
              <a:t>1/26/2024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21957-6B15-417B-A8C0-AD072B0F674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421957-6B15-417B-A8C0-AD072B0F674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DA463-59D4-4F8D-A015-A3085BFC5136}" type="datetime1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MKCE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6471D-ACAD-4F4F-A699-87B10E3D6FFC}" type="datetime1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MKCE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FAFF0-EFA1-4048-9655-B77FFA2A2BF9}" type="datetime1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MKCE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F19F3-F0B0-4D86-ACF0-7838232FC3F9}" type="datetime1">
              <a:rPr lang="en-US" smtClean="0"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MKCE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B54F-8E68-4D70-88D5-C8D3321CAAA1}" type="datetime1">
              <a:rPr lang="en-US" smtClean="0"/>
              <a:t>1/26/2024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MKCE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A6B25-0F4E-4A5D-B988-D3D622324A12}" type="datetime1">
              <a:rPr lang="en-US" smtClean="0"/>
              <a:t>1/26/2024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MKCE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0C374-2A4F-4966-81DC-FE06E38EA8EE}" type="datetime1">
              <a:rPr lang="en-US" smtClean="0"/>
              <a:t>1/26/2024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MKCE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6F0AC-B219-4612-A636-C1E4D70149A1}" type="datetime1">
              <a:rPr lang="en-US" smtClean="0"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MKCE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005F8-2C96-4336-B8AC-27A5A30B92B5}" type="datetime1">
              <a:rPr lang="en-US" smtClean="0"/>
              <a:t>1/26/2024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MKCE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D3810-812A-44B8-9CC7-E74F47328997}" type="datetime1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MKCE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3B058-E05C-40CF-A642-BD2D09FEA7C0}" type="datetime1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MKCE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62D39-A9EB-4749-93CF-7CBEC5C57E17}" type="datetime1">
              <a:rPr lang="en-US" smtClean="0"/>
              <a:t>1/26/2024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MKCE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8A4B95-F655-478D-840B-AEB9B91C6F4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Free photo fresh red tomatoes">
            <a:extLst>
              <a:ext uri="{FF2B5EF4-FFF2-40B4-BE49-F238E27FC236}">
                <a16:creationId xmlns:a16="http://schemas.microsoft.com/office/drawing/2014/main" id="{E8680AFB-B5A3-0AEC-B8BA-819D580459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41" t="16866" r="7133" b="25071"/>
          <a:stretch/>
        </p:blipFill>
        <p:spPr bwMode="auto">
          <a:xfrm>
            <a:off x="0" y="3755390"/>
            <a:ext cx="3602990" cy="310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05186" y="149225"/>
            <a:ext cx="3873500" cy="716280"/>
          </a:xfrm>
        </p:spPr>
        <p:txBody>
          <a:bodyPr>
            <a:noAutofit/>
          </a:bodyPr>
          <a:lstStyle/>
          <a:p>
            <a:r>
              <a:rPr lang="en-US"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Tomato Grand Challenge</a:t>
            </a:r>
          </a:p>
        </p:txBody>
      </p:sp>
      <p:sp>
        <p:nvSpPr>
          <p:cNvPr id="7" name="Oval 6"/>
          <p:cNvSpPr/>
          <p:nvPr/>
        </p:nvSpPr>
        <p:spPr>
          <a:xfrm>
            <a:off x="202565" y="1388110"/>
            <a:ext cx="3400425" cy="247396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development of</a:t>
            </a:r>
            <a:b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focused intervention in design of tomato value chain</a:t>
            </a:r>
          </a:p>
        </p:txBody>
      </p:sp>
      <p:graphicFrame>
        <p:nvGraphicFramePr>
          <p:cNvPr id="2" name="Table 1"/>
          <p:cNvGraphicFramePr/>
          <p:nvPr/>
        </p:nvGraphicFramePr>
        <p:xfrm>
          <a:off x="3883660" y="1116330"/>
          <a:ext cx="8072120" cy="5078095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59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4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Track 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Vertical 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Participant Category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29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Vertical Title 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Innovative post-harvest treatments, packaging and technologies for long term storage to minimize post- harvest losses during transportation and storage to avoid panic selling due to perishability.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Team Name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Astroids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Team Leader Name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Vishwa 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No. of Team Members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No. of Team Mentor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4662805" y="405130"/>
            <a:ext cx="67386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Basic Details of the Team and Problem Statement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1891" y="94248"/>
            <a:ext cx="408701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0" u="sng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/ Approach Details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1891" y="823689"/>
            <a:ext cx="11755120" cy="967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Evaporative Cooling System with galvanized steel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aluminum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enhances shelf life of tomatoes by 24 days.</a:t>
            </a: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Eco-friendly papaya cardboard packaging reduces losses, providing biodegradable, and moisture-resistant solutions.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Proteus Simulation:</a:t>
            </a:r>
          </a:p>
        </p:txBody>
      </p:sp>
      <p:graphicFrame>
        <p:nvGraphicFramePr>
          <p:cNvPr id="6" name="Table 5"/>
          <p:cNvGraphicFramePr/>
          <p:nvPr>
            <p:extLst>
              <p:ext uri="{D42A27DB-BD31-4B8C-83A1-F6EECF244321}">
                <p14:modId xmlns:p14="http://schemas.microsoft.com/office/powerpoint/2010/main" val="1360052852"/>
              </p:ext>
            </p:extLst>
          </p:nvPr>
        </p:nvGraphicFramePr>
        <p:xfrm>
          <a:off x="6226175" y="2178264"/>
          <a:ext cx="5792470" cy="228727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2125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6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CAD/CAE Software</a:t>
                      </a:r>
                      <a:endParaRPr lang="en-US" sz="16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SolidWorks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Programming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Embedded C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2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Manufacturing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Machining, fabrication, papaya cardboard production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Quality Control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Material and packaging testing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Environmental Test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Life cycle analysis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Box 6"/>
          <p:cNvSpPr txBox="1"/>
          <p:nvPr/>
        </p:nvSpPr>
        <p:spPr>
          <a:xfrm>
            <a:off x="8109884" y="1772940"/>
            <a:ext cx="2025052" cy="38925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Technology stack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6230844" y="4724997"/>
          <a:ext cx="5792470" cy="1989568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935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94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Reduced post-harvest losses, increased profitability, sustainable resource use, and environmental benefits.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784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Novelty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Compactable ECS design and innovative papaya-based packaging for transportation.</a:t>
                      </a:r>
                      <a:endParaRPr 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33" y="2393903"/>
            <a:ext cx="4957819" cy="39163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diagram">
            <a:extLst>
              <a:ext uri="{FF2B5EF4-FFF2-40B4-BE49-F238E27FC236}">
                <a16:creationId xmlns:a16="http://schemas.microsoft.com/office/drawing/2014/main" id="{577DE2A3-485D-2B9F-03FE-E4014A7AE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6535"/>
            <a:ext cx="12192000" cy="5561840"/>
          </a:xfrm>
          <a:prstGeom prst="rect">
            <a:avLst/>
          </a:prstGeom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57CB0ADF-9D71-A647-F54D-3E5935191492}"/>
              </a:ext>
            </a:extLst>
          </p:cNvPr>
          <p:cNvSpPr txBox="1"/>
          <p:nvPr/>
        </p:nvSpPr>
        <p:spPr>
          <a:xfrm>
            <a:off x="-240552" y="669925"/>
            <a:ext cx="5181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____________________________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38200" y="134427"/>
            <a:ext cx="3816095" cy="19380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u="sng" kern="12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Proposal for Stage 1</a:t>
            </a:r>
            <a:r>
              <a:rPr lang="en-US" sz="3100" kern="12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700" dirty="0">
              <a:ln w="0"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Idea to Proof of Concept/ Prototype</a:t>
            </a:r>
            <a:endParaRPr lang="en-US" sz="3100" kern="1200" dirty="0">
              <a:ln w="0"/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38200" y="2066321"/>
            <a:ext cx="4556758" cy="40565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28575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Papaya has high tensile strength of 20 - 30 MPa when hydroxypropyl methylcellulose is used as a binding agent.</a:t>
            </a: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Tomato packaging materials with high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methoxyl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pectin binding agent exhibit 8.9 - 14.8 MPa of tensile strength.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Cancer cells are significantly reduced when pectin collected at different stages of papaya ripening are applied.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624485" y="3091124"/>
            <a:ext cx="3357280" cy="3378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Evaporative Cooling System</a:t>
            </a:r>
            <a:endParaRPr lang="en-US" kern="1200" dirty="0">
              <a:ln w="0"/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1" name="Picture 20" descr="Diagram of a solar panel and fan diagram&#10;&#10;Description automatically generated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040" y="134427"/>
            <a:ext cx="4556759" cy="292191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239" y="3694538"/>
            <a:ext cx="5728173" cy="256116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7651342" y="6345312"/>
            <a:ext cx="3357280" cy="3378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kern="1200" dirty="0">
              <a:ln w="0"/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743197" y="6345312"/>
            <a:ext cx="3357280" cy="3378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kern="1200" dirty="0">
              <a:ln w="0"/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24485" y="6352306"/>
            <a:ext cx="3357280" cy="3378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Papaya-based Tray</a:t>
            </a:r>
            <a:endParaRPr lang="en-US" kern="1200" dirty="0">
              <a:ln w="0"/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60020" y="177800"/>
            <a:ext cx="11624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Research methodology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: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91" y="1048092"/>
            <a:ext cx="5538210" cy="4875291"/>
          </a:xfrm>
          <a:prstGeom prst="rect">
            <a:avLst/>
          </a:prstGeom>
        </p:spPr>
      </p:pic>
      <p:sp>
        <p:nvSpPr>
          <p:cNvPr id="6" name="Text Box 4"/>
          <p:cNvSpPr txBox="1"/>
          <p:nvPr/>
        </p:nvSpPr>
        <p:spPr>
          <a:xfrm>
            <a:off x="6172200" y="1270960"/>
            <a:ext cx="5450840" cy="5211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indent="-28575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Evaporative cooling system involve passing fresh air over water-saturated surfaces.</a:t>
            </a: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data on temperature variations, humidity levels, and the condition of preserved tomatoes at regular intervals.</a:t>
            </a: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onitoring the temperature based on which the water will be evaporated.</a:t>
            </a: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designed evaporative cooling system in a controlled environment for tomato preservation.</a:t>
            </a: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28575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 factors such as energy efficiency, cost-effectiveness, and the overall quality of preserved tomatoes.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511139" y="955488"/>
            <a:ext cx="625729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Outputs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8000" b="0" u="sng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2090670040"/>
              </p:ext>
            </p:extLst>
          </p:nvPr>
        </p:nvGraphicFramePr>
        <p:xfrm>
          <a:off x="309561" y="2051978"/>
          <a:ext cx="11769725" cy="3850534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588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1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25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53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6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1st Month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2nd Month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3rd Month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4th Month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4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of proof of concept</a:t>
                      </a: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Implementation of developed concept</a:t>
                      </a: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Field implementation of the concept</a:t>
                      </a: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Introducing the product in our startup</a:t>
                      </a: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44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US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</a:t>
                      </a: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246119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95D6448C-ADE4-FA85-736F-E7580BAF8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529" y="3931342"/>
            <a:ext cx="2217495" cy="1751680"/>
          </a:xfrm>
          <a:prstGeom prst="rect">
            <a:avLst/>
          </a:prstGeom>
        </p:spPr>
      </p:pic>
      <p:pic>
        <p:nvPicPr>
          <p:cNvPr id="1026" name="Picture 2" descr="Free photo green, yellow and red tomatoes hanged from their plants inside a greenhouse.">
            <a:extLst>
              <a:ext uri="{FF2B5EF4-FFF2-40B4-BE49-F238E27FC236}">
                <a16:creationId xmlns:a16="http://schemas.microsoft.com/office/drawing/2014/main" id="{E59D6C38-D5C6-51DB-D029-3AEDF8DB8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917" y="3931342"/>
            <a:ext cx="2217495" cy="1751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refrigerator with glass doors&#10;&#10;Description automatically generated">
            <a:extLst>
              <a:ext uri="{FF2B5EF4-FFF2-40B4-BE49-F238E27FC236}">
                <a16:creationId xmlns:a16="http://schemas.microsoft.com/office/drawing/2014/main" id="{1878F8C5-41DD-D8C2-0B93-605194B16C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0755" y="3931342"/>
            <a:ext cx="2106091" cy="1751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3BA4FA-921E-C9AA-9783-FBD57134E3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367" y="3931342"/>
            <a:ext cx="2217495" cy="17516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Free photo fresh red tomatoes">
            <a:extLst>
              <a:ext uri="{FF2B5EF4-FFF2-40B4-BE49-F238E27FC236}">
                <a16:creationId xmlns:a16="http://schemas.microsoft.com/office/drawing/2014/main" id="{6556644B-750E-0B7B-5934-A9476892EE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98" t="16866" r="22742" b="14853"/>
          <a:stretch/>
        </p:blipFill>
        <p:spPr bwMode="auto">
          <a:xfrm>
            <a:off x="8086165" y="3209364"/>
            <a:ext cx="4105835" cy="3648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Box 2">
            <a:extLst>
              <a:ext uri="{FF2B5EF4-FFF2-40B4-BE49-F238E27FC236}">
                <a16:creationId xmlns:a16="http://schemas.microsoft.com/office/drawing/2014/main" id="{CB40C9AA-6CE5-CFEC-93F2-53AEEDC79A23}"/>
              </a:ext>
            </a:extLst>
          </p:cNvPr>
          <p:cNvSpPr txBox="1"/>
          <p:nvPr/>
        </p:nvSpPr>
        <p:spPr>
          <a:xfrm>
            <a:off x="-161364" y="86099"/>
            <a:ext cx="406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Development cost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utoShape 2" descr="Free photo fresh red tomatoes">
            <a:extLst>
              <a:ext uri="{FF2B5EF4-FFF2-40B4-BE49-F238E27FC236}">
                <a16:creationId xmlns:a16="http://schemas.microsoft.com/office/drawing/2014/main" id="{928C4457-F4D9-082E-DCB8-05E4203109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6033247" cy="6033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F534A-E433-05F0-7BFE-65ADB29A3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842" y="670874"/>
            <a:ext cx="7115514" cy="610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854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1252835" cy="533400"/>
          </a:xfrm>
        </p:spPr>
        <p:txBody>
          <a:bodyPr>
            <a:normAutofit/>
          </a:bodyPr>
          <a:lstStyle/>
          <a:p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 &amp; Mentor Details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62755" y="922655"/>
          <a:ext cx="12030635" cy="5287645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241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1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02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01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009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9715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177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en-US" sz="1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endParaRPr lang="en-US" sz="1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Photo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71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Name</a:t>
                      </a:r>
                      <a:endParaRPr lang="en-US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Vishwa S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Subash P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Pradeep V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Nikesh 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Sanjai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Murugan B 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Jeyakumar 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55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Email</a:t>
                      </a:r>
                      <a:endParaRPr lang="en-US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vishwa05054@gmail.com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subashsivamani9595@gmail.com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velpradeep.vp1@gmail.com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nikeshs3996@gmail.com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sanjaibalakrishnan15@gmail.com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principal@mkce.ac.in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jeyakumarp.ece@mkce.ac.in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Contact no</a:t>
                      </a:r>
                      <a:endParaRPr lang="en-US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9345190256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9943249594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9790366017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9360507224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9025422429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9865230477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9994723025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 descr="WhatsApp Image 2024-01-19 at 2.23.38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976" y="917575"/>
            <a:ext cx="1513204" cy="1925320"/>
          </a:xfrm>
          <a:prstGeom prst="rect">
            <a:avLst/>
          </a:prstGeom>
        </p:spPr>
      </p:pic>
      <p:pic>
        <p:nvPicPr>
          <p:cNvPr id="5" name="Picture 4" descr="WhatsApp Image 2024-01-19 at 4.48.19 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506" y="906145"/>
            <a:ext cx="1534793" cy="193167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348" y="917575"/>
            <a:ext cx="1578158" cy="1913890"/>
          </a:xfrm>
          <a:prstGeom prst="rect">
            <a:avLst/>
          </a:prstGeom>
        </p:spPr>
      </p:pic>
      <p:pic>
        <p:nvPicPr>
          <p:cNvPr id="7" name="Picture 6" descr="WhatsApp Image 2024-01-19 at 1.40.02 P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607" y="906145"/>
            <a:ext cx="1369110" cy="19253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9884" y="917575"/>
            <a:ext cx="1558925" cy="191389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7300" y="911225"/>
            <a:ext cx="1605914" cy="192659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3213" y="917575"/>
            <a:ext cx="1610177" cy="19138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442</Words>
  <Application>Microsoft Office PowerPoint</Application>
  <PresentationFormat>Widescreen</PresentationFormat>
  <Paragraphs>130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Theme</vt:lpstr>
      <vt:lpstr>Tomato Grand Challenge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Member &amp; Mentor Details 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Grande Challenge</dc:title>
  <dc:creator>MHRD Innovation Cell</dc:creator>
  <cp:lastModifiedBy>Pradeep V</cp:lastModifiedBy>
  <cp:revision>48</cp:revision>
  <dcterms:created xsi:type="dcterms:W3CDTF">2023-09-12T06:40:00Z</dcterms:created>
  <dcterms:modified xsi:type="dcterms:W3CDTF">2024-01-26T16:40:36Z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938BE15F3F7F476A9C73E8232BCDA4FF_12</vt:lpwstr>
  </property>
  <property fmtid="{D5CDD505-2E9C-101B-9397-08002B2CF9AE}" pid="3" name="KSOProductBuildVer">
    <vt:lpwstr>1033-12.2.0.13412</vt:lpwstr>
  </property>
</Properties>
</file>
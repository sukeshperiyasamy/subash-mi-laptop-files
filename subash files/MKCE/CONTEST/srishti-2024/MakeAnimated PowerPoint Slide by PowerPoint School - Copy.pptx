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3"/>
    <p:sldId id="269" r:id="rId4"/>
    <p:sldId id="274" r:id="rId5"/>
    <p:sldId id="275" r:id="rId6"/>
    <p:sldId id="276" r:id="rId7"/>
    <p:sldId id="277" r:id="rId8"/>
    <p:sldId id="270" r:id="rId9"/>
    <p:sldId id="278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630"/>
    <a:srgbClr val="52CBBE"/>
    <a:srgbClr val="FF5969"/>
    <a:srgbClr val="5D7373"/>
    <a:srgbClr val="00A0A8"/>
    <a:srgbClr val="52C9BD"/>
    <a:srgbClr val="F0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-281395" y="0"/>
            <a:ext cx="12482920" cy="6858000"/>
            <a:chOff x="-290920" y="0"/>
            <a:chExt cx="12482920" cy="6858000"/>
          </a:xfrm>
        </p:grpSpPr>
        <p:sp>
          <p:nvSpPr>
            <p:cNvPr id="51" name="Rectangle 50"/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/>
          <p:cNvGrpSpPr/>
          <p:nvPr/>
        </p:nvGrpSpPr>
        <p:grpSpPr>
          <a:xfrm>
            <a:off x="-8798784" y="0"/>
            <a:ext cx="11447505" cy="6858000"/>
            <a:chOff x="213096" y="0"/>
            <a:chExt cx="11447505" cy="6858000"/>
          </a:xfrm>
        </p:grpSpPr>
        <p:sp>
          <p:nvSpPr>
            <p:cNvPr id="56" name="Rectangle 55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 rot="16200000">
              <a:off x="10040772" y="3078526"/>
              <a:ext cx="25933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/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-7250759" y="-27309"/>
            <a:ext cx="8692332" cy="6858000"/>
            <a:chOff x="718505" y="-1"/>
            <a:chExt cx="8692332" cy="6858000"/>
          </a:xfrm>
        </p:grpSpPr>
        <p:sp>
          <p:nvSpPr>
            <p:cNvPr id="72" name="Rectangle 71"/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/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/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5" name="TextBox 84"/>
          <p:cNvSpPr txBox="1"/>
          <p:nvPr/>
        </p:nvSpPr>
        <p:spPr>
          <a:xfrm>
            <a:off x="2943677" y="4371639"/>
            <a:ext cx="76671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C343D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PROLONGED PRESERVATION OF HUMAN LIVER USING NORMOTHERMIC MACHINE PERFUSION PROCESS</a:t>
            </a:r>
            <a:endParaRPr lang="en-US" sz="3000" b="1" dirty="0">
              <a:solidFill>
                <a:srgbClr val="0C343D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015" y="713425"/>
            <a:ext cx="6972300" cy="32480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34" name="Rectangle 33"/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/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/>
          <p:cNvGrpSpPr/>
          <p:nvPr/>
        </p:nvGrpSpPr>
        <p:grpSpPr>
          <a:xfrm>
            <a:off x="337039" y="-81326"/>
            <a:ext cx="11447503" cy="6858000"/>
            <a:chOff x="213096" y="0"/>
            <a:chExt cx="11447503" cy="6858000"/>
          </a:xfrm>
        </p:grpSpPr>
        <p:sp>
          <p:nvSpPr>
            <p:cNvPr id="39" name="Rectangle 38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/>
            <p:cNvSpPr/>
            <p:nvPr/>
          </p:nvSpPr>
          <p:spPr>
            <a:xfrm>
              <a:off x="10460856" y="2472977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 rot="16200000">
              <a:off x="10001211" y="3446013"/>
              <a:ext cx="26724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/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/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86" name="Rectangle 85"/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/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9" name="Picture 8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4" name="Group 103"/>
          <p:cNvGrpSpPr/>
          <p:nvPr/>
        </p:nvGrpSpPr>
        <p:grpSpPr>
          <a:xfrm>
            <a:off x="2982416" y="746125"/>
            <a:ext cx="3113584" cy="2068108"/>
            <a:chOff x="1387588" y="2176850"/>
            <a:chExt cx="1805441" cy="1899850"/>
          </a:xfrm>
        </p:grpSpPr>
        <p:sp>
          <p:nvSpPr>
            <p:cNvPr id="105" name="Rectangle: Top Corners Rounded 104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387588" y="2176850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08" name="Freeform: Shape 107"/>
          <p:cNvSpPr/>
          <p:nvPr/>
        </p:nvSpPr>
        <p:spPr>
          <a:xfrm flipV="1">
            <a:off x="3133728" y="1854986"/>
            <a:ext cx="2780264" cy="470947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6870691" y="644525"/>
            <a:ext cx="3113584" cy="2632979"/>
            <a:chOff x="1387588" y="2182683"/>
            <a:chExt cx="1805441" cy="1894017"/>
          </a:xfrm>
        </p:grpSpPr>
        <p:sp>
          <p:nvSpPr>
            <p:cNvPr id="4" name="Rectangle: Top Corners Rounded 3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8" name="Freeform: Shape 7"/>
          <p:cNvSpPr/>
          <p:nvPr/>
        </p:nvSpPr>
        <p:spPr>
          <a:xfrm flipV="1">
            <a:off x="7058151" y="1962668"/>
            <a:ext cx="2822250" cy="456699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endParaRPr lang="en-US" b="1" dirty="0"/>
          </a:p>
        </p:txBody>
      </p:sp>
      <p:pic>
        <p:nvPicPr>
          <p:cNvPr id="11" name="Google Shape;166;p18"/>
          <p:cNvPicPr preferRelativeResize="0"/>
          <p:nvPr/>
        </p:nvPicPr>
        <p:blipFill rotWithShape="1">
          <a:blip r:embed="rId2"/>
          <a:srcRect l="-1348" t="13516" b="11163"/>
          <a:stretch>
            <a:fillRect/>
          </a:stretch>
        </p:blipFill>
        <p:spPr>
          <a:xfrm>
            <a:off x="3148337" y="2559119"/>
            <a:ext cx="2737499" cy="1934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3767957" y="1282356"/>
            <a:ext cx="15424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73763"/>
                </a:solidFill>
              </a:rPr>
              <a:t>Organ</a:t>
            </a:r>
            <a:r>
              <a:rPr lang="en-GB" sz="4000" b="1" dirty="0">
                <a:solidFill>
                  <a:srgbClr val="073763"/>
                </a:solidFill>
              </a:rPr>
              <a:t> </a:t>
            </a:r>
            <a:r>
              <a:rPr lang="en-GB" sz="2000" b="1" dirty="0">
                <a:solidFill>
                  <a:srgbClr val="073763"/>
                </a:solidFill>
              </a:rPr>
              <a:t>Basin</a:t>
            </a:r>
            <a:endParaRPr lang="en-IN" sz="2000" dirty="0"/>
          </a:p>
        </p:txBody>
      </p:sp>
      <p:pic>
        <p:nvPicPr>
          <p:cNvPr id="14" name="Google Shape;178;p19"/>
          <p:cNvPicPr preferRelativeResize="0"/>
          <p:nvPr/>
        </p:nvPicPr>
        <p:blipFill rotWithShape="1">
          <a:blip r:embed="rId3"/>
          <a:srcRect l="15283" t="19976" r="21901" b="16164"/>
          <a:stretch>
            <a:fillRect/>
          </a:stretch>
        </p:blipFill>
        <p:spPr>
          <a:xfrm>
            <a:off x="7712764" y="3108898"/>
            <a:ext cx="1284727" cy="100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498712" y="1533524"/>
            <a:ext cx="203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20124D"/>
                </a:solidFill>
              </a:rPr>
              <a:t>    Cleanser Unit    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283237" y="4698357"/>
            <a:ext cx="23841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lvl="0" algn="just" rtl="0">
              <a:spcBef>
                <a:spcPts val="1200"/>
              </a:spcBef>
              <a:spcAft>
                <a:spcPts val="0"/>
              </a:spcAft>
              <a:buSzPts val="2100"/>
            </a:pPr>
            <a:r>
              <a:rPr lang="en-US" b="1" dirty="0">
                <a:solidFill>
                  <a:srgbClr val="000000"/>
                </a:solidFill>
              </a:rPr>
              <a:t>H</a:t>
            </a:r>
            <a:r>
              <a:rPr lang="en-US" sz="1800" b="1" dirty="0">
                <a:solidFill>
                  <a:srgbClr val="000000"/>
                </a:solidFill>
              </a:rPr>
              <a:t>old the Organs and protects the organs from Physical Trauma.</a:t>
            </a:r>
            <a:endParaRPr lang="en-US" sz="1800" b="1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7141538" y="4655715"/>
            <a:ext cx="2571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Cleaning and Filtering the organ Basin before and after it is used to preserve the organ.</a:t>
            </a:r>
            <a:endParaRPr lang="en-US" sz="18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543206" y="790172"/>
            <a:ext cx="3113584" cy="2005213"/>
            <a:chOff x="1387588" y="2182683"/>
            <a:chExt cx="1805441" cy="1894017"/>
          </a:xfrm>
        </p:grpSpPr>
        <p:sp>
          <p:nvSpPr>
            <p:cNvPr id="3" name="Rectangle: Top Corners Rounded 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" name="Freeform: Shape 5"/>
          <p:cNvSpPr/>
          <p:nvPr/>
        </p:nvSpPr>
        <p:spPr>
          <a:xfrm flipV="1">
            <a:off x="4694518" y="1967223"/>
            <a:ext cx="2822250" cy="4537949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8458911" y="752475"/>
            <a:ext cx="3113584" cy="2632979"/>
            <a:chOff x="1387588" y="2182683"/>
            <a:chExt cx="1805441" cy="1894017"/>
          </a:xfrm>
        </p:grpSpPr>
        <p:sp>
          <p:nvSpPr>
            <p:cNvPr id="8" name="Rectangle: Top Corners Rounded 7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" name="Freeform: Shape 10"/>
          <p:cNvSpPr/>
          <p:nvPr/>
        </p:nvSpPr>
        <p:spPr>
          <a:xfrm flipV="1">
            <a:off x="8604578" y="1967223"/>
            <a:ext cx="2822250" cy="4481404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520573" y="752476"/>
            <a:ext cx="3113584" cy="1888088"/>
            <a:chOff x="1387588" y="2182683"/>
            <a:chExt cx="1805441" cy="1894017"/>
          </a:xfrm>
        </p:grpSpPr>
        <p:sp>
          <p:nvSpPr>
            <p:cNvPr id="13" name="Rectangle: Top Corners Rounded 1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6" name="Freeform: Shape 15"/>
          <p:cNvSpPr/>
          <p:nvPr/>
        </p:nvSpPr>
        <p:spPr>
          <a:xfrm flipV="1">
            <a:off x="666239" y="1860774"/>
            <a:ext cx="2822250" cy="4644397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endParaRPr lang="en-US" b="1" dirty="0"/>
          </a:p>
        </p:txBody>
      </p:sp>
      <p:pic>
        <p:nvPicPr>
          <p:cNvPr id="17" name="Google Shape;188;p20"/>
          <p:cNvPicPr preferRelativeResize="0"/>
          <p:nvPr/>
        </p:nvPicPr>
        <p:blipFill rotWithShape="1">
          <a:blip r:embed="rId1"/>
          <a:srcRect l="21155" t="17848" r="33851" b="24909"/>
          <a:stretch>
            <a:fillRect/>
          </a:stretch>
        </p:blipFill>
        <p:spPr>
          <a:xfrm>
            <a:off x="1306115" y="2519590"/>
            <a:ext cx="1571416" cy="223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98;p21" descr="IMG_256"/>
          <p:cNvPicPr preferRelativeResize="0"/>
          <p:nvPr/>
        </p:nvPicPr>
        <p:blipFill rotWithShape="1">
          <a:blip r:embed="rId2"/>
          <a:srcRect l="19858" t="22515" r="28098" b="14571"/>
          <a:stretch>
            <a:fillRect/>
          </a:stretch>
        </p:blipFill>
        <p:spPr>
          <a:xfrm>
            <a:off x="4953040" y="2711050"/>
            <a:ext cx="2334246" cy="1847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765172" y="4851918"/>
            <a:ext cx="2612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Air Filters remove the Carbon-di-oxide and other waste gases from the perfusion System</a:t>
            </a:r>
            <a:endParaRPr lang="en-US" sz="1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405049" y="1398806"/>
            <a:ext cx="1338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20124D"/>
                </a:solidFill>
              </a:rPr>
              <a:t>AIR FILTERS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4842588" y="5037454"/>
            <a:ext cx="25099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Responsible for Managing and Supplying Power to Machine Perfusion Process.</a:t>
            </a:r>
            <a:endParaRPr lang="en-US" sz="18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561045" y="1525370"/>
            <a:ext cx="1726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0124D"/>
                </a:solidFill>
              </a:rPr>
              <a:t>PMS UNIT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9535650" y="1491442"/>
            <a:ext cx="1152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0124D"/>
                </a:solidFill>
              </a:rPr>
              <a:t>Heaters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8952311" y="4394717"/>
            <a:ext cx="23190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</a:rPr>
              <a:t>K</a:t>
            </a:r>
            <a:r>
              <a:rPr lang="en-GB" sz="1800" b="1" dirty="0">
                <a:solidFill>
                  <a:srgbClr val="000000"/>
                </a:solidFill>
              </a:rPr>
              <a:t>eep the organs at a specific Temperature during Transportation from the donar to the Recipient</a:t>
            </a:r>
            <a:endParaRPr lang="en-IN" dirty="0"/>
          </a:p>
        </p:txBody>
      </p:sp>
      <p:pic>
        <p:nvPicPr>
          <p:cNvPr id="20" name="Google Shape;178;p19"/>
          <p:cNvPicPr preferRelativeResize="0"/>
          <p:nvPr/>
        </p:nvPicPr>
        <p:blipFill rotWithShape="1">
          <a:blip r:embed="rId3"/>
          <a:srcRect l="15283" t="19976" r="21901" b="16164"/>
          <a:stretch>
            <a:fillRect/>
          </a:stretch>
        </p:blipFill>
        <p:spPr>
          <a:xfrm>
            <a:off x="9153629" y="2597509"/>
            <a:ext cx="1724146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447322" y="659544"/>
            <a:ext cx="3113584" cy="2632979"/>
            <a:chOff x="1387588" y="2182683"/>
            <a:chExt cx="1805441" cy="1894017"/>
          </a:xfrm>
        </p:grpSpPr>
        <p:sp>
          <p:nvSpPr>
            <p:cNvPr id="3" name="Rectangle: Top Corners Rounded 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" name="Freeform: Shape 5"/>
          <p:cNvSpPr/>
          <p:nvPr/>
        </p:nvSpPr>
        <p:spPr>
          <a:xfrm flipV="1">
            <a:off x="4598634" y="1716833"/>
            <a:ext cx="2822250" cy="465771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2900" algn="just">
              <a:buSzPts val="1800"/>
              <a:buChar char="❖"/>
            </a:pP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8542886" y="659544"/>
            <a:ext cx="3113584" cy="2632979"/>
            <a:chOff x="1387588" y="2182683"/>
            <a:chExt cx="1805441" cy="1894017"/>
          </a:xfrm>
        </p:grpSpPr>
        <p:sp>
          <p:nvSpPr>
            <p:cNvPr id="8" name="Rectangle: Top Corners Rounded 7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" name="Freeform: Shape 10"/>
          <p:cNvSpPr/>
          <p:nvPr/>
        </p:nvSpPr>
        <p:spPr>
          <a:xfrm flipV="1">
            <a:off x="8694198" y="1716833"/>
            <a:ext cx="2822250" cy="465771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744900" y="697241"/>
            <a:ext cx="3113584" cy="2632979"/>
            <a:chOff x="1387588" y="2182683"/>
            <a:chExt cx="1805441" cy="1894017"/>
          </a:xfrm>
        </p:grpSpPr>
        <p:sp>
          <p:nvSpPr>
            <p:cNvPr id="13" name="Rectangle: Top Corners Rounded 1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6" name="Freeform: Shape 15"/>
          <p:cNvSpPr/>
          <p:nvPr/>
        </p:nvSpPr>
        <p:spPr>
          <a:xfrm flipV="1">
            <a:off x="896212" y="1835758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endParaRPr lang="en-US" b="1" dirty="0"/>
          </a:p>
        </p:txBody>
      </p:sp>
      <p:pic>
        <p:nvPicPr>
          <p:cNvPr id="18" name="Google Shape;228;p24"/>
          <p:cNvPicPr preferRelativeResize="0"/>
          <p:nvPr/>
        </p:nvPicPr>
        <p:blipFill rotWithShape="1">
          <a:blip r:embed="rId1"/>
          <a:srcRect l="21797" t="14945" b="11732"/>
          <a:stretch>
            <a:fillRect/>
          </a:stretch>
        </p:blipFill>
        <p:spPr>
          <a:xfrm>
            <a:off x="5225592" y="2437622"/>
            <a:ext cx="1399143" cy="144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6;p25"/>
          <p:cNvPicPr preferRelativeResize="0"/>
          <p:nvPr/>
        </p:nvPicPr>
        <p:blipFill rotWithShape="1">
          <a:blip r:embed="rId2"/>
          <a:srcRect l="29501" t="14163" r="-771" b="2816"/>
          <a:stretch>
            <a:fillRect/>
          </a:stretch>
        </p:blipFill>
        <p:spPr>
          <a:xfrm>
            <a:off x="9243554" y="2513417"/>
            <a:ext cx="1542499" cy="133557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1017037" y="4296747"/>
            <a:ext cx="26570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b="1" dirty="0"/>
              <a:t>S</a:t>
            </a:r>
            <a:r>
              <a:rPr lang="en-US" sz="1800" b="1" dirty="0"/>
              <a:t>tore and Protect the Liver during Transportation from the </a:t>
            </a:r>
            <a:r>
              <a:rPr lang="en-US" sz="1800" b="1" dirty="0" err="1"/>
              <a:t>donal</a:t>
            </a:r>
            <a:r>
              <a:rPr lang="en-US" sz="1800" b="1" dirty="0"/>
              <a:t> to the recipient.</a:t>
            </a:r>
            <a:endParaRPr lang="en-US" sz="1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706412" y="1347501"/>
            <a:ext cx="166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0124D"/>
                </a:solidFill>
              </a:rPr>
              <a:t>Reservoir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4980488" y="1291255"/>
            <a:ext cx="1976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20124D"/>
                </a:solidFill>
              </a:rPr>
              <a:t>ROTAFLOW PUMP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4598635" y="3942783"/>
            <a:ext cx="26792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1" dirty="0"/>
              <a:t>Medical Device designed for Extracorporeal Life Support Systems(ECLS) such as Extracorporeal Membrane Oxygenation(ECMO)</a:t>
            </a:r>
            <a:endParaRPr lang="en-US" sz="18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46332" y="1253712"/>
            <a:ext cx="237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4C1130"/>
                </a:solidFill>
              </a:rPr>
              <a:t>IV INFUSION </a:t>
            </a:r>
            <a:r>
              <a:rPr lang="en-GB" b="1" dirty="0">
                <a:solidFill>
                  <a:srgbClr val="4C1130"/>
                </a:solidFill>
              </a:rPr>
              <a:t>  </a:t>
            </a:r>
            <a:r>
              <a:rPr lang="en-GB" sz="1800" b="1" dirty="0">
                <a:solidFill>
                  <a:srgbClr val="4C1130"/>
                </a:solidFill>
              </a:rPr>
              <a:t>PUMP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8801607" y="3942783"/>
            <a:ext cx="2670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D</a:t>
            </a:r>
            <a:r>
              <a:rPr lang="en-GB" sz="1800" b="1" dirty="0"/>
              <a:t>eliver a Therapeutic solutions to the Preserved organs ensuring it receives essential Nutrients and Medications to maintain its Function during the Perfusion Process.</a:t>
            </a:r>
            <a:endParaRPr lang="en-IN" dirty="0"/>
          </a:p>
        </p:txBody>
      </p:sp>
      <p:pic>
        <p:nvPicPr>
          <p:cNvPr id="20" name="Google Shape;207;p22"/>
          <p:cNvPicPr preferRelativeResize="0"/>
          <p:nvPr/>
        </p:nvPicPr>
        <p:blipFill rotWithShape="1">
          <a:blip r:embed="rId3"/>
          <a:srcRect l="17859" t="13357" r="20046" b="11473"/>
          <a:stretch>
            <a:fillRect/>
          </a:stretch>
        </p:blipFill>
        <p:spPr>
          <a:xfrm>
            <a:off x="1280380" y="2462319"/>
            <a:ext cx="1933573" cy="1605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44900" y="697241"/>
            <a:ext cx="3113584" cy="2632979"/>
            <a:chOff x="1387588" y="2182683"/>
            <a:chExt cx="1805441" cy="1894017"/>
          </a:xfrm>
        </p:grpSpPr>
        <p:sp>
          <p:nvSpPr>
            <p:cNvPr id="3" name="Rectangle: Top Corners Rounded 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" name="Freeform: Shape 5"/>
          <p:cNvSpPr/>
          <p:nvPr/>
        </p:nvSpPr>
        <p:spPr>
          <a:xfrm flipV="1">
            <a:off x="896212" y="1835758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8214211" y="697241"/>
            <a:ext cx="3113584" cy="2632979"/>
            <a:chOff x="1387588" y="2182683"/>
            <a:chExt cx="1805441" cy="1894017"/>
          </a:xfrm>
        </p:grpSpPr>
        <p:sp>
          <p:nvSpPr>
            <p:cNvPr id="13" name="Rectangle: Top Corners Rounded 1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6" name="Freeform: Shape 15"/>
          <p:cNvSpPr/>
          <p:nvPr/>
        </p:nvSpPr>
        <p:spPr>
          <a:xfrm flipV="1">
            <a:off x="8365523" y="1835758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647414" y="734938"/>
            <a:ext cx="3113584" cy="2632979"/>
            <a:chOff x="1387588" y="2182683"/>
            <a:chExt cx="1805441" cy="1894017"/>
          </a:xfrm>
        </p:grpSpPr>
        <p:sp>
          <p:nvSpPr>
            <p:cNvPr id="18" name="Rectangle: Top Corners Rounded 17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1" name="Freeform: Shape 20"/>
          <p:cNvSpPr/>
          <p:nvPr/>
        </p:nvSpPr>
        <p:spPr>
          <a:xfrm flipV="1">
            <a:off x="4798726" y="1873455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oogle Shape;244;p26"/>
          <p:cNvPicPr preferRelativeResize="0"/>
          <p:nvPr/>
        </p:nvPicPr>
        <p:blipFill rotWithShape="1">
          <a:blip r:embed="rId1"/>
          <a:srcRect l="21311" t="18603" r="19365" b="19331"/>
          <a:stretch>
            <a:fillRect/>
          </a:stretch>
        </p:blipFill>
        <p:spPr>
          <a:xfrm>
            <a:off x="1442174" y="2533303"/>
            <a:ext cx="1719033" cy="149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52;p27"/>
          <p:cNvPicPr preferRelativeResize="0"/>
          <p:nvPr/>
        </p:nvPicPr>
        <p:blipFill rotWithShape="1">
          <a:blip r:embed="rId2"/>
          <a:srcRect l="18052" t="18442" r="24857" b="15190"/>
          <a:stretch>
            <a:fillRect/>
          </a:stretch>
        </p:blipFill>
        <p:spPr>
          <a:xfrm>
            <a:off x="5267952" y="2618335"/>
            <a:ext cx="1707502" cy="1423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60;p28"/>
          <p:cNvPicPr preferRelativeResize="0"/>
          <p:nvPr/>
        </p:nvPicPr>
        <p:blipFill rotWithShape="1">
          <a:blip r:embed="rId3"/>
          <a:srcRect l="18309" t="14775" r="20940" b="14616"/>
          <a:stretch>
            <a:fillRect/>
          </a:stretch>
        </p:blipFill>
        <p:spPr>
          <a:xfrm>
            <a:off x="8701240" y="2734973"/>
            <a:ext cx="2140931" cy="15384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202157" y="1264821"/>
            <a:ext cx="207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0124D"/>
                </a:solidFill>
              </a:rPr>
              <a:t>Medication Probe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1222310" y="4041251"/>
            <a:ext cx="23699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</a:t>
            </a:r>
            <a:r>
              <a:rPr lang="en-GB" sz="1800" b="1" dirty="0"/>
              <a:t>ilate the Blood vessels and improve Blood Flow through the organ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5366282" y="1332291"/>
            <a:ext cx="1445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0124D"/>
                </a:solidFill>
              </a:rPr>
              <a:t>PV Infection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4798726" y="4213937"/>
            <a:ext cx="26709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The discarded human organ is connected to perfusion machine through its blood </a:t>
            </a:r>
            <a:r>
              <a:rPr lang="en-US" sz="1800" b="1" dirty="0" err="1"/>
              <a:t>vessels,Including</a:t>
            </a:r>
            <a:r>
              <a:rPr lang="en-US" sz="1800" b="1" dirty="0"/>
              <a:t> the portal vein.</a:t>
            </a:r>
            <a:endParaRPr lang="en-US" sz="18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69849" y="1359943"/>
            <a:ext cx="149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0124D"/>
                </a:solidFill>
              </a:rPr>
              <a:t>HA Infusion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8549928" y="4273420"/>
            <a:ext cx="24534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It reduces the Inflammation and oxidative Stress during Organ </a:t>
            </a:r>
            <a:r>
              <a:rPr lang="en-US" sz="1800" b="1" dirty="0" err="1"/>
              <a:t>Preservation,potential</a:t>
            </a:r>
            <a:r>
              <a:rPr lang="en-US" sz="1800" b="1" dirty="0"/>
              <a:t> improve Organ function.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796627" y="757587"/>
            <a:ext cx="3113584" cy="2632979"/>
            <a:chOff x="1387588" y="2182683"/>
            <a:chExt cx="1805441" cy="1894017"/>
          </a:xfrm>
        </p:grpSpPr>
        <p:sp>
          <p:nvSpPr>
            <p:cNvPr id="8" name="Rectangle: Top Corners Rounded 7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" name="Freeform: Shape 10"/>
          <p:cNvSpPr/>
          <p:nvPr/>
        </p:nvSpPr>
        <p:spPr>
          <a:xfrm flipV="1">
            <a:off x="7947939" y="1896104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oogle Shape;276;p30"/>
          <p:cNvPicPr preferRelativeResize="0"/>
          <p:nvPr/>
        </p:nvPicPr>
        <p:blipFill rotWithShape="1">
          <a:blip r:embed="rId1"/>
          <a:srcRect l="23696" t="13406" r="25876" b="17713"/>
          <a:stretch>
            <a:fillRect/>
          </a:stretch>
        </p:blipFill>
        <p:spPr>
          <a:xfrm>
            <a:off x="8857015" y="2651006"/>
            <a:ext cx="992806" cy="163285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8396211" y="1208523"/>
            <a:ext cx="1914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4C1130"/>
                </a:solidFill>
              </a:rPr>
              <a:t>AUXILIARY PORT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979714" y="2382080"/>
            <a:ext cx="63261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US" sz="1800" b="1" dirty="0"/>
              <a:t>Allow medical Professional to take Samples of the Perfusion Solution</a:t>
            </a:r>
            <a:endParaRPr lang="en-US" sz="1800" b="1" dirty="0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US" sz="1800" b="1" dirty="0"/>
              <a:t>Used to connect Various Monitoring devices to measure parameters such as Oxygen </a:t>
            </a:r>
            <a:r>
              <a:rPr lang="en-US" sz="1800" b="1" dirty="0" err="1"/>
              <a:t>levels,Pressure</a:t>
            </a:r>
            <a:r>
              <a:rPr lang="en-US" sz="1800" b="1" dirty="0"/>
              <a:t> and Temperature.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/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/>
          <p:cNvGrpSpPr/>
          <p:nvPr/>
        </p:nvGrpSpPr>
        <p:grpSpPr>
          <a:xfrm>
            <a:off x="226788" y="-2"/>
            <a:ext cx="11447504" cy="6858000"/>
            <a:chOff x="213096" y="0"/>
            <a:chExt cx="11447504" cy="6858000"/>
          </a:xfrm>
        </p:grpSpPr>
        <p:sp>
          <p:nvSpPr>
            <p:cNvPr id="56" name="Rectangle 55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 rot="16200000">
              <a:off x="9627696" y="3043922"/>
              <a:ext cx="34194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/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/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/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/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/>
          <p:cNvCxnSpPr/>
          <p:nvPr/>
        </p:nvCxnSpPr>
        <p:spPr>
          <a:xfrm>
            <a:off x="3850016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3638922" y="3517706"/>
            <a:ext cx="211094" cy="211094"/>
            <a:chOff x="1677812" y="4248152"/>
            <a:chExt cx="211094" cy="211094"/>
          </a:xfrm>
        </p:grpSpPr>
        <p:sp>
          <p:nvSpPr>
            <p:cNvPr id="98" name="Oval 97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Connector 99"/>
          <p:cNvCxnSpPr/>
          <p:nvPr/>
        </p:nvCxnSpPr>
        <p:spPr>
          <a:xfrm>
            <a:off x="5997735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/>
          <p:cNvGrpSpPr/>
          <p:nvPr/>
        </p:nvGrpSpPr>
        <p:grpSpPr>
          <a:xfrm>
            <a:off x="5816929" y="3517706"/>
            <a:ext cx="211094" cy="211094"/>
            <a:chOff x="3855819" y="4248152"/>
            <a:chExt cx="211094" cy="211094"/>
          </a:xfrm>
        </p:grpSpPr>
        <p:sp>
          <p:nvSpPr>
            <p:cNvPr id="102" name="Oval 101"/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7934360" y="3517706"/>
            <a:ext cx="211094" cy="211094"/>
            <a:chOff x="5973250" y="4248152"/>
            <a:chExt cx="211094" cy="211094"/>
          </a:xfrm>
        </p:grpSpPr>
        <p:sp>
          <p:nvSpPr>
            <p:cNvPr id="105" name="Oval 104"/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259453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5969"/>
                </a:solidFill>
                <a:latin typeface="Tw Cen MT" panose="020B0602020104020603" pitchFamily="34" charset="0"/>
              </a:rPr>
              <a:t>1-Day</a:t>
            </a:r>
            <a:endParaRPr lang="en-US" sz="2800" b="1" dirty="0">
              <a:solidFill>
                <a:srgbClr val="FF5969"/>
              </a:solidFill>
              <a:latin typeface="Tw Cen MT" panose="020B0602020104020603" pitchFamily="34" charset="0"/>
            </a:endParaRPr>
          </a:p>
        </p:txBody>
      </p:sp>
      <p:grpSp>
        <p:nvGrpSpPr>
          <p:cNvPr id="111" name="Group 110"/>
          <p:cNvGrpSpPr/>
          <p:nvPr/>
        </p:nvGrpSpPr>
        <p:grpSpPr>
          <a:xfrm>
            <a:off x="4783446" y="4142156"/>
            <a:ext cx="2289049" cy="548656"/>
            <a:chOff x="1514240" y="4816886"/>
            <a:chExt cx="2289049" cy="548656"/>
          </a:xfrm>
        </p:grpSpPr>
        <p:sp>
          <p:nvSpPr>
            <p:cNvPr id="112" name="TextBox 111"/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3.5%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733898" y="5088543"/>
              <a:ext cx="1849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478344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2CBBE"/>
                </a:solidFill>
                <a:latin typeface="Tw Cen MT" panose="020B0602020104020603" pitchFamily="34" charset="0"/>
              </a:rPr>
              <a:t>30-Day</a:t>
            </a:r>
            <a:endParaRPr lang="en-US" sz="2800" b="1" dirty="0">
              <a:solidFill>
                <a:srgbClr val="52CBBE"/>
              </a:solidFill>
              <a:latin typeface="Tw Cen MT" panose="020B0602020104020603" pitchFamily="3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6912585" y="4142156"/>
            <a:ext cx="2289049" cy="548656"/>
            <a:chOff x="1514240" y="4816886"/>
            <a:chExt cx="2289049" cy="548656"/>
          </a:xfrm>
        </p:grpSpPr>
        <p:sp>
          <p:nvSpPr>
            <p:cNvPr id="116" name="TextBox 115"/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8.6%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733898" y="5088543"/>
              <a:ext cx="1849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6912585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EC630"/>
                </a:solidFill>
                <a:latin typeface="Tw Cen MT" panose="020B0602020104020603" pitchFamily="34" charset="0"/>
              </a:rPr>
              <a:t>1-Year</a:t>
            </a:r>
            <a:endParaRPr lang="en-US" sz="2800" b="1" dirty="0">
              <a:solidFill>
                <a:srgbClr val="FEC630"/>
              </a:solidFill>
              <a:latin typeface="Tw Cen MT" panose="020B06020201040206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101220" y="1755914"/>
            <a:ext cx="1275682" cy="1275682"/>
            <a:chOff x="3063120" y="1755914"/>
            <a:chExt cx="1275682" cy="1275682"/>
          </a:xfrm>
        </p:grpSpPr>
        <p:sp>
          <p:nvSpPr>
            <p:cNvPr id="120" name="Teardrop 119"/>
            <p:cNvSpPr/>
            <p:nvPr/>
          </p:nvSpPr>
          <p:spPr>
            <a:xfrm rot="8100000">
              <a:off x="306312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325746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6696" y="2066644"/>
              <a:ext cx="627392" cy="62739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5280540" y="1755914"/>
            <a:ext cx="1275682" cy="1275682"/>
            <a:chOff x="5242440" y="1755914"/>
            <a:chExt cx="1275682" cy="1275682"/>
          </a:xfrm>
        </p:grpSpPr>
        <p:sp>
          <p:nvSpPr>
            <p:cNvPr id="124" name="Teardrop 123"/>
            <p:cNvSpPr/>
            <p:nvPr/>
          </p:nvSpPr>
          <p:spPr>
            <a:xfrm rot="8100000">
              <a:off x="524244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543678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2" name="Picture 13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681" y="2061164"/>
              <a:ext cx="659146" cy="659144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7391281" y="1755914"/>
            <a:ext cx="1275682" cy="1275682"/>
            <a:chOff x="7353181" y="1755914"/>
            <a:chExt cx="1275682" cy="1275682"/>
          </a:xfrm>
        </p:grpSpPr>
        <p:sp>
          <p:nvSpPr>
            <p:cNvPr id="128" name="Teardrop 127"/>
            <p:cNvSpPr/>
            <p:nvPr/>
          </p:nvSpPr>
          <p:spPr>
            <a:xfrm rot="8100000">
              <a:off x="7353181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7547530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13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666" y="2048456"/>
              <a:ext cx="684562" cy="684560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2982165" y="4182980"/>
            <a:ext cx="158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rPr>
              <a:t>0.9%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4" grpId="0"/>
      <p:bldP spid="1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>
            <a:spLocks noChangeAspect="1" noChangeArrowheads="1"/>
          </p:cNvSpPr>
          <p:nvPr/>
        </p:nvSpPr>
        <p:spPr bwMode="auto">
          <a:xfrm>
            <a:off x="5943600" y="716902"/>
            <a:ext cx="2864498" cy="286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8" y="716902"/>
            <a:ext cx="10487607" cy="52733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1563</Words>
  <Application>WPS Presentation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Tw Cen MT</vt:lpstr>
      <vt:lpstr>Times New Roman</vt:lpstr>
      <vt:lpstr>Times New Roman</vt:lpstr>
      <vt:lpstr>Cambria</vt:lpstr>
      <vt:lpstr>Calibri</vt:lpstr>
      <vt:lpstr>Microsoft YaHei</vt:lpstr>
      <vt:lpstr>Arial Unicode MS</vt:lpstr>
      <vt:lpstr>Calibri Light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sukes</cp:lastModifiedBy>
  <cp:revision>27</cp:revision>
  <dcterms:created xsi:type="dcterms:W3CDTF">2017-01-05T13:17:00Z</dcterms:created>
  <dcterms:modified xsi:type="dcterms:W3CDTF">2024-03-04T06:39:28Z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F83101D5FAF74879954C483A29AB1FDC_12</vt:lpwstr>
  </property>
  <property fmtid="{D5CDD505-2E9C-101B-9397-08002B2CF9AE}" pid="3" name="KSOProductBuildVer">
    <vt:lpwstr>1033-12.2.0.13489</vt:lpwstr>
  </property>
</Properties>
</file>
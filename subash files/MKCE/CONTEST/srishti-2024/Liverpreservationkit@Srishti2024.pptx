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24"/>
      <p:bold r:id="rId25"/>
      <p:italic r:id="rId26"/>
      <p:boldItalic r:id="rId27"/>
    </p:embeddedFont>
    <p:embeddedFont>
      <p:font typeface="Nunito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05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69ec87629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69ec87629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69ec87629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69ec87629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bc3fd0655f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bc3fd0655f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bc66a83574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bc66a83574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bc3fd0655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bc3fd0655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bc3fd0655f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bc3fd0655f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bc3fd0655f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bc3fd0655f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bc66a8357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bc66a83574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bc3fd0655f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bc3fd0655f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bc3fd0655f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bc3fd0655f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bc3fd0655f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bc3fd0655f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bc66a83574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bc66a83574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bc3fd0655f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bc3fd0655f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bc3fd0655f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bc3fd0655f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bc3fd0655f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bc3fd0655f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bc3fd0655f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bc3fd0655f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bc66a83574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bc66a83574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bc3fd0655f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bc3fd0655f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bc3fd0655f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bc3fd0655f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bc3fd0655f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bc3fd0655f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bc3fd0655f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bc3fd0655f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"/>
          <p:cNvSpPr txBox="1">
            <a:spLocks noGrp="1"/>
          </p:cNvSpPr>
          <p:nvPr>
            <p:ph type="body" idx="1"/>
          </p:nvPr>
        </p:nvSpPr>
        <p:spPr>
          <a:xfrm>
            <a:off x="326775" y="1055075"/>
            <a:ext cx="8418600" cy="3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91" b="1">
                <a:solidFill>
                  <a:srgbClr val="0C343D"/>
                </a:solidFill>
                <a:latin typeface="Cambria"/>
                <a:ea typeface="Cambria"/>
                <a:cs typeface="Cambria"/>
                <a:sym typeface="Cambria"/>
              </a:rPr>
              <a:t>PROLONGED PRESERVATION OF HUMAN LIVER USING   NORMOTHERMIC MACHINE PERFUSION PROCESS</a:t>
            </a:r>
            <a:endParaRPr sz="2891" b="1">
              <a:solidFill>
                <a:srgbClr val="0C343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68" b="1">
                <a:solidFill>
                  <a:srgbClr val="000000"/>
                </a:solidFill>
              </a:rPr>
              <a:t>TEAM MEMBERS                                                           </a:t>
            </a:r>
            <a:endParaRPr sz="2268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68">
                <a:solidFill>
                  <a:srgbClr val="000000"/>
                </a:solidFill>
              </a:rPr>
              <a:t>VISHWA B</a:t>
            </a:r>
            <a:endParaRPr sz="2268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68">
                <a:solidFill>
                  <a:srgbClr val="000000"/>
                </a:solidFill>
              </a:rPr>
              <a:t>YUVAPRABHA B </a:t>
            </a:r>
            <a:endParaRPr sz="2268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68">
                <a:solidFill>
                  <a:srgbClr val="000000"/>
                </a:solidFill>
              </a:rPr>
              <a:t>PRADEEP V</a:t>
            </a:r>
            <a:endParaRPr sz="2268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68">
                <a:solidFill>
                  <a:srgbClr val="000000"/>
                </a:solidFill>
              </a:rPr>
              <a:t>SUBHASH P</a:t>
            </a:r>
            <a:endParaRPr sz="2268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68">
                <a:solidFill>
                  <a:srgbClr val="000000"/>
                </a:solidFill>
              </a:rPr>
              <a:t>SANJEEVADHARSH B R</a:t>
            </a:r>
            <a:endParaRPr sz="2268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268" b="1">
              <a:solidFill>
                <a:srgbClr val="20124D"/>
              </a:solidFill>
            </a:endParaRPr>
          </a:p>
        </p:txBody>
      </p:sp>
      <p:sp>
        <p:nvSpPr>
          <p:cNvPr id="139" name="Google Shape;139;p14"/>
          <p:cNvSpPr txBox="1">
            <a:spLocks noGrp="1"/>
          </p:cNvSpPr>
          <p:nvPr>
            <p:ph type="title"/>
          </p:nvPr>
        </p:nvSpPr>
        <p:spPr>
          <a:xfrm>
            <a:off x="555375" y="449925"/>
            <a:ext cx="7505700" cy="51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</a:t>
            </a:r>
            <a:endParaRPr/>
          </a:p>
        </p:txBody>
      </p:sp>
      <p:pic>
        <p:nvPicPr>
          <p:cNvPr id="140" name="Google Shape;14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225" y="234475"/>
            <a:ext cx="2907324" cy="82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C1130"/>
                </a:solidFill>
              </a:rPr>
              <a:t>Working Principle- Normothermic Perfusion</a:t>
            </a:r>
            <a:endParaRPr b="1">
              <a:solidFill>
                <a:srgbClr val="4C1130"/>
              </a:solidFill>
            </a:endParaRPr>
          </a:p>
        </p:txBody>
      </p:sp>
      <p:sp>
        <p:nvSpPr>
          <p:cNvPr id="146" name="Google Shape;146;p15"/>
          <p:cNvSpPr txBox="1">
            <a:spLocks noGrp="1"/>
          </p:cNvSpPr>
          <p:nvPr>
            <p:ph type="body" idx="1"/>
          </p:nvPr>
        </p:nvSpPr>
        <p:spPr>
          <a:xfrm>
            <a:off x="819150" y="1559175"/>
            <a:ext cx="7505700" cy="287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just" rtl="0">
              <a:spcBef>
                <a:spcPts val="0"/>
              </a:spcBef>
              <a:spcAft>
                <a:spcPts val="0"/>
              </a:spcAft>
              <a:buSzPts val="2100"/>
              <a:buChar char="❖"/>
            </a:pPr>
            <a:r>
              <a:rPr lang="en" sz="2100"/>
              <a:t>It is used in the field of </a:t>
            </a:r>
            <a:r>
              <a:rPr lang="en" sz="2100" b="1"/>
              <a:t>Organ Transplantation</a:t>
            </a:r>
            <a:r>
              <a:rPr lang="en" sz="2100"/>
              <a:t> to preserve and assess  Human Organs</a:t>
            </a:r>
            <a:endParaRPr sz="2100"/>
          </a:p>
          <a:p>
            <a:pPr marL="457200" lvl="0" indent="-361950" algn="just" rtl="0">
              <a:spcBef>
                <a:spcPts val="0"/>
              </a:spcBef>
              <a:spcAft>
                <a:spcPts val="0"/>
              </a:spcAft>
              <a:buSzPts val="2100"/>
              <a:buChar char="❖"/>
            </a:pPr>
            <a:r>
              <a:rPr lang="en" sz="2100"/>
              <a:t>Normothermic Perfusion maintains </a:t>
            </a:r>
            <a:r>
              <a:rPr lang="en" sz="2100" b="1"/>
              <a:t>Normal Temperature,Essential Substrates for Cellular Metabolism,Oxygen and Nutrition.</a:t>
            </a:r>
            <a:endParaRPr sz="2100" b="1"/>
          </a:p>
          <a:p>
            <a:pPr marL="457200" lvl="0" indent="-361950" algn="just" rtl="0">
              <a:spcBef>
                <a:spcPts val="0"/>
              </a:spcBef>
              <a:spcAft>
                <a:spcPts val="0"/>
              </a:spcAft>
              <a:buSzPts val="2100"/>
              <a:buChar char="❖"/>
            </a:pPr>
            <a:r>
              <a:rPr lang="en" sz="2100"/>
              <a:t>It provides continuous organ assessment for Real time Monitoring of Organ Function and Viability.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C1130"/>
                </a:solidFill>
              </a:rPr>
              <a:t>Features of PNMP</a:t>
            </a:r>
            <a:endParaRPr b="1">
              <a:solidFill>
                <a:srgbClr val="4C1130"/>
              </a:solidFill>
            </a:endParaRPr>
          </a:p>
        </p:txBody>
      </p:sp>
      <p:sp>
        <p:nvSpPr>
          <p:cNvPr id="152" name="Google Shape;152;p16"/>
          <p:cNvSpPr txBox="1">
            <a:spLocks noGrp="1"/>
          </p:cNvSpPr>
          <p:nvPr>
            <p:ph type="body" idx="1"/>
          </p:nvPr>
        </p:nvSpPr>
        <p:spPr>
          <a:xfrm>
            <a:off x="819150" y="1623200"/>
            <a:ext cx="7505700" cy="28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" sz="2000" b="1"/>
              <a:t>PNMP Preserves and assesses discarded human livers for Transplantation</a:t>
            </a:r>
            <a:endParaRPr sz="2000" b="1"/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" sz="2000" b="1"/>
              <a:t>Cold storage methods have limitations leading to the discard of viable organs</a:t>
            </a:r>
            <a:endParaRPr sz="2000" b="1"/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en" sz="2000" b="1"/>
              <a:t>PNMP involves conditions oxygenated perfusion at normal Body Temperature</a:t>
            </a:r>
            <a:endParaRPr sz="20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>
            <a:spLocks noGrp="1"/>
          </p:cNvSpPr>
          <p:nvPr>
            <p:ph type="title"/>
          </p:nvPr>
        </p:nvSpPr>
        <p:spPr>
          <a:xfrm>
            <a:off x="819150" y="528125"/>
            <a:ext cx="7505700" cy="59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4E13"/>
                </a:solidFill>
              </a:rPr>
              <a:t>LIVER PRESERVATION KIT</a:t>
            </a:r>
            <a:endParaRPr b="1">
              <a:solidFill>
                <a:srgbClr val="274E13"/>
              </a:solidFill>
            </a:endParaRPr>
          </a:p>
        </p:txBody>
      </p:sp>
      <p:sp>
        <p:nvSpPr>
          <p:cNvPr id="158" name="Google Shape;158;p17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.</a:t>
            </a:r>
            <a:endParaRPr/>
          </a:p>
        </p:txBody>
      </p:sp>
      <p:pic>
        <p:nvPicPr>
          <p:cNvPr id="159" name="Google Shape;15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375" y="1125127"/>
            <a:ext cx="8332476" cy="384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819150" y="426100"/>
            <a:ext cx="7505700" cy="5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0124D"/>
                </a:solidFill>
              </a:rPr>
              <a:t>Components Used:</a:t>
            </a:r>
            <a:endParaRPr b="1">
              <a:solidFill>
                <a:srgbClr val="20124D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20124D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20124D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0124D"/>
                </a:solidFill>
              </a:rPr>
              <a:t>  </a:t>
            </a:r>
            <a:endParaRPr b="1">
              <a:solidFill>
                <a:srgbClr val="20124D"/>
              </a:solidFill>
            </a:endParaRPr>
          </a:p>
        </p:txBody>
      </p:sp>
      <p:sp>
        <p:nvSpPr>
          <p:cNvPr id="165" name="Google Shape;165;p18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.</a:t>
            </a:r>
            <a:endParaRPr/>
          </a:p>
        </p:txBody>
      </p:sp>
      <p:pic>
        <p:nvPicPr>
          <p:cNvPr id="166" name="Google Shape;16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425" y="1237675"/>
            <a:ext cx="3411576" cy="29319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>
            <a:spLocks noGrp="1"/>
          </p:cNvSpPr>
          <p:nvPr>
            <p:ph type="body" idx="2"/>
          </p:nvPr>
        </p:nvSpPr>
        <p:spPr>
          <a:xfrm>
            <a:off x="4638675" y="1237675"/>
            <a:ext cx="3686100" cy="32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073763"/>
                </a:solidFill>
              </a:rPr>
              <a:t>Organ Basin:</a:t>
            </a:r>
            <a:endParaRPr sz="2300" b="1">
              <a:solidFill>
                <a:srgbClr val="073763"/>
              </a:solidFill>
            </a:endParaRPr>
          </a:p>
          <a:p>
            <a:pPr marL="457200" lvl="0" indent="-361950" algn="just" rtl="0">
              <a:spcBef>
                <a:spcPts val="1200"/>
              </a:spcBef>
              <a:spcAft>
                <a:spcPts val="0"/>
              </a:spcAft>
              <a:buSzPts val="2100"/>
              <a:buChar char="❖"/>
            </a:pPr>
            <a:r>
              <a:rPr lang="en" sz="2100" b="1">
                <a:solidFill>
                  <a:srgbClr val="000000"/>
                </a:solidFill>
              </a:rPr>
              <a:t>Used to hold the Organs and protects the organs from Physical Trauma.</a:t>
            </a:r>
            <a:endParaRPr sz="2100" b="1">
              <a:solidFill>
                <a:srgbClr val="000000"/>
              </a:solidFill>
            </a:endParaRPr>
          </a:p>
          <a:p>
            <a:pPr marL="45720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endParaRPr sz="2300">
              <a:solidFill>
                <a:srgbClr val="000000"/>
              </a:solidFill>
            </a:endParaRPr>
          </a:p>
        </p:txBody>
      </p:sp>
      <p:cxnSp>
        <p:nvCxnSpPr>
          <p:cNvPr id="168" name="Google Shape;168;p18"/>
          <p:cNvCxnSpPr/>
          <p:nvPr/>
        </p:nvCxnSpPr>
        <p:spPr>
          <a:xfrm rot="10800000" flipH="1">
            <a:off x="2536250" y="1521875"/>
            <a:ext cx="446400" cy="365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9" name="Google Shape;169;p18"/>
          <p:cNvSpPr txBox="1"/>
          <p:nvPr/>
        </p:nvSpPr>
        <p:spPr>
          <a:xfrm>
            <a:off x="2901450" y="1294975"/>
            <a:ext cx="1288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Organ Basin</a:t>
            </a:r>
            <a:endParaRPr sz="1700" b="1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>
            <a:spLocks noGrp="1"/>
          </p:cNvSpPr>
          <p:nvPr>
            <p:ph type="title"/>
          </p:nvPr>
        </p:nvSpPr>
        <p:spPr>
          <a:xfrm>
            <a:off x="880000" y="598550"/>
            <a:ext cx="7505700" cy="5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20124D"/>
                </a:solidFill>
              </a:rPr>
              <a:t>CLEANSER UNIT</a:t>
            </a:r>
            <a:endParaRPr sz="2800" b="1">
              <a:solidFill>
                <a:srgbClr val="20124D"/>
              </a:solidFill>
            </a:endParaRPr>
          </a:p>
        </p:txBody>
      </p:sp>
      <p:sp>
        <p:nvSpPr>
          <p:cNvPr id="175" name="Google Shape;175;p19"/>
          <p:cNvSpPr txBox="1">
            <a:spLocks noGrp="1"/>
          </p:cNvSpPr>
          <p:nvPr>
            <p:ph type="body" idx="1"/>
          </p:nvPr>
        </p:nvSpPr>
        <p:spPr>
          <a:xfrm>
            <a:off x="819150" y="1460875"/>
            <a:ext cx="3686100" cy="29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.</a:t>
            </a:r>
            <a:endParaRPr/>
          </a:p>
        </p:txBody>
      </p:sp>
      <p:sp>
        <p:nvSpPr>
          <p:cNvPr id="176" name="Google Shape;176;p19"/>
          <p:cNvSpPr txBox="1">
            <a:spLocks noGrp="1"/>
          </p:cNvSpPr>
          <p:nvPr>
            <p:ph type="body" idx="2"/>
          </p:nvPr>
        </p:nvSpPr>
        <p:spPr>
          <a:xfrm>
            <a:off x="4392775" y="1075375"/>
            <a:ext cx="4484100" cy="336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" sz="1900" b="1"/>
              <a:t>Responsible for Cleaning and Filtering the organ Basin before and after it is used to preserve the organ.</a:t>
            </a:r>
            <a:endParaRPr sz="1900" b="1"/>
          </a:p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" sz="1900" b="1"/>
              <a:t>Cleanser unit typically consists of filters and purification mechanisms that remove the unwanted particles,Bacteria and Other Contaminants from the Basin</a:t>
            </a:r>
            <a:endParaRPr sz="1900" b="1"/>
          </a:p>
        </p:txBody>
      </p:sp>
      <p:sp>
        <p:nvSpPr>
          <p:cNvPr id="177" name="Google Shape;177;p19"/>
          <p:cNvSpPr txBox="1">
            <a:spLocks noGrp="1"/>
          </p:cNvSpPr>
          <p:nvPr>
            <p:ph type="body" idx="1"/>
          </p:nvPr>
        </p:nvSpPr>
        <p:spPr>
          <a:xfrm>
            <a:off x="819150" y="1460875"/>
            <a:ext cx="2944500" cy="29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.</a:t>
            </a:r>
            <a:endParaRPr/>
          </a:p>
        </p:txBody>
      </p:sp>
      <p:pic>
        <p:nvPicPr>
          <p:cNvPr id="178" name="Google Shape;1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8225" y="1521750"/>
            <a:ext cx="3099475" cy="280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9" name="Google Shape;179;p19"/>
          <p:cNvCxnSpPr/>
          <p:nvPr/>
        </p:nvCxnSpPr>
        <p:spPr>
          <a:xfrm rot="10800000" flipH="1">
            <a:off x="2617400" y="2171100"/>
            <a:ext cx="426000" cy="37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0" name="Google Shape;180;p19"/>
          <p:cNvSpPr txBox="1"/>
          <p:nvPr/>
        </p:nvSpPr>
        <p:spPr>
          <a:xfrm>
            <a:off x="3013050" y="2079725"/>
            <a:ext cx="1625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CLEANSER UNIT</a:t>
            </a:r>
            <a:endParaRPr sz="1600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 txBox="1">
            <a:spLocks noGrp="1"/>
          </p:cNvSpPr>
          <p:nvPr>
            <p:ph type="title"/>
          </p:nvPr>
        </p:nvSpPr>
        <p:spPr>
          <a:xfrm>
            <a:off x="568125" y="466675"/>
            <a:ext cx="77568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00" b="1">
                <a:solidFill>
                  <a:srgbClr val="20124D"/>
                </a:solidFill>
              </a:rPr>
              <a:t>AIR FILTERS</a:t>
            </a:r>
            <a:endParaRPr sz="2200" b="1">
              <a:solidFill>
                <a:srgbClr val="20124D"/>
              </a:solidFill>
            </a:endParaRPr>
          </a:p>
        </p:txBody>
      </p:sp>
      <p:sp>
        <p:nvSpPr>
          <p:cNvPr id="186" name="Google Shape;186;p20"/>
          <p:cNvSpPr txBox="1">
            <a:spLocks noGrp="1"/>
          </p:cNvSpPr>
          <p:nvPr>
            <p:ph type="body" idx="1"/>
          </p:nvPr>
        </p:nvSpPr>
        <p:spPr>
          <a:xfrm>
            <a:off x="819150" y="1349275"/>
            <a:ext cx="3686100" cy="249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.</a:t>
            </a:r>
            <a:endParaRPr/>
          </a:p>
        </p:txBody>
      </p:sp>
      <p:sp>
        <p:nvSpPr>
          <p:cNvPr id="187" name="Google Shape;187;p20"/>
          <p:cNvSpPr txBox="1">
            <a:spLocks noGrp="1"/>
          </p:cNvSpPr>
          <p:nvPr>
            <p:ph type="body" idx="2"/>
          </p:nvPr>
        </p:nvSpPr>
        <p:spPr>
          <a:xfrm>
            <a:off x="4159450" y="1262625"/>
            <a:ext cx="4165200" cy="317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" sz="1900" b="1"/>
              <a:t>Air Filters remove the Carbondioxide and other waste gases from the perfusion System</a:t>
            </a:r>
            <a:endParaRPr sz="1900" b="1"/>
          </a:p>
          <a:p>
            <a:pPr marL="457200" lvl="0" indent="-368300" algn="just" rtl="0"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n" sz="1900" b="1"/>
              <a:t>It Maintains the Sterile Environment for the organ during the Perfusion Process.</a:t>
            </a:r>
            <a:r>
              <a:rPr lang="en" sz="2200" b="1"/>
              <a:t>    </a:t>
            </a:r>
            <a:endParaRPr sz="2200" b="1"/>
          </a:p>
        </p:txBody>
      </p:sp>
      <p:pic>
        <p:nvPicPr>
          <p:cNvPr id="188" name="Google Shape;18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000" y="892750"/>
            <a:ext cx="3492450" cy="38956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9" name="Google Shape;189;p20"/>
          <p:cNvCxnSpPr/>
          <p:nvPr/>
        </p:nvCxnSpPr>
        <p:spPr>
          <a:xfrm rot="10800000" flipH="1">
            <a:off x="2597100" y="1917300"/>
            <a:ext cx="486900" cy="40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0" name="Google Shape;190;p20"/>
          <p:cNvSpPr txBox="1"/>
          <p:nvPr/>
        </p:nvSpPr>
        <p:spPr>
          <a:xfrm>
            <a:off x="2992775" y="1694200"/>
            <a:ext cx="11262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AIR FILTER</a:t>
            </a:r>
            <a:endParaRPr sz="1700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 txBox="1">
            <a:spLocks noGrp="1"/>
          </p:cNvSpPr>
          <p:nvPr>
            <p:ph type="title"/>
          </p:nvPr>
        </p:nvSpPr>
        <p:spPr>
          <a:xfrm>
            <a:off x="819150" y="597025"/>
            <a:ext cx="7505700" cy="76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0124D"/>
                </a:solidFill>
              </a:rPr>
              <a:t>PMS UNIT</a:t>
            </a:r>
            <a:endParaRPr b="1">
              <a:solidFill>
                <a:srgbClr val="20124D"/>
              </a:solidFill>
            </a:endParaRPr>
          </a:p>
        </p:txBody>
      </p:sp>
      <p:sp>
        <p:nvSpPr>
          <p:cNvPr id="196" name="Google Shape;196;p21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.</a:t>
            </a:r>
            <a:endParaRPr/>
          </a:p>
        </p:txBody>
      </p:sp>
      <p:sp>
        <p:nvSpPr>
          <p:cNvPr id="197" name="Google Shape;197;p21"/>
          <p:cNvSpPr txBox="1">
            <a:spLocks noGrp="1"/>
          </p:cNvSpPr>
          <p:nvPr>
            <p:ph type="body" idx="2"/>
          </p:nvPr>
        </p:nvSpPr>
        <p:spPr>
          <a:xfrm>
            <a:off x="4638675" y="1182550"/>
            <a:ext cx="3686100" cy="32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" sz="1900" b="1"/>
              <a:t>Power Management System Unit is Responsible for Managing and Supplying Power to Machine Perfusion Process.</a:t>
            </a:r>
            <a:endParaRPr sz="1900" b="1"/>
          </a:p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" sz="1900" b="1"/>
              <a:t>It includes Power Sources,Voltage Regulator and Circuit Protection components. </a:t>
            </a:r>
            <a:endParaRPr sz="1900" b="1"/>
          </a:p>
        </p:txBody>
      </p:sp>
      <p:pic>
        <p:nvPicPr>
          <p:cNvPr id="198" name="Google Shape;198;p21" descr="IMG_256"/>
          <p:cNvPicPr preferRelativeResize="0"/>
          <p:nvPr/>
        </p:nvPicPr>
        <p:blipFill rotWithShape="1">
          <a:blip r:embed="rId3">
            <a:alphaModFix/>
          </a:blip>
          <a:srcRect l="16994" t="22515" r="24784" b="10473"/>
          <a:stretch/>
        </p:blipFill>
        <p:spPr>
          <a:xfrm>
            <a:off x="929975" y="1745125"/>
            <a:ext cx="3076900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 txBox="1">
            <a:spLocks noGrp="1"/>
          </p:cNvSpPr>
          <p:nvPr>
            <p:ph type="title"/>
          </p:nvPr>
        </p:nvSpPr>
        <p:spPr>
          <a:xfrm>
            <a:off x="819150" y="436225"/>
            <a:ext cx="7505700" cy="59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0124D"/>
                </a:solidFill>
              </a:rPr>
              <a:t>Heaters</a:t>
            </a:r>
            <a:endParaRPr b="1">
              <a:solidFill>
                <a:srgbClr val="20124D"/>
              </a:solidFill>
            </a:endParaRPr>
          </a:p>
        </p:txBody>
      </p:sp>
      <p:sp>
        <p:nvSpPr>
          <p:cNvPr id="204" name="Google Shape;204;p22"/>
          <p:cNvSpPr txBox="1">
            <a:spLocks noGrp="1"/>
          </p:cNvSpPr>
          <p:nvPr>
            <p:ph type="body" idx="1"/>
          </p:nvPr>
        </p:nvSpPr>
        <p:spPr>
          <a:xfrm>
            <a:off x="819150" y="1410150"/>
            <a:ext cx="3686100" cy="302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.</a:t>
            </a:r>
            <a:endParaRPr/>
          </a:p>
        </p:txBody>
      </p:sp>
      <p:sp>
        <p:nvSpPr>
          <p:cNvPr id="205" name="Google Shape;205;p22"/>
          <p:cNvSpPr txBox="1">
            <a:spLocks noGrp="1"/>
          </p:cNvSpPr>
          <p:nvPr>
            <p:ph type="body" idx="2"/>
          </p:nvPr>
        </p:nvSpPr>
        <p:spPr>
          <a:xfrm>
            <a:off x="4638675" y="953625"/>
            <a:ext cx="3686100" cy="34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just" rtl="0"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n" sz="1900" b="1">
                <a:solidFill>
                  <a:srgbClr val="000000"/>
                </a:solidFill>
              </a:rPr>
              <a:t>Heaters are designed to keep the organs at a specific Temperature during Transportation from the donar to the Recipient</a:t>
            </a:r>
            <a:endParaRPr sz="1700" b="1"/>
          </a:p>
        </p:txBody>
      </p:sp>
      <p:sp>
        <p:nvSpPr>
          <p:cNvPr id="206" name="Google Shape;206;p22"/>
          <p:cNvSpPr txBox="1"/>
          <p:nvPr/>
        </p:nvSpPr>
        <p:spPr>
          <a:xfrm>
            <a:off x="2810050" y="1562325"/>
            <a:ext cx="1146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100" y="1511600"/>
            <a:ext cx="3743751" cy="3165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8" name="Google Shape;208;p22"/>
          <p:cNvCxnSpPr/>
          <p:nvPr/>
        </p:nvCxnSpPr>
        <p:spPr>
          <a:xfrm rot="10800000" flipH="1">
            <a:off x="2678275" y="2039150"/>
            <a:ext cx="466800" cy="16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9" name="Google Shape;209;p22"/>
          <p:cNvSpPr txBox="1"/>
          <p:nvPr/>
        </p:nvSpPr>
        <p:spPr>
          <a:xfrm>
            <a:off x="3063775" y="1886975"/>
            <a:ext cx="5843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HEATER</a:t>
            </a:r>
            <a:endParaRPr sz="1700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"/>
          <p:cNvSpPr txBox="1">
            <a:spLocks noGrp="1"/>
          </p:cNvSpPr>
          <p:nvPr>
            <p:ph type="title"/>
          </p:nvPr>
        </p:nvSpPr>
        <p:spPr>
          <a:xfrm>
            <a:off x="819150" y="497100"/>
            <a:ext cx="75057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0124D"/>
                </a:solidFill>
              </a:rPr>
              <a:t>Reservoir</a:t>
            </a:r>
            <a:endParaRPr b="1">
              <a:solidFill>
                <a:srgbClr val="20124D"/>
              </a:solidFill>
            </a:endParaRPr>
          </a:p>
        </p:txBody>
      </p:sp>
      <p:sp>
        <p:nvSpPr>
          <p:cNvPr id="215" name="Google Shape;215;p23"/>
          <p:cNvSpPr txBox="1">
            <a:spLocks noGrp="1"/>
          </p:cNvSpPr>
          <p:nvPr>
            <p:ph type="body" idx="1"/>
          </p:nvPr>
        </p:nvSpPr>
        <p:spPr>
          <a:xfrm>
            <a:off x="819150" y="1227550"/>
            <a:ext cx="3686100" cy="32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.</a:t>
            </a:r>
            <a:endParaRPr/>
          </a:p>
        </p:txBody>
      </p:sp>
      <p:sp>
        <p:nvSpPr>
          <p:cNvPr id="216" name="Google Shape;216;p23"/>
          <p:cNvSpPr txBox="1">
            <a:spLocks noGrp="1"/>
          </p:cNvSpPr>
          <p:nvPr>
            <p:ph type="body" idx="2"/>
          </p:nvPr>
        </p:nvSpPr>
        <p:spPr>
          <a:xfrm>
            <a:off x="4638675" y="750725"/>
            <a:ext cx="3686100" cy="36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" sz="1900" b="1"/>
              <a:t>This Reservoir is designed to store and Protect the Liver during Transportation from the donal to the recipient.</a:t>
            </a:r>
            <a:endParaRPr sz="1900" b="1"/>
          </a:p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" sz="1900" b="1"/>
              <a:t>The preservation Fluid such as University of Wisconsin(UW) Solution or Euro-Collins Solution is used. </a:t>
            </a:r>
            <a:endParaRPr sz="1900" b="1"/>
          </a:p>
        </p:txBody>
      </p:sp>
      <p:sp>
        <p:nvSpPr>
          <p:cNvPr id="217" name="Google Shape;217;p23"/>
          <p:cNvSpPr txBox="1"/>
          <p:nvPr/>
        </p:nvSpPr>
        <p:spPr>
          <a:xfrm>
            <a:off x="2992775" y="1755075"/>
            <a:ext cx="5843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850" y="1288500"/>
            <a:ext cx="4299149" cy="3104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9" name="Google Shape;219;p23"/>
          <p:cNvCxnSpPr/>
          <p:nvPr/>
        </p:nvCxnSpPr>
        <p:spPr>
          <a:xfrm rot="10800000" flipH="1">
            <a:off x="2901450" y="2069675"/>
            <a:ext cx="71100" cy="31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0" name="Google Shape;220;p23"/>
          <p:cNvSpPr txBox="1"/>
          <p:nvPr/>
        </p:nvSpPr>
        <p:spPr>
          <a:xfrm>
            <a:off x="2830450" y="1846375"/>
            <a:ext cx="5843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RESERVOIR</a:t>
            </a:r>
            <a:endParaRPr sz="1600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4"/>
          <p:cNvSpPr txBox="1">
            <a:spLocks noGrp="1"/>
          </p:cNvSpPr>
          <p:nvPr>
            <p:ph type="title"/>
          </p:nvPr>
        </p:nvSpPr>
        <p:spPr>
          <a:xfrm>
            <a:off x="819150" y="578275"/>
            <a:ext cx="7505700" cy="5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20124D"/>
                </a:solidFill>
              </a:rPr>
              <a:t>ROTAFLOW PUMP</a:t>
            </a:r>
            <a:endParaRPr sz="2600" b="1">
              <a:solidFill>
                <a:srgbClr val="20124D"/>
              </a:solidFill>
            </a:endParaRPr>
          </a:p>
        </p:txBody>
      </p:sp>
      <p:sp>
        <p:nvSpPr>
          <p:cNvPr id="226" name="Google Shape;226;p24"/>
          <p:cNvSpPr txBox="1">
            <a:spLocks noGrp="1"/>
          </p:cNvSpPr>
          <p:nvPr>
            <p:ph type="body" idx="1"/>
          </p:nvPr>
        </p:nvSpPr>
        <p:spPr>
          <a:xfrm>
            <a:off x="819150" y="1227550"/>
            <a:ext cx="3686100" cy="32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.</a:t>
            </a:r>
            <a:endParaRPr/>
          </a:p>
        </p:txBody>
      </p:sp>
      <p:sp>
        <p:nvSpPr>
          <p:cNvPr id="227" name="Google Shape;227;p24"/>
          <p:cNvSpPr txBox="1">
            <a:spLocks noGrp="1"/>
          </p:cNvSpPr>
          <p:nvPr>
            <p:ph type="body" idx="2"/>
          </p:nvPr>
        </p:nvSpPr>
        <p:spPr>
          <a:xfrm>
            <a:off x="4638675" y="821750"/>
            <a:ext cx="3686100" cy="361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 sz="1800" b="1"/>
              <a:t>Rotaflow Pump is a Medical Device designed for Extracorporeal Life Support Systems(ECLS) such as Extracorporeal Membrane Oxygenation(ECMO)</a:t>
            </a:r>
            <a:endParaRPr sz="1800" b="1"/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 sz="1800" b="1"/>
              <a:t>Operates in the Principle of Centrifugal Force to facilitate the movement of blood or other Fluid through pump.</a:t>
            </a:r>
            <a:endParaRPr sz="1800" b="1"/>
          </a:p>
        </p:txBody>
      </p:sp>
      <p:pic>
        <p:nvPicPr>
          <p:cNvPr id="228" name="Google Shape;2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525" y="1095775"/>
            <a:ext cx="3592276" cy="35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45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>
                <a:solidFill>
                  <a:srgbClr val="4C1130"/>
                </a:solidFill>
              </a:rPr>
              <a:t>IV INFUSION PUMP</a:t>
            </a:r>
            <a:endParaRPr sz="2700" b="1">
              <a:solidFill>
                <a:srgbClr val="4C1130"/>
              </a:solidFill>
            </a:endParaRPr>
          </a:p>
        </p:txBody>
      </p:sp>
      <p:sp>
        <p:nvSpPr>
          <p:cNvPr id="234" name="Google Shape;234;p25"/>
          <p:cNvSpPr txBox="1">
            <a:spLocks noGrp="1"/>
          </p:cNvSpPr>
          <p:nvPr>
            <p:ph type="body" idx="1"/>
          </p:nvPr>
        </p:nvSpPr>
        <p:spPr>
          <a:xfrm>
            <a:off x="819150" y="1572900"/>
            <a:ext cx="3686100" cy="286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.</a:t>
            </a:r>
            <a:endParaRPr/>
          </a:p>
        </p:txBody>
      </p:sp>
      <p:sp>
        <p:nvSpPr>
          <p:cNvPr id="235" name="Google Shape;235;p25"/>
          <p:cNvSpPr txBox="1">
            <a:spLocks noGrp="1"/>
          </p:cNvSpPr>
          <p:nvPr>
            <p:ph type="body" idx="2"/>
          </p:nvPr>
        </p:nvSpPr>
        <p:spPr>
          <a:xfrm>
            <a:off x="4638750" y="1297400"/>
            <a:ext cx="3686100" cy="31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" sz="1900" b="1"/>
              <a:t>Used to deliver a Therapeutic solutions to the Preserved organs ensuring it receives essential Nutrients and Medications to maintain its Function during the Perfusion Process.</a:t>
            </a:r>
            <a:endParaRPr sz="1900" b="1"/>
          </a:p>
        </p:txBody>
      </p:sp>
      <p:pic>
        <p:nvPicPr>
          <p:cNvPr id="236" name="Google Shape;23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650" y="1519850"/>
            <a:ext cx="3501724" cy="2865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6"/>
          <p:cNvSpPr txBox="1">
            <a:spLocks noGrp="1"/>
          </p:cNvSpPr>
          <p:nvPr>
            <p:ph type="title"/>
          </p:nvPr>
        </p:nvSpPr>
        <p:spPr>
          <a:xfrm>
            <a:off x="819150" y="507250"/>
            <a:ext cx="7505700" cy="5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0124D"/>
                </a:solidFill>
              </a:rPr>
              <a:t>PV Pressure Monitor</a:t>
            </a:r>
            <a:endParaRPr b="1">
              <a:solidFill>
                <a:srgbClr val="20124D"/>
              </a:solidFill>
            </a:endParaRPr>
          </a:p>
        </p:txBody>
      </p:sp>
      <p:sp>
        <p:nvSpPr>
          <p:cNvPr id="242" name="Google Shape;242;p26"/>
          <p:cNvSpPr txBox="1">
            <a:spLocks noGrp="1"/>
          </p:cNvSpPr>
          <p:nvPr>
            <p:ph type="body" idx="1"/>
          </p:nvPr>
        </p:nvSpPr>
        <p:spPr>
          <a:xfrm>
            <a:off x="819150" y="1339125"/>
            <a:ext cx="3686100" cy="30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.</a:t>
            </a:r>
            <a:endParaRPr/>
          </a:p>
        </p:txBody>
      </p:sp>
      <p:sp>
        <p:nvSpPr>
          <p:cNvPr id="243" name="Google Shape;243;p26"/>
          <p:cNvSpPr txBox="1">
            <a:spLocks noGrp="1"/>
          </p:cNvSpPr>
          <p:nvPr>
            <p:ph type="body" idx="2"/>
          </p:nvPr>
        </p:nvSpPr>
        <p:spPr>
          <a:xfrm>
            <a:off x="4638675" y="994200"/>
            <a:ext cx="3686100" cy="344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just" rtl="0">
              <a:spcBef>
                <a:spcPts val="0"/>
              </a:spcBef>
              <a:spcAft>
                <a:spcPts val="0"/>
              </a:spcAft>
              <a:buSzPts val="2100"/>
              <a:buChar char="❖"/>
            </a:pPr>
            <a:r>
              <a:rPr lang="en" sz="2100" b="1"/>
              <a:t>Used to measure the Pressure Within the portal veins.</a:t>
            </a:r>
            <a:endParaRPr sz="2100" b="1"/>
          </a:p>
          <a:p>
            <a:pPr marL="457200" lvl="0" indent="-361950" algn="just" rtl="0">
              <a:spcBef>
                <a:spcPts val="0"/>
              </a:spcBef>
              <a:spcAft>
                <a:spcPts val="0"/>
              </a:spcAft>
              <a:buSzPts val="2100"/>
              <a:buChar char="❖"/>
            </a:pPr>
            <a:r>
              <a:rPr lang="en" sz="2100" b="1"/>
              <a:t>Changes in PV Pressure Indicate the Vascular Resistance and Congestion.</a:t>
            </a:r>
            <a:endParaRPr sz="2100" b="1"/>
          </a:p>
        </p:txBody>
      </p:sp>
      <p:pic>
        <p:nvPicPr>
          <p:cNvPr id="244" name="Google Shape;24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1207250"/>
            <a:ext cx="3337699" cy="358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title"/>
          </p:nvPr>
        </p:nvSpPr>
        <p:spPr>
          <a:xfrm>
            <a:off x="819150" y="405800"/>
            <a:ext cx="7505700" cy="50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0124D"/>
                </a:solidFill>
              </a:rPr>
              <a:t>Medication Probe</a:t>
            </a:r>
            <a:endParaRPr b="1">
              <a:solidFill>
                <a:srgbClr val="20124D"/>
              </a:solidFill>
            </a:endParaRPr>
          </a:p>
        </p:txBody>
      </p:sp>
      <p:sp>
        <p:nvSpPr>
          <p:cNvPr id="250" name="Google Shape;250;p27"/>
          <p:cNvSpPr txBox="1">
            <a:spLocks noGrp="1"/>
          </p:cNvSpPr>
          <p:nvPr>
            <p:ph type="body" idx="1"/>
          </p:nvPr>
        </p:nvSpPr>
        <p:spPr>
          <a:xfrm>
            <a:off x="819150" y="1308700"/>
            <a:ext cx="3686100" cy="312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.</a:t>
            </a:r>
            <a:endParaRPr/>
          </a:p>
        </p:txBody>
      </p:sp>
      <p:sp>
        <p:nvSpPr>
          <p:cNvPr id="251" name="Google Shape;251;p27"/>
          <p:cNvSpPr txBox="1">
            <a:spLocks noGrp="1"/>
          </p:cNvSpPr>
          <p:nvPr>
            <p:ph type="body" idx="2"/>
          </p:nvPr>
        </p:nvSpPr>
        <p:spPr>
          <a:xfrm>
            <a:off x="4638675" y="1176825"/>
            <a:ext cx="3686100" cy="32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" sz="1900" b="1"/>
              <a:t>Used to dilate the Blood vessels and improve Blood Flow through the organ.</a:t>
            </a:r>
            <a:endParaRPr sz="1900" b="1"/>
          </a:p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" sz="1900" b="1"/>
              <a:t>It maintains the Organ Functions and Reduce the risk of Ischemia</a:t>
            </a:r>
            <a:endParaRPr sz="1900" b="1"/>
          </a:p>
        </p:txBody>
      </p:sp>
      <p:pic>
        <p:nvPicPr>
          <p:cNvPr id="252" name="Google Shape;25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150" y="1308700"/>
            <a:ext cx="3520300" cy="276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8"/>
          <p:cNvSpPr txBox="1">
            <a:spLocks noGrp="1"/>
          </p:cNvSpPr>
          <p:nvPr>
            <p:ph type="title"/>
          </p:nvPr>
        </p:nvSpPr>
        <p:spPr>
          <a:xfrm>
            <a:off x="819150" y="339750"/>
            <a:ext cx="7505700" cy="59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0124D"/>
                </a:solidFill>
              </a:rPr>
              <a:t>PV Infection</a:t>
            </a:r>
            <a:endParaRPr b="1">
              <a:solidFill>
                <a:srgbClr val="20124D"/>
              </a:solidFill>
            </a:endParaRPr>
          </a:p>
        </p:txBody>
      </p:sp>
      <p:sp>
        <p:nvSpPr>
          <p:cNvPr id="258" name="Google Shape;258;p28"/>
          <p:cNvSpPr txBox="1">
            <a:spLocks noGrp="1"/>
          </p:cNvSpPr>
          <p:nvPr>
            <p:ph type="body" idx="1"/>
          </p:nvPr>
        </p:nvSpPr>
        <p:spPr>
          <a:xfrm>
            <a:off x="819150" y="1308700"/>
            <a:ext cx="3686100" cy="312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.</a:t>
            </a:r>
            <a:endParaRPr/>
          </a:p>
        </p:txBody>
      </p:sp>
      <p:sp>
        <p:nvSpPr>
          <p:cNvPr id="259" name="Google Shape;259;p28"/>
          <p:cNvSpPr txBox="1">
            <a:spLocks noGrp="1"/>
          </p:cNvSpPr>
          <p:nvPr>
            <p:ph type="body" idx="2"/>
          </p:nvPr>
        </p:nvSpPr>
        <p:spPr>
          <a:xfrm>
            <a:off x="4638675" y="1070525"/>
            <a:ext cx="3686100" cy="33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" sz="1900" b="1"/>
              <a:t>The discarded human organ is connected to perfusion machine through its blood vessels,Including the portal vein.</a:t>
            </a:r>
            <a:endParaRPr sz="1900" b="1"/>
          </a:p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" sz="1900" b="1"/>
              <a:t>The perfusion machine can deliver oxygen,Nutrients and other essential substances to the Organ.</a:t>
            </a:r>
            <a:endParaRPr sz="1900" b="1"/>
          </a:p>
        </p:txBody>
      </p:sp>
      <p:pic>
        <p:nvPicPr>
          <p:cNvPr id="260" name="Google Shape;26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050" y="1146375"/>
            <a:ext cx="3686099" cy="336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"/>
          <p:cNvSpPr txBox="1">
            <a:spLocks noGrp="1"/>
          </p:cNvSpPr>
          <p:nvPr>
            <p:ph type="title"/>
          </p:nvPr>
        </p:nvSpPr>
        <p:spPr>
          <a:xfrm>
            <a:off x="819150" y="334775"/>
            <a:ext cx="7505700" cy="5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0124D"/>
                </a:solidFill>
              </a:rPr>
              <a:t>HA Infusion</a:t>
            </a:r>
            <a:endParaRPr b="1">
              <a:solidFill>
                <a:srgbClr val="20124D"/>
              </a:solidFill>
            </a:endParaRPr>
          </a:p>
        </p:txBody>
      </p:sp>
      <p:sp>
        <p:nvSpPr>
          <p:cNvPr id="266" name="Google Shape;266;p29"/>
          <p:cNvSpPr txBox="1">
            <a:spLocks noGrp="1"/>
          </p:cNvSpPr>
          <p:nvPr>
            <p:ph type="body" idx="1"/>
          </p:nvPr>
        </p:nvSpPr>
        <p:spPr>
          <a:xfrm>
            <a:off x="819150" y="1136225"/>
            <a:ext cx="3686100" cy="33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.</a:t>
            </a:r>
            <a:endParaRPr/>
          </a:p>
        </p:txBody>
      </p:sp>
      <p:sp>
        <p:nvSpPr>
          <p:cNvPr id="267" name="Google Shape;267;p29"/>
          <p:cNvSpPr txBox="1">
            <a:spLocks noGrp="1"/>
          </p:cNvSpPr>
          <p:nvPr>
            <p:ph type="body" idx="2"/>
          </p:nvPr>
        </p:nvSpPr>
        <p:spPr>
          <a:xfrm>
            <a:off x="4638675" y="933325"/>
            <a:ext cx="3686100" cy="350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" sz="1900" b="1"/>
              <a:t>It reduces the Inflammation and oxidative Stress during Organ Preservation,potentialy improve Organ function.</a:t>
            </a:r>
            <a:endParaRPr sz="1900" b="1"/>
          </a:p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" sz="1900" b="1"/>
              <a:t>It is a hydsrophilic molecule which helps to maintain tissue hydration during PNMP.</a:t>
            </a:r>
            <a:endParaRPr sz="1900" b="1"/>
          </a:p>
        </p:txBody>
      </p:sp>
      <p:pic>
        <p:nvPicPr>
          <p:cNvPr id="268" name="Google Shape;26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1108438"/>
            <a:ext cx="3469600" cy="335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0"/>
          <p:cNvSpPr txBox="1">
            <a:spLocks noGrp="1"/>
          </p:cNvSpPr>
          <p:nvPr>
            <p:ph type="title"/>
          </p:nvPr>
        </p:nvSpPr>
        <p:spPr>
          <a:xfrm>
            <a:off x="819150" y="424800"/>
            <a:ext cx="7505700" cy="6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>
                <a:solidFill>
                  <a:srgbClr val="4C1130"/>
                </a:solidFill>
              </a:rPr>
              <a:t>AUXILIARY PORT</a:t>
            </a:r>
            <a:endParaRPr sz="2700" b="1">
              <a:solidFill>
                <a:srgbClr val="4C1130"/>
              </a:solidFill>
            </a:endParaRPr>
          </a:p>
        </p:txBody>
      </p:sp>
      <p:sp>
        <p:nvSpPr>
          <p:cNvPr id="274" name="Google Shape;274;p30"/>
          <p:cNvSpPr txBox="1">
            <a:spLocks noGrp="1"/>
          </p:cNvSpPr>
          <p:nvPr>
            <p:ph type="body" idx="1"/>
          </p:nvPr>
        </p:nvSpPr>
        <p:spPr>
          <a:xfrm>
            <a:off x="819150" y="1205500"/>
            <a:ext cx="36861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.</a:t>
            </a:r>
            <a:endParaRPr/>
          </a:p>
        </p:txBody>
      </p:sp>
      <p:sp>
        <p:nvSpPr>
          <p:cNvPr id="275" name="Google Shape;275;p30"/>
          <p:cNvSpPr txBox="1">
            <a:spLocks noGrp="1"/>
          </p:cNvSpPr>
          <p:nvPr>
            <p:ph type="body" idx="2"/>
          </p:nvPr>
        </p:nvSpPr>
        <p:spPr>
          <a:xfrm>
            <a:off x="4638675" y="1056300"/>
            <a:ext cx="3686100" cy="33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" sz="1900" b="1"/>
              <a:t>Allow medical Professional to take Samples of the Perfusion Solution</a:t>
            </a:r>
            <a:endParaRPr sz="1900" b="1"/>
          </a:p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" sz="1900" b="1"/>
              <a:t>Used to connect Various Monitoring devices to measure parameters such as Oxygen levels,Pressure and Temperature.</a:t>
            </a:r>
            <a:endParaRPr sz="1900" b="1"/>
          </a:p>
        </p:txBody>
      </p:sp>
      <p:pic>
        <p:nvPicPr>
          <p:cNvPr id="276" name="Google Shape;27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975" y="1416725"/>
            <a:ext cx="3871650" cy="323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1"/>
          <p:cNvSpPr txBox="1">
            <a:spLocks noGrp="1"/>
          </p:cNvSpPr>
          <p:nvPr>
            <p:ph type="title"/>
          </p:nvPr>
        </p:nvSpPr>
        <p:spPr>
          <a:xfrm>
            <a:off x="819150" y="497100"/>
            <a:ext cx="7505700" cy="60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0124D"/>
                </a:solidFill>
              </a:rPr>
              <a:t>Work Flow</a:t>
            </a:r>
            <a:endParaRPr b="1">
              <a:solidFill>
                <a:srgbClr val="20124D"/>
              </a:solidFill>
            </a:endParaRPr>
          </a:p>
        </p:txBody>
      </p:sp>
      <p:sp>
        <p:nvSpPr>
          <p:cNvPr id="282" name="Google Shape;282;p31"/>
          <p:cNvSpPr txBox="1">
            <a:spLocks noGrp="1"/>
          </p:cNvSpPr>
          <p:nvPr>
            <p:ph type="body" idx="1"/>
          </p:nvPr>
        </p:nvSpPr>
        <p:spPr>
          <a:xfrm>
            <a:off x="819150" y="1288400"/>
            <a:ext cx="7505700" cy="315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83" name="Google Shape;28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50" y="1004350"/>
            <a:ext cx="8278300" cy="392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2"/>
          <p:cNvSpPr txBox="1">
            <a:spLocks noGrp="1"/>
          </p:cNvSpPr>
          <p:nvPr>
            <p:ph type="title"/>
          </p:nvPr>
        </p:nvSpPr>
        <p:spPr>
          <a:xfrm>
            <a:off x="819150" y="497100"/>
            <a:ext cx="7505700" cy="59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4E13"/>
                </a:solidFill>
              </a:rPr>
              <a:t>Design Process</a:t>
            </a:r>
            <a:r>
              <a:rPr lang="en" b="1">
                <a:solidFill>
                  <a:srgbClr val="20124D"/>
                </a:solidFill>
              </a:rPr>
              <a:t>: Step 1 - Creating Sketch</a:t>
            </a:r>
            <a:endParaRPr b="1">
              <a:solidFill>
                <a:srgbClr val="20124D"/>
              </a:solidFill>
            </a:endParaRPr>
          </a:p>
        </p:txBody>
      </p:sp>
      <p:sp>
        <p:nvSpPr>
          <p:cNvPr id="289" name="Google Shape;289;p32"/>
          <p:cNvSpPr txBox="1">
            <a:spLocks noGrp="1"/>
          </p:cNvSpPr>
          <p:nvPr>
            <p:ph type="body" idx="1"/>
          </p:nvPr>
        </p:nvSpPr>
        <p:spPr>
          <a:xfrm>
            <a:off x="819150" y="1217400"/>
            <a:ext cx="7505700" cy="32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90" name="Google Shape;29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650" y="1217400"/>
            <a:ext cx="8227575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3"/>
          <p:cNvSpPr txBox="1">
            <a:spLocks noGrp="1"/>
          </p:cNvSpPr>
          <p:nvPr>
            <p:ph type="title"/>
          </p:nvPr>
        </p:nvSpPr>
        <p:spPr>
          <a:xfrm>
            <a:off x="819150" y="639125"/>
            <a:ext cx="7505700" cy="5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0124D"/>
                </a:solidFill>
              </a:rPr>
              <a:t>Step 2- Converting Sketch into Body</a:t>
            </a:r>
            <a:endParaRPr b="1">
              <a:solidFill>
                <a:srgbClr val="20124D"/>
              </a:solidFill>
            </a:endParaRPr>
          </a:p>
        </p:txBody>
      </p:sp>
      <p:sp>
        <p:nvSpPr>
          <p:cNvPr id="296" name="Google Shape;296;p33"/>
          <p:cNvSpPr txBox="1">
            <a:spLocks noGrp="1"/>
          </p:cNvSpPr>
          <p:nvPr>
            <p:ph type="body" idx="1"/>
          </p:nvPr>
        </p:nvSpPr>
        <p:spPr>
          <a:xfrm>
            <a:off x="819150" y="1493625"/>
            <a:ext cx="3686100" cy="29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.</a:t>
            </a:r>
            <a:endParaRPr/>
          </a:p>
        </p:txBody>
      </p:sp>
      <p:sp>
        <p:nvSpPr>
          <p:cNvPr id="297" name="Google Shape;297;p33"/>
          <p:cNvSpPr txBox="1">
            <a:spLocks noGrp="1"/>
          </p:cNvSpPr>
          <p:nvPr>
            <p:ph type="body" idx="2"/>
          </p:nvPr>
        </p:nvSpPr>
        <p:spPr>
          <a:xfrm>
            <a:off x="4638675" y="1552175"/>
            <a:ext cx="3686100" cy="288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.</a:t>
            </a:r>
            <a:endParaRPr/>
          </a:p>
        </p:txBody>
      </p:sp>
      <p:pic>
        <p:nvPicPr>
          <p:cNvPr id="298" name="Google Shape;298;p33"/>
          <p:cNvPicPr preferRelativeResize="0"/>
          <p:nvPr/>
        </p:nvPicPr>
        <p:blipFill rotWithShape="1">
          <a:blip r:embed="rId3">
            <a:alphaModFix/>
          </a:blip>
          <a:srcRect l="-10072" r="-3486"/>
          <a:stretch/>
        </p:blipFill>
        <p:spPr>
          <a:xfrm>
            <a:off x="514800" y="1400675"/>
            <a:ext cx="4186024" cy="339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3775" y="1405900"/>
            <a:ext cx="3761100" cy="317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4"/>
          <p:cNvSpPr txBox="1">
            <a:spLocks noGrp="1"/>
          </p:cNvSpPr>
          <p:nvPr>
            <p:ph type="title"/>
          </p:nvPr>
        </p:nvSpPr>
        <p:spPr>
          <a:xfrm>
            <a:off x="819150" y="294200"/>
            <a:ext cx="75057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0124D"/>
                </a:solidFill>
              </a:rPr>
              <a:t>Step -3 Assembling the Components</a:t>
            </a:r>
            <a:endParaRPr b="1">
              <a:solidFill>
                <a:srgbClr val="20124D"/>
              </a:solidFill>
            </a:endParaRPr>
          </a:p>
        </p:txBody>
      </p:sp>
      <p:sp>
        <p:nvSpPr>
          <p:cNvPr id="305" name="Google Shape;305;p34"/>
          <p:cNvSpPr txBox="1">
            <a:spLocks noGrp="1"/>
          </p:cNvSpPr>
          <p:nvPr>
            <p:ph type="body" idx="1"/>
          </p:nvPr>
        </p:nvSpPr>
        <p:spPr>
          <a:xfrm>
            <a:off x="819150" y="1308700"/>
            <a:ext cx="7505700" cy="312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06" name="Google Shape;30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925" y="821900"/>
            <a:ext cx="8673949" cy="4057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560</Words>
  <Application>Microsoft Office PowerPoint</Application>
  <PresentationFormat>On-screen Show (16:9)</PresentationFormat>
  <Paragraphs>83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Cambria</vt:lpstr>
      <vt:lpstr>Calibri</vt:lpstr>
      <vt:lpstr>Nunito</vt:lpstr>
      <vt:lpstr>Arial</vt:lpstr>
      <vt:lpstr>Shift</vt:lpstr>
      <vt:lpstr>.</vt:lpstr>
      <vt:lpstr>Working Principle- Normothermic Perfusion</vt:lpstr>
      <vt:lpstr>Features of PNMP</vt:lpstr>
      <vt:lpstr>LIVER PRESERVATION KIT</vt:lpstr>
      <vt:lpstr>Components Used:     </vt:lpstr>
      <vt:lpstr>CLEANSER UNIT</vt:lpstr>
      <vt:lpstr>AIR FILTERS</vt:lpstr>
      <vt:lpstr>PMS UNIT</vt:lpstr>
      <vt:lpstr>Heaters</vt:lpstr>
      <vt:lpstr>Reservoir</vt:lpstr>
      <vt:lpstr>ROTAFLOW PUMP</vt:lpstr>
      <vt:lpstr>IV INFUSION PUMP</vt:lpstr>
      <vt:lpstr>PV Pressure Monitor</vt:lpstr>
      <vt:lpstr>Medication Probe</vt:lpstr>
      <vt:lpstr>PV Infection</vt:lpstr>
      <vt:lpstr>HA Infusion</vt:lpstr>
      <vt:lpstr>AUXILIARY PORT</vt:lpstr>
      <vt:lpstr>Work Flow</vt:lpstr>
      <vt:lpstr>Design Process: Step 1 - Creating Sketch</vt:lpstr>
      <vt:lpstr>Step 2- Converting Sketch into Body</vt:lpstr>
      <vt:lpstr>Step -3 Assembling the Components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.</dc:title>
  <cp:lastModifiedBy>Sukesh Periyasamy</cp:lastModifiedBy>
  <cp:revision>2</cp:revision>
  <dcterms:modified xsi:type="dcterms:W3CDTF">2024-03-01T05:37:47Z</dcterms:modified>
</cp:coreProperties>
</file>
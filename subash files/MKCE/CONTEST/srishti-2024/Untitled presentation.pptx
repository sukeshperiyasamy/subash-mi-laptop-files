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Nunito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font" Target="fonts/font1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4.fnt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3.fntdata" /><Relationship Id="rId28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2.fntdata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69ec8762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69ec8762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69ec87629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69ec87629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bc3fd0655f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bc3fd0655f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bc3fd065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bc3fd065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bc3fd0655f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bc3fd0655f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bc3fd0655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bc3fd0655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c3fd0655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bc3fd0655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bc3fd0655f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bc3fd0655f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bc3fd0655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bc3fd0655f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bc3fd0655f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bc3fd0655f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bc3fd0655f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bc3fd0655f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bc3fd0655f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bc3fd0655f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bc3fd0655f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bc3fd0655f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bc3fd0655f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bc3fd0655f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bc3fd0655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bc3fd0655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bc3fd0655f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bc3fd0655f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bc3fd0655f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bc3fd0655f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9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4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4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4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4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4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3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3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6.pn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title" idx="4294967295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750" y="326425"/>
            <a:ext cx="1139125" cy="120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6550" y="253625"/>
            <a:ext cx="1227925" cy="127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3"/>
          <p:cNvSpPr txBox="1"/>
          <p:nvPr/>
        </p:nvSpPr>
        <p:spPr>
          <a:xfrm>
            <a:off x="1318850" y="1953800"/>
            <a:ext cx="5985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0000"/>
                </a:solidFill>
              </a:rPr>
              <a:t>  </a:t>
            </a:r>
            <a:r>
              <a:rPr lang="en" sz="6000" b="1">
                <a:solidFill>
                  <a:srgbClr val="FF0000"/>
                </a:solidFill>
              </a:rPr>
              <a:t>SRISHTI 2024</a:t>
            </a:r>
            <a:endParaRPr b="1"/>
          </a:p>
        </p:txBody>
      </p:sp>
      <p:sp>
        <p:nvSpPr>
          <p:cNvPr id="133" name="Google Shape;133;p13"/>
          <p:cNvSpPr txBox="1"/>
          <p:nvPr/>
        </p:nvSpPr>
        <p:spPr>
          <a:xfrm>
            <a:off x="1156550" y="2931875"/>
            <a:ext cx="61479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300" b="1">
                <a:latin typeface="Times New Roman"/>
                <a:ea typeface="Times New Roman"/>
                <a:cs typeface="Times New Roman"/>
                <a:sym typeface="Times New Roman"/>
              </a:rPr>
              <a:t>     10</a:t>
            </a:r>
            <a:r>
              <a:rPr lang="en" sz="2300" b="1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" sz="2300" b="1">
                <a:latin typeface="Times New Roman"/>
                <a:ea typeface="Times New Roman"/>
                <a:cs typeface="Times New Roman"/>
                <a:sym typeface="Times New Roman"/>
              </a:rPr>
              <a:t> NATIONAL LEVEL TECHNICAL  PROJECT EXHIBITION &amp; COMPETITION </a:t>
            </a:r>
            <a:endParaRPr sz="23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>
            <a:spLocks noGrp="1"/>
          </p:cNvSpPr>
          <p:nvPr>
            <p:ph type="body" idx="1"/>
          </p:nvPr>
        </p:nvSpPr>
        <p:spPr>
          <a:xfrm>
            <a:off x="326775" y="1055075"/>
            <a:ext cx="8418600" cy="3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91" b="1">
                <a:solidFill>
                  <a:srgbClr val="0C343D"/>
                </a:solidFill>
                <a:latin typeface="Cambria"/>
                <a:ea typeface="Cambria"/>
                <a:cs typeface="Cambria"/>
                <a:sym typeface="Cambria"/>
              </a:rPr>
              <a:t>PROLONGED PRESERVATION OF HUMAN LIVER USING   NORMOTHERMIC MACHINE PERFUSION PROCESS</a:t>
            </a:r>
            <a:endParaRPr sz="2891" b="1">
              <a:solidFill>
                <a:srgbClr val="0C34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68" b="1">
                <a:solidFill>
                  <a:srgbClr val="000000"/>
                </a:solidFill>
              </a:rPr>
              <a:t>TEAM MEMBERS                                                           </a:t>
            </a:r>
            <a:endParaRPr sz="2268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68">
                <a:solidFill>
                  <a:srgbClr val="000000"/>
                </a:solidFill>
              </a:rPr>
              <a:t>VISHWA B</a:t>
            </a:r>
            <a:endParaRPr sz="2268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68">
                <a:solidFill>
                  <a:srgbClr val="000000"/>
                </a:solidFill>
              </a:rPr>
              <a:t>YUVAPRABHA B </a:t>
            </a:r>
            <a:endParaRPr sz="2268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68">
                <a:solidFill>
                  <a:srgbClr val="000000"/>
                </a:solidFill>
              </a:rPr>
              <a:t>PRADEEP V</a:t>
            </a:r>
            <a:endParaRPr sz="2268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68">
                <a:solidFill>
                  <a:srgbClr val="000000"/>
                </a:solidFill>
              </a:rPr>
              <a:t>SUBHASH P</a:t>
            </a:r>
            <a:endParaRPr sz="2268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68">
                <a:solidFill>
                  <a:srgbClr val="000000"/>
                </a:solidFill>
              </a:rPr>
              <a:t>SANJEEVADHARSH B R</a:t>
            </a:r>
            <a:endParaRPr sz="2268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68" b="1">
              <a:solidFill>
                <a:srgbClr val="20124D"/>
              </a:solidFill>
            </a:endParaRPr>
          </a:p>
        </p:txBody>
      </p:sp>
      <p:sp>
        <p:nvSpPr>
          <p:cNvPr id="139" name="Google Shape;139;p14"/>
          <p:cNvSpPr txBox="1">
            <a:spLocks noGrp="1"/>
          </p:cNvSpPr>
          <p:nvPr>
            <p:ph type="title"/>
          </p:nvPr>
        </p:nvSpPr>
        <p:spPr>
          <a:xfrm>
            <a:off x="555375" y="449925"/>
            <a:ext cx="7505700" cy="5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</p:txBody>
      </p:sp>
      <p:pic>
        <p:nvPicPr>
          <p:cNvPr id="140" name="Google Shape;14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225" y="234475"/>
            <a:ext cx="2907324" cy="8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C1130"/>
                </a:solidFill>
              </a:rPr>
              <a:t>Working Principle- Normothermic Perfusion</a:t>
            </a:r>
            <a:endParaRPr b="1">
              <a:solidFill>
                <a:srgbClr val="4C1130"/>
              </a:solidFill>
            </a:endParaRPr>
          </a:p>
        </p:txBody>
      </p:sp>
      <p:sp>
        <p:nvSpPr>
          <p:cNvPr id="146" name="Google Shape;146;p15"/>
          <p:cNvSpPr txBox="1">
            <a:spLocks noGrp="1"/>
          </p:cNvSpPr>
          <p:nvPr>
            <p:ph type="body" idx="1"/>
          </p:nvPr>
        </p:nvSpPr>
        <p:spPr>
          <a:xfrm>
            <a:off x="819150" y="1559175"/>
            <a:ext cx="7505700" cy="28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" sz="2100"/>
              <a:t>It is used in the field of </a:t>
            </a:r>
            <a:r>
              <a:rPr lang="en" sz="2100" b="1"/>
              <a:t>Organ Transplantation</a:t>
            </a:r>
            <a:r>
              <a:rPr lang="en" sz="2100"/>
              <a:t> to preserve and assess  Human Organs</a:t>
            </a:r>
            <a:endParaRPr sz="2100"/>
          </a:p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" sz="2100"/>
              <a:t>Normothermic Perfusion maintains </a:t>
            </a:r>
            <a:r>
              <a:rPr lang="en" sz="2100" b="1"/>
              <a:t>Normal Temperature,Essential Substrates for Cellular Metabolism,Oxygen and Nutrition.</a:t>
            </a:r>
            <a:endParaRPr sz="2100" b="1"/>
          </a:p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" sz="2100"/>
              <a:t>It provides continuous organ assessment for Real time Monitoring of Organ Function and Viability.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C1130"/>
                </a:solidFill>
              </a:rPr>
              <a:t>Features of PNMP</a:t>
            </a:r>
            <a:endParaRPr b="1">
              <a:solidFill>
                <a:srgbClr val="4C1130"/>
              </a:solidFill>
            </a:endParaRPr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1"/>
          </p:nvPr>
        </p:nvSpPr>
        <p:spPr>
          <a:xfrm>
            <a:off x="819150" y="1623200"/>
            <a:ext cx="75057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/>
              <a:t>PNMP Preserrves and assesses discarded human livers for Transplantation</a:t>
            </a:r>
            <a:endParaRPr sz="1900"/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/>
              <a:t>Cold storage methods have limitations leading to the discard of viable organs</a:t>
            </a:r>
            <a:endParaRPr sz="1900"/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/>
              <a:t>PNMP involves conditions oxygenated perfusion at normal Body Temperature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819150" y="426100"/>
            <a:ext cx="75057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Components Used:</a:t>
            </a:r>
            <a:endParaRPr b="1">
              <a:solidFill>
                <a:srgbClr val="20124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20124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20124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  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25" y="1237675"/>
            <a:ext cx="3411576" cy="293190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>
            <a:spLocks noGrp="1"/>
          </p:cNvSpPr>
          <p:nvPr>
            <p:ph type="body" idx="2"/>
          </p:nvPr>
        </p:nvSpPr>
        <p:spPr>
          <a:xfrm>
            <a:off x="4638675" y="1237675"/>
            <a:ext cx="3686100" cy="32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073763"/>
                </a:solidFill>
              </a:rPr>
              <a:t>Organ Basin:</a:t>
            </a:r>
            <a:endParaRPr sz="2300" b="1">
              <a:solidFill>
                <a:srgbClr val="073763"/>
              </a:solidFill>
            </a:endParaRPr>
          </a:p>
          <a:p>
            <a:pPr marL="457200" lvl="0" indent="-361950" algn="just" rtl="0">
              <a:spcBef>
                <a:spcPts val="1200"/>
              </a:spcBef>
              <a:spcAft>
                <a:spcPts val="0"/>
              </a:spcAft>
              <a:buSzPts val="2100"/>
              <a:buChar char="❖"/>
            </a:pPr>
            <a:r>
              <a:rPr lang="en" sz="2100" b="1">
                <a:solidFill>
                  <a:srgbClr val="000000"/>
                </a:solidFill>
              </a:rPr>
              <a:t>Used to hold the Organs and protects the organs from Physical Trauma.</a:t>
            </a:r>
            <a:endParaRPr sz="2100" b="1">
              <a:solidFill>
                <a:srgbClr val="000000"/>
              </a:solidFill>
            </a:endParaRPr>
          </a:p>
          <a:p>
            <a:pPr marL="45720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sz="2300">
              <a:solidFill>
                <a:srgbClr val="000000"/>
              </a:solidFill>
            </a:endParaRPr>
          </a:p>
        </p:txBody>
      </p:sp>
      <p:cxnSp>
        <p:nvCxnSpPr>
          <p:cNvPr id="161" name="Google Shape;161;p17"/>
          <p:cNvCxnSpPr/>
          <p:nvPr/>
        </p:nvCxnSpPr>
        <p:spPr>
          <a:xfrm rot="10800000" flipH="1">
            <a:off x="2536250" y="1521875"/>
            <a:ext cx="446400" cy="36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2" name="Google Shape;162;p17"/>
          <p:cNvSpPr txBox="1"/>
          <p:nvPr/>
        </p:nvSpPr>
        <p:spPr>
          <a:xfrm>
            <a:off x="2901450" y="1294975"/>
            <a:ext cx="1288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Organ Basin</a:t>
            </a:r>
            <a:endParaRPr sz="1700" b="1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880000" y="598550"/>
            <a:ext cx="7505700" cy="5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20124D"/>
                </a:solidFill>
              </a:rPr>
              <a:t>CLEANSER UNIT</a:t>
            </a:r>
            <a:endParaRPr sz="2800" b="1">
              <a:solidFill>
                <a:srgbClr val="20124D"/>
              </a:solidFill>
            </a:endParaRPr>
          </a:p>
        </p:txBody>
      </p:sp>
      <p:sp>
        <p:nvSpPr>
          <p:cNvPr id="168" name="Google Shape;168;p18"/>
          <p:cNvSpPr txBox="1">
            <a:spLocks noGrp="1"/>
          </p:cNvSpPr>
          <p:nvPr>
            <p:ph type="body" idx="1"/>
          </p:nvPr>
        </p:nvSpPr>
        <p:spPr>
          <a:xfrm>
            <a:off x="819150" y="1460875"/>
            <a:ext cx="3686100" cy="29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body" idx="2"/>
          </p:nvPr>
        </p:nvSpPr>
        <p:spPr>
          <a:xfrm>
            <a:off x="4392775" y="1075375"/>
            <a:ext cx="4484100" cy="33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Responsible for Cleaning and Filtering the organ Basin before and after it is used to preserve the organ.</a:t>
            </a:r>
            <a:endParaRPr sz="1900" b="1"/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Cleanser unit typically consists of filters and purification mechanisms that remove the unwanted particles,Bacteria and Other Contaminants from the Basin</a:t>
            </a:r>
            <a:endParaRPr sz="1900" b="1"/>
          </a:p>
        </p:txBody>
      </p:sp>
      <p:sp>
        <p:nvSpPr>
          <p:cNvPr id="170" name="Google Shape;170;p18"/>
          <p:cNvSpPr txBox="1">
            <a:spLocks noGrp="1"/>
          </p:cNvSpPr>
          <p:nvPr>
            <p:ph type="body" idx="1"/>
          </p:nvPr>
        </p:nvSpPr>
        <p:spPr>
          <a:xfrm>
            <a:off x="819150" y="1460875"/>
            <a:ext cx="2944500" cy="29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pic>
        <p:nvPicPr>
          <p:cNvPr id="171" name="Google Shape;17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225" y="1521750"/>
            <a:ext cx="3099475" cy="280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/>
          <p:nvPr/>
        </p:nvCxnSpPr>
        <p:spPr>
          <a:xfrm rot="10800000" flipH="1">
            <a:off x="2617400" y="2171100"/>
            <a:ext cx="426000" cy="37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3" name="Google Shape;173;p18"/>
          <p:cNvSpPr txBox="1"/>
          <p:nvPr/>
        </p:nvSpPr>
        <p:spPr>
          <a:xfrm>
            <a:off x="3013050" y="2079725"/>
            <a:ext cx="1625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CLEANSER UNIT</a:t>
            </a:r>
            <a:endParaRPr sz="16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>
            <a:spLocks noGrp="1"/>
          </p:cNvSpPr>
          <p:nvPr>
            <p:ph type="title"/>
          </p:nvPr>
        </p:nvSpPr>
        <p:spPr>
          <a:xfrm>
            <a:off x="568125" y="466675"/>
            <a:ext cx="77568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 b="1">
                <a:solidFill>
                  <a:srgbClr val="20124D"/>
                </a:solidFill>
              </a:rPr>
              <a:t>AIR FILTERS</a:t>
            </a:r>
            <a:endParaRPr sz="2200" b="1">
              <a:solidFill>
                <a:srgbClr val="20124D"/>
              </a:solidFill>
            </a:endParaRPr>
          </a:p>
        </p:txBody>
      </p:sp>
      <p:sp>
        <p:nvSpPr>
          <p:cNvPr id="179" name="Google Shape;179;p19"/>
          <p:cNvSpPr txBox="1">
            <a:spLocks noGrp="1"/>
          </p:cNvSpPr>
          <p:nvPr>
            <p:ph type="body" idx="1"/>
          </p:nvPr>
        </p:nvSpPr>
        <p:spPr>
          <a:xfrm>
            <a:off x="819150" y="1349275"/>
            <a:ext cx="3686100" cy="24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body" idx="2"/>
          </p:nvPr>
        </p:nvSpPr>
        <p:spPr>
          <a:xfrm>
            <a:off x="4159450" y="1262625"/>
            <a:ext cx="4165200" cy="31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Air Filters remove the Carbondioxide and other waste gases from the perfusion System</a:t>
            </a:r>
            <a:endParaRPr sz="1900" b="1"/>
          </a:p>
          <a:p>
            <a:pPr marL="457200" lvl="0" indent="-368300" algn="just" rtl="0"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" sz="1900" b="1"/>
              <a:t>It Maintains the Sterile Environment for the organ during the Perfusion Process.</a:t>
            </a:r>
            <a:r>
              <a:rPr lang="en" sz="2200" b="1"/>
              <a:t>    </a:t>
            </a:r>
            <a:endParaRPr sz="2200" b="1"/>
          </a:p>
        </p:txBody>
      </p:sp>
      <p:pic>
        <p:nvPicPr>
          <p:cNvPr id="181" name="Google Shape;18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000" y="892750"/>
            <a:ext cx="3492450" cy="38956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p19"/>
          <p:cNvCxnSpPr/>
          <p:nvPr/>
        </p:nvCxnSpPr>
        <p:spPr>
          <a:xfrm rot="10800000" flipH="1">
            <a:off x="2597100" y="1917300"/>
            <a:ext cx="486900" cy="40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3" name="Google Shape;183;p19"/>
          <p:cNvSpPr txBox="1"/>
          <p:nvPr/>
        </p:nvSpPr>
        <p:spPr>
          <a:xfrm>
            <a:off x="2992775" y="1694200"/>
            <a:ext cx="11262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AIR FILTER</a:t>
            </a:r>
            <a:endParaRPr sz="17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>
            <a:spLocks noGrp="1"/>
          </p:cNvSpPr>
          <p:nvPr>
            <p:ph type="title"/>
          </p:nvPr>
        </p:nvSpPr>
        <p:spPr>
          <a:xfrm>
            <a:off x="819150" y="436225"/>
            <a:ext cx="7505700" cy="5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Heaters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189" name="Google Shape;189;p20"/>
          <p:cNvSpPr txBox="1">
            <a:spLocks noGrp="1"/>
          </p:cNvSpPr>
          <p:nvPr>
            <p:ph type="body" idx="1"/>
          </p:nvPr>
        </p:nvSpPr>
        <p:spPr>
          <a:xfrm>
            <a:off x="819150" y="1410150"/>
            <a:ext cx="3686100" cy="30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190" name="Google Shape;190;p20"/>
          <p:cNvSpPr txBox="1">
            <a:spLocks noGrp="1"/>
          </p:cNvSpPr>
          <p:nvPr>
            <p:ph type="body" idx="2"/>
          </p:nvPr>
        </p:nvSpPr>
        <p:spPr>
          <a:xfrm>
            <a:off x="4638675" y="953625"/>
            <a:ext cx="3686100" cy="34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just" rtl="0"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" sz="1900" b="1">
                <a:solidFill>
                  <a:srgbClr val="000000"/>
                </a:solidFill>
              </a:rPr>
              <a:t>Heaters are designed to keep the organs at a specific Temperature during Transportation from the donar to the Recipient</a:t>
            </a:r>
            <a:endParaRPr sz="1700" b="1"/>
          </a:p>
        </p:txBody>
      </p:sp>
      <p:sp>
        <p:nvSpPr>
          <p:cNvPr id="191" name="Google Shape;191;p20"/>
          <p:cNvSpPr txBox="1"/>
          <p:nvPr/>
        </p:nvSpPr>
        <p:spPr>
          <a:xfrm>
            <a:off x="2810050" y="1562325"/>
            <a:ext cx="1146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00" y="1511600"/>
            <a:ext cx="3743751" cy="3165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20"/>
          <p:cNvCxnSpPr/>
          <p:nvPr/>
        </p:nvCxnSpPr>
        <p:spPr>
          <a:xfrm rot="10800000" flipH="1">
            <a:off x="2678275" y="2039150"/>
            <a:ext cx="466800" cy="16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4" name="Google Shape;194;p20"/>
          <p:cNvSpPr txBox="1"/>
          <p:nvPr/>
        </p:nvSpPr>
        <p:spPr>
          <a:xfrm>
            <a:off x="3063775" y="1886975"/>
            <a:ext cx="5843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HEATER</a:t>
            </a:r>
            <a:endParaRPr sz="17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>
            <a:spLocks noGrp="1"/>
          </p:cNvSpPr>
          <p:nvPr>
            <p:ph type="title"/>
          </p:nvPr>
        </p:nvSpPr>
        <p:spPr>
          <a:xfrm>
            <a:off x="819150" y="497100"/>
            <a:ext cx="75057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Reservoir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00" name="Google Shape;200;p21"/>
          <p:cNvSpPr txBox="1">
            <a:spLocks noGrp="1"/>
          </p:cNvSpPr>
          <p:nvPr>
            <p:ph type="body" idx="1"/>
          </p:nvPr>
        </p:nvSpPr>
        <p:spPr>
          <a:xfrm>
            <a:off x="819150" y="1227550"/>
            <a:ext cx="3686100" cy="32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01" name="Google Shape;201;p21"/>
          <p:cNvSpPr txBox="1">
            <a:spLocks noGrp="1"/>
          </p:cNvSpPr>
          <p:nvPr>
            <p:ph type="body" idx="2"/>
          </p:nvPr>
        </p:nvSpPr>
        <p:spPr>
          <a:xfrm>
            <a:off x="4638675" y="750725"/>
            <a:ext cx="3686100" cy="36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This Reservoir is designed to store and Protect the Liver during Transportation from the donal to the recipient.</a:t>
            </a:r>
            <a:endParaRPr sz="1900" b="1"/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The preservation Fluid such as University of Wisconsin(UW) Solution or Euro-Collins Solution is used. </a:t>
            </a:r>
            <a:endParaRPr sz="1900" b="1"/>
          </a:p>
        </p:txBody>
      </p:sp>
      <p:sp>
        <p:nvSpPr>
          <p:cNvPr id="202" name="Google Shape;202;p21"/>
          <p:cNvSpPr txBox="1"/>
          <p:nvPr/>
        </p:nvSpPr>
        <p:spPr>
          <a:xfrm>
            <a:off x="2992775" y="1755075"/>
            <a:ext cx="5843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850" y="1288500"/>
            <a:ext cx="4299149" cy="3104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21"/>
          <p:cNvCxnSpPr/>
          <p:nvPr/>
        </p:nvCxnSpPr>
        <p:spPr>
          <a:xfrm rot="10800000" flipH="1">
            <a:off x="2901450" y="2069675"/>
            <a:ext cx="71100" cy="31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5" name="Google Shape;205;p21"/>
          <p:cNvSpPr txBox="1"/>
          <p:nvPr/>
        </p:nvSpPr>
        <p:spPr>
          <a:xfrm>
            <a:off x="2830450" y="1846375"/>
            <a:ext cx="5843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RESERVOIR</a:t>
            </a:r>
            <a:endParaRPr sz="16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>
            <a:spLocks noGrp="1"/>
          </p:cNvSpPr>
          <p:nvPr>
            <p:ph type="title"/>
          </p:nvPr>
        </p:nvSpPr>
        <p:spPr>
          <a:xfrm>
            <a:off x="819150" y="578275"/>
            <a:ext cx="7505700" cy="5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20124D"/>
                </a:solidFill>
              </a:rPr>
              <a:t>ROTAFLOW PUMP</a:t>
            </a:r>
            <a:endParaRPr sz="2600" b="1">
              <a:solidFill>
                <a:srgbClr val="20124D"/>
              </a:solidFill>
            </a:endParaRPr>
          </a:p>
        </p:txBody>
      </p:sp>
      <p:sp>
        <p:nvSpPr>
          <p:cNvPr id="211" name="Google Shape;211;p22"/>
          <p:cNvSpPr txBox="1">
            <a:spLocks noGrp="1"/>
          </p:cNvSpPr>
          <p:nvPr>
            <p:ph type="body" idx="1"/>
          </p:nvPr>
        </p:nvSpPr>
        <p:spPr>
          <a:xfrm>
            <a:off x="819150" y="1227550"/>
            <a:ext cx="3686100" cy="32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12" name="Google Shape;212;p22"/>
          <p:cNvSpPr txBox="1">
            <a:spLocks noGrp="1"/>
          </p:cNvSpPr>
          <p:nvPr>
            <p:ph type="body" idx="2"/>
          </p:nvPr>
        </p:nvSpPr>
        <p:spPr>
          <a:xfrm>
            <a:off x="4638675" y="821750"/>
            <a:ext cx="3686100" cy="361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sz="1800" b="1"/>
              <a:t>Rotaflow Pump is a Medical Device designed for Extracorporeal Life Support Systems(ECLS) such as Extracorporeal Membrane Oxygenation(ECMO)</a:t>
            </a:r>
            <a:endParaRPr sz="1800" b="1"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 sz="1800" b="1"/>
              <a:t>Operates in the Principle of Centrifugal Force to facilitate the movement of blood or other Fluid through pump.</a:t>
            </a:r>
            <a:endParaRPr sz="1800" b="1"/>
          </a:p>
        </p:txBody>
      </p:sp>
      <p:pic>
        <p:nvPicPr>
          <p:cNvPr id="213" name="Google Shape;2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525" y="1095775"/>
            <a:ext cx="3592276" cy="35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>
            <a:spLocks noGrp="1"/>
          </p:cNvSpPr>
          <p:nvPr>
            <p:ph type="title"/>
          </p:nvPr>
        </p:nvSpPr>
        <p:spPr>
          <a:xfrm>
            <a:off x="819150" y="507250"/>
            <a:ext cx="75057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PV Pressure Monitor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19" name="Google Shape;219;p23"/>
          <p:cNvSpPr txBox="1">
            <a:spLocks noGrp="1"/>
          </p:cNvSpPr>
          <p:nvPr>
            <p:ph type="body" idx="1"/>
          </p:nvPr>
        </p:nvSpPr>
        <p:spPr>
          <a:xfrm>
            <a:off x="819150" y="1339125"/>
            <a:ext cx="3686100" cy="30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20" name="Google Shape;220;p23"/>
          <p:cNvSpPr txBox="1">
            <a:spLocks noGrp="1"/>
          </p:cNvSpPr>
          <p:nvPr>
            <p:ph type="body" idx="2"/>
          </p:nvPr>
        </p:nvSpPr>
        <p:spPr>
          <a:xfrm>
            <a:off x="4638675" y="994200"/>
            <a:ext cx="3686100" cy="3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" sz="2100" b="1"/>
              <a:t>Used to measure the Pressure Within the portal veins.</a:t>
            </a:r>
            <a:endParaRPr sz="2100" b="1"/>
          </a:p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SzPts val="2100"/>
              <a:buChar char="❖"/>
            </a:pPr>
            <a:r>
              <a:rPr lang="en" sz="2100" b="1"/>
              <a:t>Changes in PV Pressure Indicate the Vascular Resistance and Congestion.</a:t>
            </a:r>
            <a:endParaRPr sz="2100" b="1"/>
          </a:p>
        </p:txBody>
      </p:sp>
      <p:pic>
        <p:nvPicPr>
          <p:cNvPr id="221" name="Google Shape;2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207250"/>
            <a:ext cx="3337699" cy="35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>
            <a:spLocks noGrp="1"/>
          </p:cNvSpPr>
          <p:nvPr>
            <p:ph type="title"/>
          </p:nvPr>
        </p:nvSpPr>
        <p:spPr>
          <a:xfrm>
            <a:off x="819150" y="405800"/>
            <a:ext cx="7505700" cy="5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Medication Probe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27" name="Google Shape;227;p24"/>
          <p:cNvSpPr txBox="1">
            <a:spLocks noGrp="1"/>
          </p:cNvSpPr>
          <p:nvPr>
            <p:ph type="body" idx="1"/>
          </p:nvPr>
        </p:nvSpPr>
        <p:spPr>
          <a:xfrm>
            <a:off x="819150" y="1308700"/>
            <a:ext cx="3686100" cy="31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body" idx="2"/>
          </p:nvPr>
        </p:nvSpPr>
        <p:spPr>
          <a:xfrm>
            <a:off x="4638675" y="1176825"/>
            <a:ext cx="3686100" cy="32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Used to dilate the Blood vessels and improve Blood Flow through the organ.</a:t>
            </a:r>
            <a:endParaRPr sz="1900" b="1"/>
          </a:p>
          <a:p>
            <a:pPr marL="457200" lvl="0" indent="-349250" algn="just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 b="1"/>
              <a:t>It maintains the Organ Functions and Reduce the risk of Ischemia</a:t>
            </a:r>
            <a:endParaRPr sz="1900" b="1"/>
          </a:p>
        </p:txBody>
      </p:sp>
      <p:pic>
        <p:nvPicPr>
          <p:cNvPr id="229" name="Google Shape;2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150" y="1308700"/>
            <a:ext cx="3520300" cy="276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>
            <a:spLocks noGrp="1"/>
          </p:cNvSpPr>
          <p:nvPr>
            <p:ph type="title"/>
          </p:nvPr>
        </p:nvSpPr>
        <p:spPr>
          <a:xfrm>
            <a:off x="819150" y="415950"/>
            <a:ext cx="7505700" cy="5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PV Infection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35" name="Google Shape;235;p25"/>
          <p:cNvSpPr txBox="1">
            <a:spLocks noGrp="1"/>
          </p:cNvSpPr>
          <p:nvPr>
            <p:ph type="body" idx="1"/>
          </p:nvPr>
        </p:nvSpPr>
        <p:spPr>
          <a:xfrm>
            <a:off x="819150" y="1308700"/>
            <a:ext cx="3686100" cy="31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36" name="Google Shape;236;p25"/>
          <p:cNvSpPr txBox="1">
            <a:spLocks noGrp="1"/>
          </p:cNvSpPr>
          <p:nvPr>
            <p:ph type="body" idx="2"/>
          </p:nvPr>
        </p:nvSpPr>
        <p:spPr>
          <a:xfrm>
            <a:off x="4638675" y="1070525"/>
            <a:ext cx="3686100" cy="33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/>
              <a:t>The discarded human organ is connected to perfusion machine through its blood vessels,Including the portal vein.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/>
              <a:t>The perfusion machine can deliver oxygen,Nutrients and other essential substances to the Organ.</a:t>
            </a:r>
            <a:endParaRPr sz="1900"/>
          </a:p>
        </p:txBody>
      </p:sp>
      <p:pic>
        <p:nvPicPr>
          <p:cNvPr id="237" name="Google Shape;2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050" y="1146375"/>
            <a:ext cx="3686099" cy="33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>
            <a:spLocks noGrp="1"/>
          </p:cNvSpPr>
          <p:nvPr>
            <p:ph type="title"/>
          </p:nvPr>
        </p:nvSpPr>
        <p:spPr>
          <a:xfrm>
            <a:off x="819150" y="334775"/>
            <a:ext cx="75057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HA Infusion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43" name="Google Shape;243;p26"/>
          <p:cNvSpPr txBox="1">
            <a:spLocks noGrp="1"/>
          </p:cNvSpPr>
          <p:nvPr>
            <p:ph type="body" idx="1"/>
          </p:nvPr>
        </p:nvSpPr>
        <p:spPr>
          <a:xfrm>
            <a:off x="819150" y="1136225"/>
            <a:ext cx="3686100" cy="33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44" name="Google Shape;244;p26"/>
          <p:cNvSpPr txBox="1">
            <a:spLocks noGrp="1"/>
          </p:cNvSpPr>
          <p:nvPr>
            <p:ph type="body" idx="2"/>
          </p:nvPr>
        </p:nvSpPr>
        <p:spPr>
          <a:xfrm>
            <a:off x="4638675" y="933325"/>
            <a:ext cx="3686100" cy="35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/>
              <a:t>It reduces the Inflammation and oxidative Stress during Organ Preservation,potentialy improve Organ function.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lang="en" sz="1900"/>
              <a:t>It is a hydsrophilic molecule which helps to maintain tissue hydration during PNMP.</a:t>
            </a:r>
            <a:endParaRPr sz="1900"/>
          </a:p>
        </p:txBody>
      </p:sp>
      <p:pic>
        <p:nvPicPr>
          <p:cNvPr id="245" name="Google Shape;2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108438"/>
            <a:ext cx="3469600" cy="335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 txBox="1">
            <a:spLocks noGrp="1"/>
          </p:cNvSpPr>
          <p:nvPr>
            <p:ph type="title"/>
          </p:nvPr>
        </p:nvSpPr>
        <p:spPr>
          <a:xfrm>
            <a:off x="819150" y="497100"/>
            <a:ext cx="7505700" cy="60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Work Flow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body" idx="1"/>
          </p:nvPr>
        </p:nvSpPr>
        <p:spPr>
          <a:xfrm>
            <a:off x="819150" y="1288400"/>
            <a:ext cx="7505700" cy="31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2" name="Google Shape;2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0" y="1004350"/>
            <a:ext cx="8278300" cy="39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 txBox="1">
            <a:spLocks noGrp="1"/>
          </p:cNvSpPr>
          <p:nvPr>
            <p:ph type="title"/>
          </p:nvPr>
        </p:nvSpPr>
        <p:spPr>
          <a:xfrm>
            <a:off x="819150" y="497100"/>
            <a:ext cx="7505700" cy="59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Design Process: Step 1 - Creating Sketch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58" name="Google Shape;258;p28"/>
          <p:cNvSpPr txBox="1">
            <a:spLocks noGrp="1"/>
          </p:cNvSpPr>
          <p:nvPr>
            <p:ph type="body" idx="1"/>
          </p:nvPr>
        </p:nvSpPr>
        <p:spPr>
          <a:xfrm>
            <a:off x="819150" y="1217400"/>
            <a:ext cx="7505700" cy="32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59" name="Google Shape;2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650" y="1217400"/>
            <a:ext cx="822757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>
            <a:spLocks noGrp="1"/>
          </p:cNvSpPr>
          <p:nvPr>
            <p:ph type="title"/>
          </p:nvPr>
        </p:nvSpPr>
        <p:spPr>
          <a:xfrm>
            <a:off x="819150" y="639125"/>
            <a:ext cx="75057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Step- 2- Converting Sketch into Body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body" idx="1"/>
          </p:nvPr>
        </p:nvSpPr>
        <p:spPr>
          <a:xfrm>
            <a:off x="819150" y="1493625"/>
            <a:ext cx="3686100" cy="29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sp>
        <p:nvSpPr>
          <p:cNvPr id="266" name="Google Shape;266;p29"/>
          <p:cNvSpPr txBox="1">
            <a:spLocks noGrp="1"/>
          </p:cNvSpPr>
          <p:nvPr>
            <p:ph type="body" idx="2"/>
          </p:nvPr>
        </p:nvSpPr>
        <p:spPr>
          <a:xfrm>
            <a:off x="4638675" y="1552175"/>
            <a:ext cx="3686100" cy="28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.</a:t>
            </a:r>
            <a:endParaRPr/>
          </a:p>
        </p:txBody>
      </p:sp>
      <p:pic>
        <p:nvPicPr>
          <p:cNvPr id="267" name="Google Shape;267;p29"/>
          <p:cNvPicPr preferRelativeResize="0"/>
          <p:nvPr/>
        </p:nvPicPr>
        <p:blipFill rotWithShape="1">
          <a:blip r:embed="rId3">
            <a:alphaModFix/>
          </a:blip>
          <a:srcRect l="-10072" r="-3486"/>
          <a:stretch/>
        </p:blipFill>
        <p:spPr>
          <a:xfrm>
            <a:off x="514800" y="1552163"/>
            <a:ext cx="4186024" cy="306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7575" y="1309637"/>
            <a:ext cx="3686100" cy="33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 txBox="1">
            <a:spLocks noGrp="1"/>
          </p:cNvSpPr>
          <p:nvPr>
            <p:ph type="title"/>
          </p:nvPr>
        </p:nvSpPr>
        <p:spPr>
          <a:xfrm>
            <a:off x="819150" y="294200"/>
            <a:ext cx="75057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0124D"/>
                </a:solidFill>
              </a:rPr>
              <a:t>Step -3 Assembling the Components</a:t>
            </a:r>
            <a:endParaRPr b="1">
              <a:solidFill>
                <a:srgbClr val="20124D"/>
              </a:solidFill>
            </a:endParaRPr>
          </a:p>
        </p:txBody>
      </p:sp>
      <p:sp>
        <p:nvSpPr>
          <p:cNvPr id="274" name="Google Shape;274;p30"/>
          <p:cNvSpPr txBox="1">
            <a:spLocks noGrp="1"/>
          </p:cNvSpPr>
          <p:nvPr>
            <p:ph type="body" idx="1"/>
          </p:nvPr>
        </p:nvSpPr>
        <p:spPr>
          <a:xfrm>
            <a:off x="819150" y="1308700"/>
            <a:ext cx="7505700" cy="312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75" name="Google Shape;2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925" y="821900"/>
            <a:ext cx="8673949" cy="405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18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Shift</vt:lpstr>
      <vt:lpstr>.</vt:lpstr>
      <vt:lpstr>.</vt:lpstr>
      <vt:lpstr>Working Principle- Normothermic Perfusion</vt:lpstr>
      <vt:lpstr>Features of PNMP</vt:lpstr>
      <vt:lpstr>Components Used:     </vt:lpstr>
      <vt:lpstr>CLEANSER UNIT</vt:lpstr>
      <vt:lpstr>AIR FILTERS</vt:lpstr>
      <vt:lpstr>Heaters</vt:lpstr>
      <vt:lpstr>Reservoir</vt:lpstr>
      <vt:lpstr>ROTAFLOW PUMP</vt:lpstr>
      <vt:lpstr>PV Pressure Monitor</vt:lpstr>
      <vt:lpstr>Medication Probe</vt:lpstr>
      <vt:lpstr>PV Infection</vt:lpstr>
      <vt:lpstr>HA Infusion</vt:lpstr>
      <vt:lpstr>Work Flow</vt:lpstr>
      <vt:lpstr>Design Process: Step 1 - Creating Sketch</vt:lpstr>
      <vt:lpstr>Step- 2- Converting Sketch into Body</vt:lpstr>
      <vt:lpstr>Step -3 Assembling the Components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</dc:title>
  <cp:lastModifiedBy>Rajeswari Balamoorthy</cp:lastModifiedBy>
  <cp:revision>1</cp:revision>
  <dcterms:modified xsi:type="dcterms:W3CDTF">2024-02-24T20:42:03Z</dcterms:modified>
</cp:coreProperties>
</file>
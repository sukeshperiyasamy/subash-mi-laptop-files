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69" r:id="rId4"/>
    <p:sldId id="274" r:id="rId5"/>
    <p:sldId id="275" r:id="rId6"/>
    <p:sldId id="276" r:id="rId7"/>
    <p:sldId id="277" r:id="rId8"/>
    <p:sldId id="270" r:id="rId9"/>
    <p:sldId id="278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630"/>
    <a:srgbClr val="52CBBE"/>
    <a:srgbClr val="FF5969"/>
    <a:srgbClr val="5D7373"/>
    <a:srgbClr val="00A0A8"/>
    <a:srgbClr val="52C9BD"/>
    <a:srgbClr val="F0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6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36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3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7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3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9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00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3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1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  <a:t>26.02.2024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8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3942996" y="1338291"/>
            <a:ext cx="72789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</a:rPr>
              <a:t>WELCOME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2CB825-EAFB-4901-8C7E-D5477E0D31C8}"/>
              </a:ext>
            </a:extLst>
          </p:cNvPr>
          <p:cNvGrpSpPr/>
          <p:nvPr/>
        </p:nvGrpSpPr>
        <p:grpSpPr>
          <a:xfrm>
            <a:off x="5512176" y="5042070"/>
            <a:ext cx="4140553" cy="451824"/>
            <a:chOff x="4679586" y="878988"/>
            <a:chExt cx="1745757" cy="1905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88C5CD2-8D88-4E1A-968C-C3E256B4316C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CA212B-3524-454E-9129-17FD0E8983F0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487D07D-4424-43AA-9CF5-4A04A38B6C2D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1E021E3-C26E-4AB9-81EB-239E3D1BBAB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5AD4D6E-2D38-486B-8F61-738D1E4773C2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8F111D-10A0-4CCB-B20B-B33508AA6193}"/>
                </a:ext>
              </a:extLst>
            </p:cNvPr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F202974-31A3-4642-B671-F0DBBB7B4663}"/>
              </a:ext>
            </a:extLst>
          </p:cNvPr>
          <p:cNvSpPr txBox="1"/>
          <p:nvPr/>
        </p:nvSpPr>
        <p:spPr>
          <a:xfrm>
            <a:off x="5093185" y="2179324"/>
            <a:ext cx="72789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100" dirty="0">
              <a:solidFill>
                <a:srgbClr val="52CBBE"/>
              </a:solidFill>
              <a:latin typeface="Tw Cen MT" panose="020B06020201040206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BCE1F0-A71E-4D4B-BE6A-A381604C28D2}"/>
              </a:ext>
            </a:extLst>
          </p:cNvPr>
          <p:cNvSpPr txBox="1"/>
          <p:nvPr/>
        </p:nvSpPr>
        <p:spPr>
          <a:xfrm>
            <a:off x="4081622" y="3467584"/>
            <a:ext cx="7278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r>
              <a:rPr lang="en" sz="28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NATIONAL LEVEL TECHNICAL      PROJECT EXHIBITION &amp; COMPETITION </a:t>
            </a:r>
            <a:endParaRPr lang="en-US" sz="2800" dirty="0">
              <a:solidFill>
                <a:srgbClr val="5D7373"/>
              </a:solidFill>
              <a:latin typeface="Tw Cen MT" panose="020B06020201040206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9397484" y="-2"/>
            <a:ext cx="11447505" cy="6858000"/>
            <a:chOff x="213096" y="0"/>
            <a:chExt cx="11447505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9694375" y="3177272"/>
              <a:ext cx="32861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7784496" y="38584"/>
            <a:ext cx="8692332" cy="6858000"/>
            <a:chOff x="718505" y="-1"/>
            <a:chExt cx="8692332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22988E0-CF88-C216-7632-0425B6F73242}"/>
              </a:ext>
            </a:extLst>
          </p:cNvPr>
          <p:cNvSpPr txBox="1"/>
          <p:nvPr/>
        </p:nvSpPr>
        <p:spPr>
          <a:xfrm>
            <a:off x="5512176" y="2342397"/>
            <a:ext cx="49367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SRISHTI</a:t>
            </a:r>
            <a:r>
              <a:rPr lang="e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30;p13">
            <a:extLst>
              <a:ext uri="{FF2B5EF4-FFF2-40B4-BE49-F238E27FC236}">
                <a16:creationId xmlns:a16="http://schemas.microsoft.com/office/drawing/2014/main" id="{04607EF3-32AA-44C3-23AD-65767EA6D5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3195" y="309067"/>
            <a:ext cx="1139125" cy="12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1;p13">
            <a:extLst>
              <a:ext uri="{FF2B5EF4-FFF2-40B4-BE49-F238E27FC236}">
                <a16:creationId xmlns:a16="http://schemas.microsoft.com/office/drawing/2014/main" id="{B86F1AA5-3029-AB96-6727-2455552789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4962" y="280670"/>
            <a:ext cx="1227925" cy="127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81395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8798784" y="0"/>
            <a:ext cx="11447505" cy="6858000"/>
            <a:chOff x="213096" y="0"/>
            <a:chExt cx="11447505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040772" y="3078526"/>
              <a:ext cx="25933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7250759" y="-27309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9EDE56FF-3E69-4484-9673-AC7FA14D3D89}"/>
              </a:ext>
            </a:extLst>
          </p:cNvPr>
          <p:cNvSpPr txBox="1"/>
          <p:nvPr/>
        </p:nvSpPr>
        <p:spPr>
          <a:xfrm>
            <a:off x="2943677" y="4371639"/>
            <a:ext cx="76671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C343D"/>
                </a:solidFill>
                <a:latin typeface="Cambria"/>
                <a:ea typeface="Cambria"/>
                <a:cs typeface="Cambria"/>
                <a:sym typeface="Cambria"/>
              </a:rPr>
              <a:t>PROLONGED PRESERVATION OF HUMAN LIVER USING NORMOTHERMIC MACHINE PERFUSION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F99BC-C78C-CE7C-2E7F-65B4F0C37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015" y="713425"/>
            <a:ext cx="6972300" cy="32480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001EC-9F33-4C39-B780-199714C83EA2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9B5C97-F627-4A85-B003-5396A9D964D5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7C14D5-0388-44F5-AD76-F8BBAF179CD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51F346-69C6-4F86-BC1F-C57BA2384CC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B367FE-8530-4052-AD96-2D6FBE49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E93C38-ECA5-4094-81E9-196A3BD19EBD}"/>
              </a:ext>
            </a:extLst>
          </p:cNvPr>
          <p:cNvGrpSpPr/>
          <p:nvPr/>
        </p:nvGrpSpPr>
        <p:grpSpPr>
          <a:xfrm>
            <a:off x="337039" y="-81326"/>
            <a:ext cx="11447503" cy="6858000"/>
            <a:chOff x="213096" y="0"/>
            <a:chExt cx="11447503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85080E-7B66-43F0-AB4D-3A69B13C005A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05DAC1A-9BF8-460E-8D8B-77BFB6B27FF9}"/>
                </a:ext>
              </a:extLst>
            </p:cNvPr>
            <p:cNvSpPr/>
            <p:nvPr/>
          </p:nvSpPr>
          <p:spPr>
            <a:xfrm>
              <a:off x="10460856" y="2472977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CA374-CD21-448B-8791-8A04A9A9A552}"/>
                </a:ext>
              </a:extLst>
            </p:cNvPr>
            <p:cNvSpPr txBox="1"/>
            <p:nvPr/>
          </p:nvSpPr>
          <p:spPr>
            <a:xfrm rot="16200000">
              <a:off x="10001211" y="3446013"/>
              <a:ext cx="26724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A620A7-5483-4447-9670-0F8D67F36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C6BBB46-3AAE-49B1-8F56-3535CC357FEB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A452EB0-3109-45BB-9389-19F84818FE30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F941D0C-24DA-4E77-BE08-34D6F94BD6FB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9747D82-077A-45F5-8822-6A7F978E7845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0B26FA9-EA76-44C1-BA33-E4EBB060AC7E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F138C1A-5B68-42BE-B6B8-0EE1F4738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7830BE-EEF7-4034-8ABE-3212DB467DB4}"/>
              </a:ext>
            </a:extLst>
          </p:cNvPr>
          <p:cNvGrpSpPr/>
          <p:nvPr/>
        </p:nvGrpSpPr>
        <p:grpSpPr>
          <a:xfrm>
            <a:off x="2982416" y="752475"/>
            <a:ext cx="3113584" cy="2061758"/>
            <a:chOff x="1387588" y="2182683"/>
            <a:chExt cx="1805441" cy="1894017"/>
          </a:xfrm>
        </p:grpSpPr>
        <p:sp>
          <p:nvSpPr>
            <p:cNvPr id="105" name="Rectangle: Top Corners Rounded 104">
              <a:extLst>
                <a:ext uri="{FF2B5EF4-FFF2-40B4-BE49-F238E27FC236}">
                  <a16:creationId xmlns:a16="http://schemas.microsoft.com/office/drawing/2014/main" id="{F1B87F23-BD02-4DB3-947D-2F61C5B87FE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D8301A0-49D9-41A5-A227-2E35458E6401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36675CF-5B12-4D6B-8C03-F29656450255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8958204-CE05-4E79-AC55-C76FBB79E37F}"/>
              </a:ext>
            </a:extLst>
          </p:cNvPr>
          <p:cNvSpPr/>
          <p:nvPr/>
        </p:nvSpPr>
        <p:spPr>
          <a:xfrm flipV="1">
            <a:off x="3133728" y="1854986"/>
            <a:ext cx="2780264" cy="470947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B24FD0-CCE6-E92F-8AD7-871CCADEDCB7}"/>
              </a:ext>
            </a:extLst>
          </p:cNvPr>
          <p:cNvGrpSpPr/>
          <p:nvPr/>
        </p:nvGrpSpPr>
        <p:grpSpPr>
          <a:xfrm>
            <a:off x="6892281" y="752475"/>
            <a:ext cx="3113584" cy="2632979"/>
            <a:chOff x="1387588" y="2182683"/>
            <a:chExt cx="1805441" cy="1894017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A6FD00E6-CFF2-B469-38D4-5B06D033F755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4AF761-E5ED-B2A4-1F82-DF530925AB4F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96C21C-C495-2FCB-01F4-75ACC78028B2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79F914-517F-0E07-6CC9-FB17661B3602}"/>
              </a:ext>
            </a:extLst>
          </p:cNvPr>
          <p:cNvSpPr/>
          <p:nvPr/>
        </p:nvSpPr>
        <p:spPr>
          <a:xfrm flipV="1">
            <a:off x="7035926" y="2209683"/>
            <a:ext cx="2822250" cy="456699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r>
              <a:rPr lang="en-US" b="1" dirty="0"/>
              <a:t>Cleaning and Filtering the organ Basin before and after it is used to preserve the organ.</a:t>
            </a:r>
          </a:p>
        </p:txBody>
      </p:sp>
      <p:pic>
        <p:nvPicPr>
          <p:cNvPr id="11" name="Google Shape;166;p18">
            <a:extLst>
              <a:ext uri="{FF2B5EF4-FFF2-40B4-BE49-F238E27FC236}">
                <a16:creationId xmlns:a16="http://schemas.microsoft.com/office/drawing/2014/main" id="{3C50C035-9B4F-20D5-4F7C-73CB5B61B3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1348" t="13516" b="11163"/>
          <a:stretch/>
        </p:blipFill>
        <p:spPr>
          <a:xfrm>
            <a:off x="3148337" y="2559119"/>
            <a:ext cx="2737499" cy="1934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7348A8-2186-B36B-A635-733EBA163555}"/>
              </a:ext>
            </a:extLst>
          </p:cNvPr>
          <p:cNvSpPr txBox="1"/>
          <p:nvPr/>
        </p:nvSpPr>
        <p:spPr>
          <a:xfrm>
            <a:off x="3767957" y="1282356"/>
            <a:ext cx="15424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 dirty="0">
                <a:solidFill>
                  <a:srgbClr val="073763"/>
                </a:solidFill>
              </a:rPr>
              <a:t>Organ</a:t>
            </a:r>
            <a:r>
              <a:rPr lang="en" sz="4000" b="1" dirty="0">
                <a:solidFill>
                  <a:srgbClr val="073763"/>
                </a:solidFill>
              </a:rPr>
              <a:t> </a:t>
            </a:r>
            <a:r>
              <a:rPr lang="en" sz="2000" b="1" dirty="0">
                <a:solidFill>
                  <a:srgbClr val="073763"/>
                </a:solidFill>
              </a:rPr>
              <a:t>Basin</a:t>
            </a:r>
            <a:endParaRPr lang="en-IN" sz="2000" dirty="0"/>
          </a:p>
        </p:txBody>
      </p:sp>
      <p:pic>
        <p:nvPicPr>
          <p:cNvPr id="14" name="Google Shape;178;p19">
            <a:extLst>
              <a:ext uri="{FF2B5EF4-FFF2-40B4-BE49-F238E27FC236}">
                <a16:creationId xmlns:a16="http://schemas.microsoft.com/office/drawing/2014/main" id="{6B2D9421-BF42-DD08-86FB-8E46DD8D8E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83" t="19976" r="21901" b="16164"/>
          <a:stretch/>
        </p:blipFill>
        <p:spPr>
          <a:xfrm>
            <a:off x="7712764" y="3108898"/>
            <a:ext cx="1284727" cy="100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5BA7E2-C23B-3154-FA09-B9A520639D71}"/>
              </a:ext>
            </a:extLst>
          </p:cNvPr>
          <p:cNvSpPr txBox="1"/>
          <p:nvPr/>
        </p:nvSpPr>
        <p:spPr>
          <a:xfrm>
            <a:off x="7600312" y="1533524"/>
            <a:ext cx="203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1" dirty="0">
                <a:solidFill>
                  <a:srgbClr val="20124D"/>
                </a:solidFill>
              </a:rPr>
              <a:t>    Cleanser Unit    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DE06C-D7BC-4D84-54E3-303EB9B45492}"/>
              </a:ext>
            </a:extLst>
          </p:cNvPr>
          <p:cNvSpPr txBox="1"/>
          <p:nvPr/>
        </p:nvSpPr>
        <p:spPr>
          <a:xfrm>
            <a:off x="3283237" y="4698357"/>
            <a:ext cx="23841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lvl="0" algn="just" rtl="0">
              <a:spcBef>
                <a:spcPts val="1200"/>
              </a:spcBef>
              <a:spcAft>
                <a:spcPts val="0"/>
              </a:spcAft>
              <a:buSzPts val="2100"/>
            </a:pPr>
            <a:r>
              <a:rPr lang="en-US" b="1" dirty="0">
                <a:solidFill>
                  <a:srgbClr val="000000"/>
                </a:solidFill>
              </a:rPr>
              <a:t>H</a:t>
            </a:r>
            <a:r>
              <a:rPr lang="en-US" sz="1800" b="1" dirty="0">
                <a:solidFill>
                  <a:srgbClr val="000000"/>
                </a:solidFill>
              </a:rPr>
              <a:t>old the Organs and protects the organs from Physical Trauma.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D6E64-4CA3-B06F-3555-5CC45A1D134D}"/>
              </a:ext>
            </a:extLst>
          </p:cNvPr>
          <p:cNvSpPr txBox="1"/>
          <p:nvPr/>
        </p:nvSpPr>
        <p:spPr>
          <a:xfrm flipH="1">
            <a:off x="7141538" y="4655715"/>
            <a:ext cx="2571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Cleaning and Filtering the organ Basin before and after it is used to preserve the organ.</a:t>
            </a:r>
          </a:p>
        </p:txBody>
      </p:sp>
    </p:spTree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8E44803-05F6-2B1A-A771-649376C461A0}"/>
              </a:ext>
            </a:extLst>
          </p:cNvPr>
          <p:cNvGrpSpPr/>
          <p:nvPr/>
        </p:nvGrpSpPr>
        <p:grpSpPr>
          <a:xfrm>
            <a:off x="4543206" y="790172"/>
            <a:ext cx="3113584" cy="2005213"/>
            <a:chOff x="1387588" y="2182683"/>
            <a:chExt cx="1805441" cy="1894017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6CA3D5AE-BE03-FB01-E544-F2BFD247E451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DE796D-AAAD-17CD-EA38-2B0A27D50220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A31F625-7DCF-676B-7D80-A69539689BBE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DA67EEF-4F82-F527-E452-E8C13FA4990B}"/>
              </a:ext>
            </a:extLst>
          </p:cNvPr>
          <p:cNvSpPr/>
          <p:nvPr/>
        </p:nvSpPr>
        <p:spPr>
          <a:xfrm flipV="1">
            <a:off x="4694518" y="1967223"/>
            <a:ext cx="2822250" cy="4537949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r>
              <a:rPr lang="en-US" b="1"/>
              <a:t>Responsible for Managing and Supplying Power to Machine Perfusion Process.</a:t>
            </a:r>
            <a:endParaRPr lang="en-US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AA4AA4-5EE9-ADC0-02D7-E96F6F3AE17A}"/>
              </a:ext>
            </a:extLst>
          </p:cNvPr>
          <p:cNvGrpSpPr/>
          <p:nvPr/>
        </p:nvGrpSpPr>
        <p:grpSpPr>
          <a:xfrm>
            <a:off x="8458911" y="752475"/>
            <a:ext cx="3113584" cy="2632979"/>
            <a:chOff x="1387588" y="2182683"/>
            <a:chExt cx="1805441" cy="1894017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51F63691-19E7-6681-BCCB-034516EAD86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FFB75D-89CA-8880-2EC2-BE77F71CE5C4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B158A4-000E-C850-4496-E951E1EABEBE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E64E17-EAE4-4270-F17B-124079E96DDF}"/>
              </a:ext>
            </a:extLst>
          </p:cNvPr>
          <p:cNvSpPr/>
          <p:nvPr/>
        </p:nvSpPr>
        <p:spPr>
          <a:xfrm flipV="1">
            <a:off x="8604578" y="1967223"/>
            <a:ext cx="2822250" cy="4481404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8770CD-51A3-F74D-6B8B-7DDEA8A728EC}"/>
              </a:ext>
            </a:extLst>
          </p:cNvPr>
          <p:cNvGrpSpPr/>
          <p:nvPr/>
        </p:nvGrpSpPr>
        <p:grpSpPr>
          <a:xfrm>
            <a:off x="520573" y="752476"/>
            <a:ext cx="3113584" cy="1888088"/>
            <a:chOff x="1387588" y="2182683"/>
            <a:chExt cx="1805441" cy="1894017"/>
          </a:xfrm>
        </p:grpSpPr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D634BB6E-BE1A-B5E9-990A-13A6D46EEBF1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33FB17D-D150-3720-B3DE-9AC408398017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3267F3-34BE-9CDD-24D4-C264E05DC1FE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137ADDB-AB22-867A-9265-1956405A4869}"/>
              </a:ext>
            </a:extLst>
          </p:cNvPr>
          <p:cNvSpPr/>
          <p:nvPr/>
        </p:nvSpPr>
        <p:spPr>
          <a:xfrm flipV="1">
            <a:off x="666239" y="1860774"/>
            <a:ext cx="2822250" cy="4644397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r>
              <a:rPr lang="en-US" b="1"/>
              <a:t>Air Filters remove the Carbondioxide and other waste gases from the perfusion System</a:t>
            </a:r>
            <a:endParaRPr lang="en-US" b="1" dirty="0"/>
          </a:p>
        </p:txBody>
      </p:sp>
      <p:pic>
        <p:nvPicPr>
          <p:cNvPr id="17" name="Google Shape;188;p20">
            <a:extLst>
              <a:ext uri="{FF2B5EF4-FFF2-40B4-BE49-F238E27FC236}">
                <a16:creationId xmlns:a16="http://schemas.microsoft.com/office/drawing/2014/main" id="{7732B755-8670-018F-119F-ED711E4F5B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1155" t="17848" r="33851" b="24909"/>
          <a:stretch/>
        </p:blipFill>
        <p:spPr>
          <a:xfrm>
            <a:off x="1306115" y="2519590"/>
            <a:ext cx="1571416" cy="223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98;p21" descr="IMG_256">
            <a:extLst>
              <a:ext uri="{FF2B5EF4-FFF2-40B4-BE49-F238E27FC236}">
                <a16:creationId xmlns:a16="http://schemas.microsoft.com/office/drawing/2014/main" id="{49125C61-852D-FB7C-2E2D-F8D58F15A5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858" t="22515" r="28098" b="14571"/>
          <a:stretch/>
        </p:blipFill>
        <p:spPr>
          <a:xfrm>
            <a:off x="4766350" y="2640565"/>
            <a:ext cx="2334246" cy="1847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7F7838-4E98-11EB-6C35-69A0F1B75726}"/>
              </a:ext>
            </a:extLst>
          </p:cNvPr>
          <p:cNvSpPr txBox="1"/>
          <p:nvPr/>
        </p:nvSpPr>
        <p:spPr>
          <a:xfrm>
            <a:off x="765172" y="4851918"/>
            <a:ext cx="2612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Air Filters remove the Carbon-di-oxide and other waste gases from the perfusion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A6D79B-6325-6061-1C9A-F4F74B52BA16}"/>
              </a:ext>
            </a:extLst>
          </p:cNvPr>
          <p:cNvSpPr txBox="1"/>
          <p:nvPr/>
        </p:nvSpPr>
        <p:spPr>
          <a:xfrm>
            <a:off x="1405049" y="1398806"/>
            <a:ext cx="1338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1" dirty="0">
                <a:solidFill>
                  <a:srgbClr val="20124D"/>
                </a:solidFill>
              </a:rPr>
              <a:t>AIR FILTERS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F7F32E-68A0-9EFC-87EF-102ADCAF570D}"/>
              </a:ext>
            </a:extLst>
          </p:cNvPr>
          <p:cNvSpPr txBox="1"/>
          <p:nvPr/>
        </p:nvSpPr>
        <p:spPr>
          <a:xfrm>
            <a:off x="4842588" y="5037454"/>
            <a:ext cx="25099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Responsible for Managing and Supplying Power to Machine Perfusion Process.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992FD6-ACCC-611E-F328-18AF942B0A83}"/>
              </a:ext>
            </a:extLst>
          </p:cNvPr>
          <p:cNvSpPr txBox="1"/>
          <p:nvPr/>
        </p:nvSpPr>
        <p:spPr>
          <a:xfrm>
            <a:off x="5561045" y="1525370"/>
            <a:ext cx="1726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124D"/>
                </a:solidFill>
              </a:rPr>
              <a:t>PMS UNIT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FA178C-E972-546C-6472-2F063724461F}"/>
              </a:ext>
            </a:extLst>
          </p:cNvPr>
          <p:cNvSpPr txBox="1"/>
          <p:nvPr/>
        </p:nvSpPr>
        <p:spPr>
          <a:xfrm>
            <a:off x="9535650" y="1491442"/>
            <a:ext cx="1152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124D"/>
                </a:solidFill>
              </a:rPr>
              <a:t>Heaters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86B1EA-F607-6DDC-34E3-AE1FF2C446AD}"/>
              </a:ext>
            </a:extLst>
          </p:cNvPr>
          <p:cNvSpPr txBox="1"/>
          <p:nvPr/>
        </p:nvSpPr>
        <p:spPr>
          <a:xfrm>
            <a:off x="8952311" y="4394717"/>
            <a:ext cx="23190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000000"/>
                </a:solidFill>
              </a:rPr>
              <a:t>K</a:t>
            </a:r>
            <a:r>
              <a:rPr lang="en" sz="1800" b="1" dirty="0">
                <a:solidFill>
                  <a:srgbClr val="000000"/>
                </a:solidFill>
              </a:rPr>
              <a:t>eep the organs at a specific Temperature during Transportation from the donar to the Recipient</a:t>
            </a:r>
            <a:endParaRPr lang="en-IN" dirty="0"/>
          </a:p>
        </p:txBody>
      </p:sp>
      <p:pic>
        <p:nvPicPr>
          <p:cNvPr id="20" name="Google Shape;178;p19">
            <a:extLst>
              <a:ext uri="{FF2B5EF4-FFF2-40B4-BE49-F238E27FC236}">
                <a16:creationId xmlns:a16="http://schemas.microsoft.com/office/drawing/2014/main" id="{B142754F-A407-5DFF-DE7C-C097467FF8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83" t="19976" r="21901" b="16164"/>
          <a:stretch/>
        </p:blipFill>
        <p:spPr>
          <a:xfrm>
            <a:off x="9153629" y="2597509"/>
            <a:ext cx="1724146" cy="1657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76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D29386-A72B-79AF-2ED1-C54D32178F2D}"/>
              </a:ext>
            </a:extLst>
          </p:cNvPr>
          <p:cNvGrpSpPr/>
          <p:nvPr/>
        </p:nvGrpSpPr>
        <p:grpSpPr>
          <a:xfrm>
            <a:off x="4447322" y="659544"/>
            <a:ext cx="3113584" cy="2632979"/>
            <a:chOff x="1387588" y="2182683"/>
            <a:chExt cx="1805441" cy="1894017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212B4057-EADD-8076-6E2F-E012150795DA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153E3F-6653-AFA7-1456-81AC029C7CC8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0415BE-4258-36AC-3BDC-0BCAAB0A7D7D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3CD0FEC-458E-1BAF-4559-8A715AB8D3E2}"/>
              </a:ext>
            </a:extLst>
          </p:cNvPr>
          <p:cNvSpPr/>
          <p:nvPr/>
        </p:nvSpPr>
        <p:spPr>
          <a:xfrm flipV="1">
            <a:off x="4598634" y="1716833"/>
            <a:ext cx="2822250" cy="465771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2900" algn="just">
              <a:buSzPts val="1800"/>
              <a:buChar char="❖"/>
            </a:pPr>
            <a:r>
              <a:rPr lang="en-US" b="1"/>
              <a:t>Medical Device designed for Extracorporeal Life Support Systems(ECLS) such as Extracorporeal Membrane Oxygenation(ECMO)</a:t>
            </a:r>
            <a:endParaRPr lang="en-US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1AD1EA-4124-1D6E-8358-BCA8D3140C3C}"/>
              </a:ext>
            </a:extLst>
          </p:cNvPr>
          <p:cNvGrpSpPr/>
          <p:nvPr/>
        </p:nvGrpSpPr>
        <p:grpSpPr>
          <a:xfrm>
            <a:off x="8542886" y="659544"/>
            <a:ext cx="3113584" cy="2632979"/>
            <a:chOff x="1387588" y="2182683"/>
            <a:chExt cx="1805441" cy="1894017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A3547576-371C-9BEB-2455-CF77FED25C60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53D122-1FDF-D73D-23FD-11606EA32087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25D52B-9A55-D6D6-FF81-BA31C98491ED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DF415-3ACD-1A44-1B66-6993D531F170}"/>
              </a:ext>
            </a:extLst>
          </p:cNvPr>
          <p:cNvSpPr/>
          <p:nvPr/>
        </p:nvSpPr>
        <p:spPr>
          <a:xfrm flipV="1">
            <a:off x="8694198" y="1716833"/>
            <a:ext cx="2822250" cy="4657711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649177-BD11-F758-A4A6-522C8F731AD4}"/>
              </a:ext>
            </a:extLst>
          </p:cNvPr>
          <p:cNvGrpSpPr/>
          <p:nvPr/>
        </p:nvGrpSpPr>
        <p:grpSpPr>
          <a:xfrm>
            <a:off x="744900" y="697241"/>
            <a:ext cx="3113584" cy="2632979"/>
            <a:chOff x="1387588" y="2182683"/>
            <a:chExt cx="1805441" cy="1894017"/>
          </a:xfrm>
        </p:grpSpPr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CC964DB5-DE25-A7BA-8967-5E6D8CA1773A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4DA326-EB69-B371-2573-094935C5FD68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CBB4B8-13C8-2A91-7C07-FFF48300A8A4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65DE168-3263-F560-EF1E-65989614B3E1}"/>
              </a:ext>
            </a:extLst>
          </p:cNvPr>
          <p:cNvSpPr/>
          <p:nvPr/>
        </p:nvSpPr>
        <p:spPr>
          <a:xfrm flipV="1">
            <a:off x="896212" y="1835758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349250" algn="just">
              <a:buSzPts val="1900"/>
              <a:buChar char="❖"/>
            </a:pPr>
            <a:r>
              <a:rPr lang="en-US" b="1"/>
              <a:t>store and Protect the Liver during Transportation from the donal to the recipient.</a:t>
            </a:r>
            <a:endParaRPr lang="en-US" b="1" dirty="0"/>
          </a:p>
        </p:txBody>
      </p:sp>
      <p:pic>
        <p:nvPicPr>
          <p:cNvPr id="18" name="Google Shape;228;p24">
            <a:extLst>
              <a:ext uri="{FF2B5EF4-FFF2-40B4-BE49-F238E27FC236}">
                <a16:creationId xmlns:a16="http://schemas.microsoft.com/office/drawing/2014/main" id="{7B3BD634-A44D-BF3B-F2B9-B1B509447D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1797" t="14945" b="11732"/>
          <a:stretch/>
        </p:blipFill>
        <p:spPr>
          <a:xfrm>
            <a:off x="5225592" y="2437622"/>
            <a:ext cx="1399143" cy="144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6;p25">
            <a:extLst>
              <a:ext uri="{FF2B5EF4-FFF2-40B4-BE49-F238E27FC236}">
                <a16:creationId xmlns:a16="http://schemas.microsoft.com/office/drawing/2014/main" id="{A4B5B47D-2D26-833C-3C00-07ADFF3E67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9501" t="14163" r="-771" b="2816"/>
          <a:stretch/>
        </p:blipFill>
        <p:spPr>
          <a:xfrm>
            <a:off x="9243554" y="2513417"/>
            <a:ext cx="1542499" cy="133557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2FBFB0-EBDB-4F08-F427-14C59C6DF8C6}"/>
              </a:ext>
            </a:extLst>
          </p:cNvPr>
          <p:cNvSpPr txBox="1"/>
          <p:nvPr/>
        </p:nvSpPr>
        <p:spPr>
          <a:xfrm>
            <a:off x="1017037" y="4296747"/>
            <a:ext cx="26570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b="1" dirty="0"/>
              <a:t>S</a:t>
            </a:r>
            <a:r>
              <a:rPr lang="en-US" sz="1800" b="1" dirty="0"/>
              <a:t>tore and Protect the Liver during Transportation from the </a:t>
            </a:r>
            <a:r>
              <a:rPr lang="en-US" sz="1800" b="1" dirty="0" err="1"/>
              <a:t>donal</a:t>
            </a:r>
            <a:r>
              <a:rPr lang="en-US" sz="1800" b="1" dirty="0"/>
              <a:t> to the recipient.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0CFF51-FC9F-E719-0E54-94A02D0B5159}"/>
              </a:ext>
            </a:extLst>
          </p:cNvPr>
          <p:cNvSpPr txBox="1"/>
          <p:nvPr/>
        </p:nvSpPr>
        <p:spPr>
          <a:xfrm>
            <a:off x="1706412" y="1347501"/>
            <a:ext cx="166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124D"/>
                </a:solidFill>
              </a:rPr>
              <a:t>Reservoir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021BD1-861B-25F2-49DB-88A8C886FBAA}"/>
              </a:ext>
            </a:extLst>
          </p:cNvPr>
          <p:cNvSpPr txBox="1"/>
          <p:nvPr/>
        </p:nvSpPr>
        <p:spPr>
          <a:xfrm>
            <a:off x="4980488" y="1291255"/>
            <a:ext cx="1976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1" dirty="0">
                <a:solidFill>
                  <a:srgbClr val="20124D"/>
                </a:solidFill>
              </a:rPr>
              <a:t>ROTAFLOW PUMP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134009-8EE5-AC6E-DACA-91FF1F57DD41}"/>
              </a:ext>
            </a:extLst>
          </p:cNvPr>
          <p:cNvSpPr txBox="1"/>
          <p:nvPr/>
        </p:nvSpPr>
        <p:spPr>
          <a:xfrm>
            <a:off x="4598635" y="3942783"/>
            <a:ext cx="26792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1" dirty="0"/>
              <a:t>Medical Device designed for Extracorporeal Life Support Systems(ECLS) such as Extracorporeal Membrane Oxygenation(ECMO)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287BF2-D198-BCE7-13AF-49557A73624A}"/>
              </a:ext>
            </a:extLst>
          </p:cNvPr>
          <p:cNvSpPr txBox="1"/>
          <p:nvPr/>
        </p:nvSpPr>
        <p:spPr>
          <a:xfrm>
            <a:off x="9146332" y="1253712"/>
            <a:ext cx="237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1" dirty="0">
                <a:solidFill>
                  <a:srgbClr val="4C1130"/>
                </a:solidFill>
              </a:rPr>
              <a:t>IV INFUSION </a:t>
            </a:r>
            <a:r>
              <a:rPr lang="en" b="1" dirty="0">
                <a:solidFill>
                  <a:srgbClr val="4C1130"/>
                </a:solidFill>
              </a:rPr>
              <a:t>  </a:t>
            </a:r>
            <a:r>
              <a:rPr lang="en" sz="1800" b="1" dirty="0">
                <a:solidFill>
                  <a:srgbClr val="4C1130"/>
                </a:solidFill>
              </a:rPr>
              <a:t>PUMP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F05276-B27B-CE37-AC5C-6D6EB6219F77}"/>
              </a:ext>
            </a:extLst>
          </p:cNvPr>
          <p:cNvSpPr txBox="1"/>
          <p:nvPr/>
        </p:nvSpPr>
        <p:spPr>
          <a:xfrm>
            <a:off x="8801607" y="3942783"/>
            <a:ext cx="26704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" b="1" dirty="0"/>
              <a:t>D</a:t>
            </a:r>
            <a:r>
              <a:rPr lang="en" sz="1800" b="1" dirty="0"/>
              <a:t>eliver a Therapeutic solutions to the Preserved organs ensuring it receives essential Nutrients and Medications to maintain its Function during the Perfusion Process.</a:t>
            </a:r>
            <a:endParaRPr lang="en-IN" dirty="0"/>
          </a:p>
        </p:txBody>
      </p:sp>
      <p:pic>
        <p:nvPicPr>
          <p:cNvPr id="20" name="Google Shape;207;p22">
            <a:extLst>
              <a:ext uri="{FF2B5EF4-FFF2-40B4-BE49-F238E27FC236}">
                <a16:creationId xmlns:a16="http://schemas.microsoft.com/office/drawing/2014/main" id="{AFB9CA2C-525F-25F9-8059-C5E74D97E3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7859" t="13357" r="20046" b="11473"/>
          <a:stretch/>
        </p:blipFill>
        <p:spPr>
          <a:xfrm>
            <a:off x="1280380" y="2462319"/>
            <a:ext cx="1933573" cy="16059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825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355BB7-E85D-9347-8AFD-01C98ADD8A69}"/>
              </a:ext>
            </a:extLst>
          </p:cNvPr>
          <p:cNvGrpSpPr/>
          <p:nvPr/>
        </p:nvGrpSpPr>
        <p:grpSpPr>
          <a:xfrm>
            <a:off x="744900" y="697241"/>
            <a:ext cx="3113584" cy="2632979"/>
            <a:chOff x="1387588" y="2182683"/>
            <a:chExt cx="1805441" cy="1894017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A6D9A849-44B8-8AFB-BBD1-C5036562455E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32F143-D4F5-A062-024D-02982D522DB8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3D86AC-89F8-3B8F-683A-6B56C850F8F8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00B79F4-35EE-744F-1623-08EAB3F46FD4}"/>
              </a:ext>
            </a:extLst>
          </p:cNvPr>
          <p:cNvSpPr/>
          <p:nvPr/>
        </p:nvSpPr>
        <p:spPr>
          <a:xfrm flipV="1">
            <a:off x="896212" y="1835758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CA842C-60C4-18F1-CA2E-F159C0C60073}"/>
              </a:ext>
            </a:extLst>
          </p:cNvPr>
          <p:cNvGrpSpPr/>
          <p:nvPr/>
        </p:nvGrpSpPr>
        <p:grpSpPr>
          <a:xfrm>
            <a:off x="8214211" y="697241"/>
            <a:ext cx="3113584" cy="2632979"/>
            <a:chOff x="1387588" y="2182683"/>
            <a:chExt cx="1805441" cy="1894017"/>
          </a:xfrm>
        </p:grpSpPr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53E9DC54-58EE-4AAF-A688-FB1EA09049BD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D9643E-8606-1009-16F4-EDB2553CEA65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157820-6E82-47A5-B5D7-1B862D1A9899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75B8E6-A57F-2A38-1FBA-29CEF5493A46}"/>
              </a:ext>
            </a:extLst>
          </p:cNvPr>
          <p:cNvSpPr/>
          <p:nvPr/>
        </p:nvSpPr>
        <p:spPr>
          <a:xfrm flipV="1">
            <a:off x="8365523" y="1835758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91DD4B-5E53-B46F-249C-E42DAAC13921}"/>
              </a:ext>
            </a:extLst>
          </p:cNvPr>
          <p:cNvGrpSpPr/>
          <p:nvPr/>
        </p:nvGrpSpPr>
        <p:grpSpPr>
          <a:xfrm>
            <a:off x="4647414" y="734938"/>
            <a:ext cx="3113584" cy="2632979"/>
            <a:chOff x="1387588" y="2182683"/>
            <a:chExt cx="1805441" cy="1894017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B8C46435-FDC8-681C-F186-EA444F7CAC30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AF776F-A2D3-F392-D20F-95E306E5343B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798AA3-767F-4660-9C6F-377288933998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3ED357D-62BE-EF51-7B8A-D4241F58BB42}"/>
              </a:ext>
            </a:extLst>
          </p:cNvPr>
          <p:cNvSpPr/>
          <p:nvPr/>
        </p:nvSpPr>
        <p:spPr>
          <a:xfrm flipV="1">
            <a:off x="4798726" y="1873455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oogle Shape;244;p26">
            <a:extLst>
              <a:ext uri="{FF2B5EF4-FFF2-40B4-BE49-F238E27FC236}">
                <a16:creationId xmlns:a16="http://schemas.microsoft.com/office/drawing/2014/main" id="{582FF12C-896F-F320-58FA-E8A21A5647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1311" t="18603" r="19365" b="19331"/>
          <a:stretch/>
        </p:blipFill>
        <p:spPr>
          <a:xfrm>
            <a:off x="1442174" y="2533303"/>
            <a:ext cx="1719033" cy="149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52;p27">
            <a:extLst>
              <a:ext uri="{FF2B5EF4-FFF2-40B4-BE49-F238E27FC236}">
                <a16:creationId xmlns:a16="http://schemas.microsoft.com/office/drawing/2014/main" id="{E07234F9-ACEC-3EC8-41D5-08A1B718D7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052" t="18442" r="24857" b="15190"/>
          <a:stretch/>
        </p:blipFill>
        <p:spPr>
          <a:xfrm>
            <a:off x="5267952" y="2618335"/>
            <a:ext cx="1707502" cy="1423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60;p28">
            <a:extLst>
              <a:ext uri="{FF2B5EF4-FFF2-40B4-BE49-F238E27FC236}">
                <a16:creationId xmlns:a16="http://schemas.microsoft.com/office/drawing/2014/main" id="{2361155A-AE43-9AED-02C0-734E32F8C8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309" t="14775" r="20940" b="14616"/>
          <a:stretch/>
        </p:blipFill>
        <p:spPr>
          <a:xfrm>
            <a:off x="8701240" y="2734973"/>
            <a:ext cx="2140931" cy="15384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37D7B5-C445-8B10-8F66-E1AB232DBEB6}"/>
              </a:ext>
            </a:extLst>
          </p:cNvPr>
          <p:cNvSpPr txBox="1"/>
          <p:nvPr/>
        </p:nvSpPr>
        <p:spPr>
          <a:xfrm>
            <a:off x="1202157" y="1264821"/>
            <a:ext cx="207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124D"/>
                </a:solidFill>
              </a:rPr>
              <a:t>Medication Probe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9927F-9885-EE21-845C-6B4D2F02AA20}"/>
              </a:ext>
            </a:extLst>
          </p:cNvPr>
          <p:cNvSpPr txBox="1"/>
          <p:nvPr/>
        </p:nvSpPr>
        <p:spPr>
          <a:xfrm>
            <a:off x="1222310" y="4041251"/>
            <a:ext cx="23699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D</a:t>
            </a:r>
            <a:r>
              <a:rPr lang="en" sz="1800" b="1" dirty="0"/>
              <a:t>ilate the Blood vessels and improve Blood Flow through the organ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5A4246-5CB2-B630-D4F4-CC28BFDE86CB}"/>
              </a:ext>
            </a:extLst>
          </p:cNvPr>
          <p:cNvSpPr txBox="1"/>
          <p:nvPr/>
        </p:nvSpPr>
        <p:spPr>
          <a:xfrm>
            <a:off x="5366282" y="1332291"/>
            <a:ext cx="1445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124D"/>
                </a:solidFill>
              </a:rPr>
              <a:t>PV Infection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B34CAC-C327-2F6E-EF1F-F739C781BD5B}"/>
              </a:ext>
            </a:extLst>
          </p:cNvPr>
          <p:cNvSpPr txBox="1"/>
          <p:nvPr/>
        </p:nvSpPr>
        <p:spPr>
          <a:xfrm>
            <a:off x="4798726" y="4213937"/>
            <a:ext cx="26709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The discarded human organ is connected to perfusion machine through its blood </a:t>
            </a:r>
            <a:r>
              <a:rPr lang="en-US" sz="1800" b="1" dirty="0" err="1"/>
              <a:t>vessels,Including</a:t>
            </a:r>
            <a:r>
              <a:rPr lang="en-US" sz="1800" b="1" dirty="0"/>
              <a:t> the portal vein.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69D0E0-A370-A556-B271-3AC470C334F5}"/>
              </a:ext>
            </a:extLst>
          </p:cNvPr>
          <p:cNvSpPr txBox="1"/>
          <p:nvPr/>
        </p:nvSpPr>
        <p:spPr>
          <a:xfrm>
            <a:off x="9169849" y="1359943"/>
            <a:ext cx="149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20124D"/>
                </a:solidFill>
              </a:rPr>
              <a:t>HA Infusion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24EF09-4B9C-9EF9-8A7F-AA017A86065B}"/>
              </a:ext>
            </a:extLst>
          </p:cNvPr>
          <p:cNvSpPr txBox="1"/>
          <p:nvPr/>
        </p:nvSpPr>
        <p:spPr>
          <a:xfrm>
            <a:off x="8549928" y="4273420"/>
            <a:ext cx="24534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just" rtl="0">
              <a:spcBef>
                <a:spcPts val="0"/>
              </a:spcBef>
              <a:spcAft>
                <a:spcPts val="0"/>
              </a:spcAft>
              <a:buSzPts val="1900"/>
            </a:pPr>
            <a:r>
              <a:rPr lang="en-US" sz="1800" b="1" dirty="0"/>
              <a:t>It reduces the Inflammation and oxidative Stress during Organ </a:t>
            </a:r>
            <a:r>
              <a:rPr lang="en-US" sz="1800" b="1" dirty="0" err="1"/>
              <a:t>Preservation,potential</a:t>
            </a:r>
            <a:r>
              <a:rPr lang="en-US" sz="1800" b="1" dirty="0"/>
              <a:t> improve Organ function.</a:t>
            </a:r>
          </a:p>
        </p:txBody>
      </p:sp>
    </p:spTree>
    <p:extLst>
      <p:ext uri="{BB962C8B-B14F-4D97-AF65-F5344CB8AC3E}">
        <p14:creationId xmlns:p14="http://schemas.microsoft.com/office/powerpoint/2010/main" val="374762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EBE01B-DEDB-DF1D-97D5-458467528BF4}"/>
              </a:ext>
            </a:extLst>
          </p:cNvPr>
          <p:cNvGrpSpPr/>
          <p:nvPr/>
        </p:nvGrpSpPr>
        <p:grpSpPr>
          <a:xfrm>
            <a:off x="7796627" y="757587"/>
            <a:ext cx="3113584" cy="2632979"/>
            <a:chOff x="1387588" y="2182683"/>
            <a:chExt cx="1805441" cy="1894017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077C8044-2986-81E6-6283-C04F58452E73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0FFA46-8C5A-687C-6094-101B3A514A3B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46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D09474-0EEC-32D5-89A9-85E69701D8E0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730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0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CBF5480-D583-AD57-F813-C0DF66C0FDE1}"/>
              </a:ext>
            </a:extLst>
          </p:cNvPr>
          <p:cNvSpPr/>
          <p:nvPr/>
        </p:nvSpPr>
        <p:spPr>
          <a:xfrm flipV="1">
            <a:off x="7947939" y="1896104"/>
            <a:ext cx="2822250" cy="4576483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oogle Shape;276;p30">
            <a:extLst>
              <a:ext uri="{FF2B5EF4-FFF2-40B4-BE49-F238E27FC236}">
                <a16:creationId xmlns:a16="http://schemas.microsoft.com/office/drawing/2014/main" id="{E3BB189B-AC72-310C-EA92-32B213D260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3696" t="13406" r="25876" b="17713"/>
          <a:stretch/>
        </p:blipFill>
        <p:spPr>
          <a:xfrm>
            <a:off x="8857015" y="2651006"/>
            <a:ext cx="992806" cy="163285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4AB744-AAE2-1B9D-4E3E-B7D66808D308}"/>
              </a:ext>
            </a:extLst>
          </p:cNvPr>
          <p:cNvSpPr txBox="1"/>
          <p:nvPr/>
        </p:nvSpPr>
        <p:spPr>
          <a:xfrm>
            <a:off x="8396211" y="1208523"/>
            <a:ext cx="1914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1" dirty="0">
                <a:solidFill>
                  <a:srgbClr val="4C1130"/>
                </a:solidFill>
              </a:rPr>
              <a:t>AUXILIARY PORT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D6302-BD18-7D88-29F3-BB2185D582F9}"/>
              </a:ext>
            </a:extLst>
          </p:cNvPr>
          <p:cNvSpPr txBox="1"/>
          <p:nvPr/>
        </p:nvSpPr>
        <p:spPr>
          <a:xfrm>
            <a:off x="979714" y="2382080"/>
            <a:ext cx="63261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US" sz="1800" b="1" dirty="0"/>
              <a:t>Allow medical Professional to take Samples of the Perfusion Solution</a:t>
            </a:r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US" sz="1800" b="1" dirty="0"/>
              <a:t>Used to connect Various Monitoring devices to measure parameters such as Oxygen </a:t>
            </a:r>
            <a:r>
              <a:rPr lang="en-US" sz="1800" b="1" dirty="0" err="1"/>
              <a:t>levels,Pressure</a:t>
            </a:r>
            <a:r>
              <a:rPr lang="en-US" sz="1800" b="1" dirty="0"/>
              <a:t> and Temperature.</a:t>
            </a:r>
          </a:p>
        </p:txBody>
      </p:sp>
    </p:spTree>
    <p:extLst>
      <p:ext uri="{BB962C8B-B14F-4D97-AF65-F5344CB8AC3E}">
        <p14:creationId xmlns:p14="http://schemas.microsoft.com/office/powerpoint/2010/main" val="298791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E6734-F7ED-4197-AE1C-DE222063D26D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FF06C6-EDB2-4E2A-B33F-9667DAB48738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389168-73D4-4CCF-B806-15F4C9CFBC65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36EBE0-2C84-494E-9C0B-54A6EFA86DA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E3F6E56-804E-434E-AD42-D62A42CB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8D727C-49D3-4C59-91D3-816C0DD22E21}"/>
              </a:ext>
            </a:extLst>
          </p:cNvPr>
          <p:cNvGrpSpPr/>
          <p:nvPr/>
        </p:nvGrpSpPr>
        <p:grpSpPr>
          <a:xfrm>
            <a:off x="226788" y="-2"/>
            <a:ext cx="11447504" cy="6858000"/>
            <a:chOff x="213096" y="0"/>
            <a:chExt cx="11447504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69AF8C-7DC3-4D77-B3F1-5B8A444D2822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73B44-EE6F-4236-9AB2-49524EA553D7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0A12D7-9F13-43EC-95DE-B85ADBCAA6B6}"/>
                </a:ext>
              </a:extLst>
            </p:cNvPr>
            <p:cNvSpPr txBox="1"/>
            <p:nvPr/>
          </p:nvSpPr>
          <p:spPr>
            <a:xfrm rot="16200000">
              <a:off x="9627696" y="3043922"/>
              <a:ext cx="34194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Components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271034-9DEF-432C-A1F3-B6470D25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28BA24-99D1-4E44-98AC-50745A94AD6C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079FD4E-778D-428A-B08F-1B97893971C7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7DB4514-65BA-420D-BBB3-CCF0A5B397C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CE46E-7143-4535-BF09-36D36B082851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Survey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E9D2CC3-AE8C-4CF7-AC14-0BF3748D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7E322DA-3D39-4A36-A521-33E75DDBFF7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77CEC9-24C9-4B1D-964A-A216786A7724}"/>
              </a:ext>
            </a:extLst>
          </p:cNvPr>
          <p:cNvCxnSpPr/>
          <p:nvPr/>
        </p:nvCxnSpPr>
        <p:spPr>
          <a:xfrm>
            <a:off x="3850016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1840EDE-DF70-433F-86FE-A402BC5C2DDE}"/>
              </a:ext>
            </a:extLst>
          </p:cNvPr>
          <p:cNvGrpSpPr/>
          <p:nvPr/>
        </p:nvGrpSpPr>
        <p:grpSpPr>
          <a:xfrm>
            <a:off x="3638922" y="3517706"/>
            <a:ext cx="211094" cy="211094"/>
            <a:chOff x="1677812" y="4248152"/>
            <a:chExt cx="211094" cy="21109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3B84625-CD81-4477-AFEA-2D657FFA16C5}"/>
                </a:ext>
              </a:extLst>
            </p:cNvPr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0BB5737-FB23-4CC2-81BC-52D57E7FB8E9}"/>
                </a:ext>
              </a:extLst>
            </p:cNvPr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DAD85F-381F-4EA0-9781-3C23F8D9AC73}"/>
              </a:ext>
            </a:extLst>
          </p:cNvPr>
          <p:cNvCxnSpPr/>
          <p:nvPr/>
        </p:nvCxnSpPr>
        <p:spPr>
          <a:xfrm>
            <a:off x="5997735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6B67BC-401F-4EA8-8CBE-EEB8DFAA45A7}"/>
              </a:ext>
            </a:extLst>
          </p:cNvPr>
          <p:cNvGrpSpPr/>
          <p:nvPr/>
        </p:nvGrpSpPr>
        <p:grpSpPr>
          <a:xfrm>
            <a:off x="5816929" y="3517706"/>
            <a:ext cx="211094" cy="211094"/>
            <a:chOff x="3855819" y="4248152"/>
            <a:chExt cx="211094" cy="21109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399A27A-C7E8-457C-9D90-A66A1BF1F76F}"/>
                </a:ext>
              </a:extLst>
            </p:cNvPr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4008114-54A1-42C2-9000-1CC3AE1D8927}"/>
                </a:ext>
              </a:extLst>
            </p:cNvPr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90AD362-84BB-49C7-8C91-CDB895729924}"/>
              </a:ext>
            </a:extLst>
          </p:cNvPr>
          <p:cNvGrpSpPr/>
          <p:nvPr/>
        </p:nvGrpSpPr>
        <p:grpSpPr>
          <a:xfrm>
            <a:off x="7934360" y="3517706"/>
            <a:ext cx="211094" cy="211094"/>
            <a:chOff x="5973250" y="4248152"/>
            <a:chExt cx="211094" cy="21109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32FB427-F316-4459-B06D-2A2B27FC7053}"/>
                </a:ext>
              </a:extLst>
            </p:cNvPr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35EF795-8B2D-4CD0-87FF-5756B089D921}"/>
                </a:ext>
              </a:extLst>
            </p:cNvPr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0B20FE2-BC47-4EB2-B7EA-CBE6F5B390D3}"/>
              </a:ext>
            </a:extLst>
          </p:cNvPr>
          <p:cNvSpPr txBox="1"/>
          <p:nvPr/>
        </p:nvSpPr>
        <p:spPr>
          <a:xfrm>
            <a:off x="259453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5969"/>
                </a:solidFill>
                <a:latin typeface="Tw Cen MT" panose="020B0602020104020603" pitchFamily="34" charset="0"/>
              </a:rPr>
              <a:t>1-Day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EB19012-A13E-4E01-97E1-4BD9BE0B2C4A}"/>
              </a:ext>
            </a:extLst>
          </p:cNvPr>
          <p:cNvGrpSpPr/>
          <p:nvPr/>
        </p:nvGrpSpPr>
        <p:grpSpPr>
          <a:xfrm>
            <a:off x="4783446" y="4142156"/>
            <a:ext cx="2289049" cy="548656"/>
            <a:chOff x="1514240" y="4816886"/>
            <a:chExt cx="2289049" cy="548656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FF83314-6443-4064-B8AD-715FDF38C0B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3.5%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FB0129A-D09E-4693-96AE-20F4A2C31E42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58D17C2-3595-44AD-9D77-27C29A8030BC}"/>
              </a:ext>
            </a:extLst>
          </p:cNvPr>
          <p:cNvSpPr txBox="1"/>
          <p:nvPr/>
        </p:nvSpPr>
        <p:spPr>
          <a:xfrm>
            <a:off x="478344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2CBBE"/>
                </a:solidFill>
                <a:latin typeface="Tw Cen MT" panose="020B0602020104020603" pitchFamily="34" charset="0"/>
              </a:rPr>
              <a:t>30-Day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15D3786-3CB0-4D98-9C2D-11D4FBA5EAB9}"/>
              </a:ext>
            </a:extLst>
          </p:cNvPr>
          <p:cNvGrpSpPr/>
          <p:nvPr/>
        </p:nvGrpSpPr>
        <p:grpSpPr>
          <a:xfrm>
            <a:off x="6912585" y="4142156"/>
            <a:ext cx="2289049" cy="548656"/>
            <a:chOff x="1514240" y="4816886"/>
            <a:chExt cx="2289049" cy="548656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72131EC-94E6-4982-85F7-903D6FA7217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8.6%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60C2261-B057-44FB-B300-F0F52E3F90C0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62F22-E78F-4DD5-9BBD-EEAB69C0B365}"/>
              </a:ext>
            </a:extLst>
          </p:cNvPr>
          <p:cNvSpPr txBox="1"/>
          <p:nvPr/>
        </p:nvSpPr>
        <p:spPr>
          <a:xfrm>
            <a:off x="6912585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EC630"/>
                </a:solidFill>
                <a:latin typeface="Tw Cen MT" panose="020B0602020104020603" pitchFamily="34" charset="0"/>
              </a:rPr>
              <a:t>1-Year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1450F4-A7BD-494E-BD71-C6C5EB8D03D1}"/>
              </a:ext>
            </a:extLst>
          </p:cNvPr>
          <p:cNvGrpSpPr/>
          <p:nvPr/>
        </p:nvGrpSpPr>
        <p:grpSpPr>
          <a:xfrm>
            <a:off x="3101220" y="1755914"/>
            <a:ext cx="1275682" cy="1275682"/>
            <a:chOff x="3063120" y="1755914"/>
            <a:chExt cx="1275682" cy="1275682"/>
          </a:xfrm>
        </p:grpSpPr>
        <p:sp>
          <p:nvSpPr>
            <p:cNvPr id="120" name="Teardrop 119">
              <a:extLst>
                <a:ext uri="{FF2B5EF4-FFF2-40B4-BE49-F238E27FC236}">
                  <a16:creationId xmlns:a16="http://schemas.microsoft.com/office/drawing/2014/main" id="{5E489B47-B2BB-4EFB-8EC4-21C10615E463}"/>
                </a:ext>
              </a:extLst>
            </p:cNvPr>
            <p:cNvSpPr/>
            <p:nvPr/>
          </p:nvSpPr>
          <p:spPr>
            <a:xfrm rot="8100000">
              <a:off x="306312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862B435C-D1B2-4C1C-B995-8D888E87C5D7}"/>
                </a:ext>
              </a:extLst>
            </p:cNvPr>
            <p:cNvSpPr/>
            <p:nvPr/>
          </p:nvSpPr>
          <p:spPr>
            <a:xfrm>
              <a:off x="325746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262C0D94-FE17-421D-AA32-BD4AFE13E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6696" y="2066644"/>
              <a:ext cx="627392" cy="6273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1C1607-C8B7-4B99-9DC5-3321A9E92D49}"/>
              </a:ext>
            </a:extLst>
          </p:cNvPr>
          <p:cNvGrpSpPr/>
          <p:nvPr/>
        </p:nvGrpSpPr>
        <p:grpSpPr>
          <a:xfrm>
            <a:off x="5280540" y="1755914"/>
            <a:ext cx="1275682" cy="1275682"/>
            <a:chOff x="5242440" y="1755914"/>
            <a:chExt cx="1275682" cy="1275682"/>
          </a:xfrm>
        </p:grpSpPr>
        <p:sp>
          <p:nvSpPr>
            <p:cNvPr id="124" name="Teardrop 123">
              <a:extLst>
                <a:ext uri="{FF2B5EF4-FFF2-40B4-BE49-F238E27FC236}">
                  <a16:creationId xmlns:a16="http://schemas.microsoft.com/office/drawing/2014/main" id="{A44D7BEA-70F0-4773-A72C-A5B9951D3536}"/>
                </a:ext>
              </a:extLst>
            </p:cNvPr>
            <p:cNvSpPr/>
            <p:nvPr/>
          </p:nvSpPr>
          <p:spPr>
            <a:xfrm rot="8100000">
              <a:off x="524244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431DABB-47B8-4640-BD39-9CC7E2CDA115}"/>
                </a:ext>
              </a:extLst>
            </p:cNvPr>
            <p:cNvSpPr/>
            <p:nvPr/>
          </p:nvSpPr>
          <p:spPr>
            <a:xfrm>
              <a:off x="543678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B5EEDA48-5891-495E-A9A5-8AEE83947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681" y="2061164"/>
              <a:ext cx="659146" cy="65914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807BE1-996E-4364-AC05-CAC8C826377C}"/>
              </a:ext>
            </a:extLst>
          </p:cNvPr>
          <p:cNvGrpSpPr/>
          <p:nvPr/>
        </p:nvGrpSpPr>
        <p:grpSpPr>
          <a:xfrm>
            <a:off x="7391281" y="1755914"/>
            <a:ext cx="1275682" cy="1275682"/>
            <a:chOff x="7353181" y="1755914"/>
            <a:chExt cx="1275682" cy="1275682"/>
          </a:xfrm>
        </p:grpSpPr>
        <p:sp>
          <p:nvSpPr>
            <p:cNvPr id="128" name="Teardrop 127">
              <a:extLst>
                <a:ext uri="{FF2B5EF4-FFF2-40B4-BE49-F238E27FC236}">
                  <a16:creationId xmlns:a16="http://schemas.microsoft.com/office/drawing/2014/main" id="{76257F1B-992C-4717-A6A2-EDE25A4F31C3}"/>
                </a:ext>
              </a:extLst>
            </p:cNvPr>
            <p:cNvSpPr/>
            <p:nvPr/>
          </p:nvSpPr>
          <p:spPr>
            <a:xfrm rot="8100000">
              <a:off x="7353181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BB174F9-BA66-486F-BC62-F2720CED100C}"/>
                </a:ext>
              </a:extLst>
            </p:cNvPr>
            <p:cNvSpPr/>
            <p:nvPr/>
          </p:nvSpPr>
          <p:spPr>
            <a:xfrm>
              <a:off x="7547530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8BE45EE-A44E-41D8-8C13-099C1F70E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666" y="2048456"/>
              <a:ext cx="684562" cy="68456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B08F1E3-D5D7-21EA-82B0-430490D5FAAD}"/>
              </a:ext>
            </a:extLst>
          </p:cNvPr>
          <p:cNvSpPr txBox="1"/>
          <p:nvPr/>
        </p:nvSpPr>
        <p:spPr>
          <a:xfrm>
            <a:off x="2982165" y="4182980"/>
            <a:ext cx="158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rPr>
              <a:t>0.9%</a:t>
            </a:r>
          </a:p>
        </p:txBody>
      </p:sp>
    </p:spTree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5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75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4" grpId="0"/>
      <p:bldP spid="1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2718F07A-07F9-3D79-6C98-F100D10AF7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16902"/>
            <a:ext cx="2864498" cy="286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154CBD-AA2A-A3E3-908A-F1936FB1F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8" y="716902"/>
            <a:ext cx="10487607" cy="527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22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340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Tw Cen MT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Yuvaprabha B</cp:lastModifiedBy>
  <cp:revision>24</cp:revision>
  <dcterms:created xsi:type="dcterms:W3CDTF">2017-01-05T13:17:27Z</dcterms:created>
  <dcterms:modified xsi:type="dcterms:W3CDTF">2024-02-26T03:29:44Z</dcterms:modified>
</cp:coreProperties>
</file>